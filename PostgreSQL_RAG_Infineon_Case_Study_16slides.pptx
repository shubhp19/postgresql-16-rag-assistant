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script: This project is a PostgreSQL 16 RAG Q&amp;A assistant built for technical documentation. My focus was not only building the UI, but proving retrieval quality, grounding answers, validating citations, and designing the system for robustness and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simple terms, the user asks a PostgreSQL question, the system retrieves the most relevant official documentation chunks, and the model generates a concise answer with citations. The key is that the answer is grounded in retrieved context, not free-form model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treated the assignment as an engineering system. The 8 requirements map to ingestion, cleaning, chunking, indexing, retrieval, generation, citation validation, and evaluation. This structure made it easier to build, test, and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core problem is that technical documentation questions require accurate grounding. A bigger model is not enough if the retrieved context is wrong or missing. So the project focused on retrieval quality, grounded generation, and citation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offline pipeline fetches docs, cleans HTML, chunks text, embeds chunks, and stores a FAISS index plus metadata. The online pipeline takes a question through follow-up query building, hybrid retrieval, relevance guard, prompt assembly, Groq LLM generation, citation validation, and session state. The evaluation lane measures quality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kept data handling simple and inspectable. The pipeline fetches PostgreSQL docs, cleans HTML, chunks text, and stores metadata with each chunk. That metadata is important because the citation validator and evaluation scripts depend on stable source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Dense retrieval is useful, but PostgreSQL docs contain many exact terms. BM25 captures exact matching, while dense captures semantic matching. Hybrid gave the best practical balance, so I deployed it as the default retrieval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used Groq for fast model inference and Llama 3.1 8B Instant as the default. The prompt includes the retrieved chunks and current question. After generation, citation validation keeps only source IDs that actually came from the retrieved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put the relevance guard before the LLM call because if the query is irrelevant, the model should not be asked to invent an answer. This saves cost, reduces hallucination, and makes the system fail in a controlled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used recent chat history for follow-up aware query building. The tradeoff is that too much chat history can pollute retrieval, so I use it mainly to clarify short follow-ups and still retrieve fresh documentation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used Recall@k because retrieval is the foundation of RAG. If the right source is not retrieved, the answer cannot be properly grounded. I also measured answer similarity to catch cases where retrieval succeeded but the final response still needed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compared 200, 300, 400, 500, and 600 word chunks. Both 400 and 600 reached 0.944 Mean Recall@5, but 400 was the better default because it kept retrieval focused and reduced prompt noise compared with longer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failure story is here. Dense retrieval achieved 0.878 Mean Recall@5. Hybrid improved it to 0.933 with only 11.7 ms average latency. Hybrid + rerank reached 0.944, but the latency was much higher, so I kept reranking optional and deployed hybrid as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during demo: I will show a normal technical question, the sources, a follow-up, and an off-topic query. This demonstrates not only that the assistant can answer, but also that it retrieves, cites, remembers short context, and refuses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want to be honest about limitations. The weaker cases were not complete failures, but they show that retrieval alone is not enough. Some answers require better synthesis across multiple sources. I would use these cases to drive the next round of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script: The main thing I want to show is that I did not build only a chatbot UI. I built a complete RAG workflow with ingestion, embedding, hybrid retrieval, grounded generation, citation validation, follow-up handling, irrelevant-query refusal, and evaluation. I also treated this like an engineering system: I tested what failed, compared alternatives, selected hybrid retrieval based on Recall@5 and latency, and created a structure that can scale and support junior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F"/>
          </a:solidFill>
          <a:ln w="12700">
            <a:solidFill>
              <a:srgbClr val="F4F8FF"/>
            </a:solidFill>
            <a:prstDash val="solid"/>
          </a:ln>
        </p:spPr>
      </p:sp>
      <p:sp>
        <p:nvSpPr>
          <p:cNvPr id="3" name="Shape 1"/>
          <p:cNvSpPr/>
          <p:nvPr/>
        </p:nvSpPr>
        <p:spPr>
          <a:xfrm>
            <a:off x="0" y="0"/>
            <a:ext cx="164592" cy="6858000"/>
          </a:xfrm>
          <a:prstGeom prst="rect">
            <a:avLst/>
          </a:prstGeom>
          <a:solidFill>
            <a:srgbClr val="00827C"/>
          </a:solidFill>
          <a:ln w="12700">
            <a:solidFill>
              <a:srgbClr val="00827C"/>
            </a:solidFill>
            <a:prstDash val="solid"/>
          </a:ln>
        </p:spPr>
      </p:sp>
      <p:sp>
        <p:nvSpPr>
          <p:cNvPr id="4" name="Text 2"/>
          <p:cNvSpPr/>
          <p:nvPr/>
        </p:nvSpPr>
        <p:spPr>
          <a:xfrm>
            <a:off x="658368" y="877824"/>
            <a:ext cx="8595360" cy="594360"/>
          </a:xfrm>
          <a:prstGeom prst="rect">
            <a:avLst/>
          </a:prstGeom>
          <a:noFill/>
          <a:ln/>
        </p:spPr>
        <p:txBody>
          <a:bodyPr wrap="square" lIns="0" tIns="0" rIns="0" bIns="0" rtlCol="0" anchor="ctr">
            <a:normAutofit/>
          </a:bodyPr>
          <a:lstStyle/>
          <a:p>
            <a:pPr indent="0" marL="0">
              <a:buNone/>
            </a:pPr>
            <a:r>
              <a:rPr lang="en-US" sz="3500" b="1" dirty="0">
                <a:solidFill>
                  <a:srgbClr val="07163F"/>
                </a:solidFill>
                <a:latin typeface="Aptos Display" pitchFamily="34" charset="0"/>
                <a:ea typeface="Aptos Display" pitchFamily="34" charset="-122"/>
                <a:cs typeface="Aptos Display" pitchFamily="34" charset="-120"/>
              </a:rPr>
              <a:t>PostgreSQL 16 RAG Q&amp;A Assistant</a:t>
            </a:r>
            <a:endParaRPr lang="en-US" sz="3500" dirty="0"/>
          </a:p>
        </p:txBody>
      </p:sp>
      <p:sp>
        <p:nvSpPr>
          <p:cNvPr id="5" name="Text 3"/>
          <p:cNvSpPr/>
          <p:nvPr/>
        </p:nvSpPr>
        <p:spPr>
          <a:xfrm>
            <a:off x="676656" y="1536192"/>
            <a:ext cx="3840480" cy="347472"/>
          </a:xfrm>
          <a:prstGeom prst="rect">
            <a:avLst/>
          </a:prstGeom>
          <a:noFill/>
          <a:ln/>
        </p:spPr>
        <p:txBody>
          <a:bodyPr wrap="square" lIns="0" tIns="0" rIns="0" bIns="0" rtlCol="0" anchor="ctr"/>
          <a:lstStyle/>
          <a:p>
            <a:pPr indent="0" marL="0">
              <a:buNone/>
            </a:pPr>
            <a:r>
              <a:rPr lang="en-US" sz="2000" b="1" dirty="0">
                <a:solidFill>
                  <a:srgbClr val="00827C"/>
                </a:solidFill>
              </a:rPr>
              <a:t>Infineon Case Study</a:t>
            </a:r>
            <a:endParaRPr lang="en-US" sz="2000" dirty="0"/>
          </a:p>
        </p:txBody>
      </p:sp>
      <p:sp>
        <p:nvSpPr>
          <p:cNvPr id="6" name="Text 4"/>
          <p:cNvSpPr/>
          <p:nvPr/>
        </p:nvSpPr>
        <p:spPr>
          <a:xfrm>
            <a:off x="676656" y="2011680"/>
            <a:ext cx="6400800" cy="292608"/>
          </a:xfrm>
          <a:prstGeom prst="rect">
            <a:avLst/>
          </a:prstGeom>
          <a:noFill/>
          <a:ln/>
        </p:spPr>
        <p:txBody>
          <a:bodyPr wrap="square" lIns="0" tIns="0" rIns="0" bIns="0" rtlCol="0" anchor="ctr"/>
          <a:lstStyle/>
          <a:p>
            <a:pPr indent="0" marL="0">
              <a:buNone/>
            </a:pPr>
            <a:r>
              <a:rPr lang="en-US" sz="1600" dirty="0">
                <a:solidFill>
                  <a:srgbClr val="4B5563"/>
                </a:solidFill>
              </a:rPr>
              <a:t>Streamlit + FAISS + BM25 + Groq + Citation Validation</a:t>
            </a:r>
            <a:endParaRPr lang="en-US" sz="1600" dirty="0"/>
          </a:p>
        </p:txBody>
      </p:sp>
      <p:sp>
        <p:nvSpPr>
          <p:cNvPr id="7" name="Shape 5"/>
          <p:cNvSpPr/>
          <p:nvPr/>
        </p:nvSpPr>
        <p:spPr>
          <a:xfrm>
            <a:off x="676656" y="2788920"/>
            <a:ext cx="1371600" cy="310896"/>
          </a:xfrm>
          <a:prstGeom prst="roundRect">
            <a:avLst>
              <a:gd name="adj" fmla="val 23529"/>
            </a:avLst>
          </a:prstGeom>
          <a:solidFill>
            <a:srgbClr val="175DAD"/>
          </a:solidFill>
          <a:ln w="12700">
            <a:solidFill>
              <a:srgbClr val="175DAD"/>
            </a:solidFill>
            <a:prstDash val="solid"/>
          </a:ln>
        </p:spPr>
      </p:sp>
      <p:sp>
        <p:nvSpPr>
          <p:cNvPr id="8" name="Text 6"/>
          <p:cNvSpPr/>
          <p:nvPr/>
        </p:nvSpPr>
        <p:spPr>
          <a:xfrm>
            <a:off x="749808" y="2862072"/>
            <a:ext cx="1225296" cy="128016"/>
          </a:xfrm>
          <a:prstGeom prst="rect">
            <a:avLst/>
          </a:prstGeom>
          <a:noFill/>
          <a:ln/>
        </p:spPr>
        <p:txBody>
          <a:bodyPr wrap="square" lIns="0" tIns="0" rIns="0" bIns="0" rtlCol="0" anchor="ctr">
            <a:normAutofit/>
          </a:bodyPr>
          <a:lstStyle/>
          <a:p>
            <a:pPr algn="ctr" indent="0" marL="0">
              <a:buNone/>
            </a:pPr>
            <a:r>
              <a:rPr lang="en-US" sz="960" b="1" dirty="0">
                <a:solidFill>
                  <a:srgbClr val="FFFFFF"/>
                </a:solidFill>
              </a:rPr>
              <a:t>Scalability</a:t>
            </a:r>
            <a:endParaRPr lang="en-US" sz="960" dirty="0"/>
          </a:p>
        </p:txBody>
      </p:sp>
      <p:sp>
        <p:nvSpPr>
          <p:cNvPr id="9" name="Shape 7"/>
          <p:cNvSpPr/>
          <p:nvPr/>
        </p:nvSpPr>
        <p:spPr>
          <a:xfrm>
            <a:off x="2212848" y="2788920"/>
            <a:ext cx="1417320" cy="310896"/>
          </a:xfrm>
          <a:prstGeom prst="roundRect">
            <a:avLst>
              <a:gd name="adj" fmla="val 23529"/>
            </a:avLst>
          </a:prstGeom>
          <a:solidFill>
            <a:srgbClr val="00827C"/>
          </a:solidFill>
          <a:ln w="12700">
            <a:solidFill>
              <a:srgbClr val="00827C"/>
            </a:solidFill>
            <a:prstDash val="solid"/>
          </a:ln>
        </p:spPr>
      </p:sp>
      <p:sp>
        <p:nvSpPr>
          <p:cNvPr id="10" name="Text 8"/>
          <p:cNvSpPr/>
          <p:nvPr/>
        </p:nvSpPr>
        <p:spPr>
          <a:xfrm>
            <a:off x="2286000" y="2862072"/>
            <a:ext cx="1271016" cy="128016"/>
          </a:xfrm>
          <a:prstGeom prst="rect">
            <a:avLst/>
          </a:prstGeom>
          <a:noFill/>
          <a:ln/>
        </p:spPr>
        <p:txBody>
          <a:bodyPr wrap="square" lIns="0" tIns="0" rIns="0" bIns="0" rtlCol="0" anchor="ctr">
            <a:normAutofit/>
          </a:bodyPr>
          <a:lstStyle/>
          <a:p>
            <a:pPr algn="ctr" indent="0" marL="0">
              <a:buNone/>
            </a:pPr>
            <a:r>
              <a:rPr lang="en-US" sz="960" b="1" dirty="0">
                <a:solidFill>
                  <a:srgbClr val="FFFFFF"/>
                </a:solidFill>
              </a:rPr>
              <a:t>Robustness</a:t>
            </a:r>
            <a:endParaRPr lang="en-US" sz="960" dirty="0"/>
          </a:p>
        </p:txBody>
      </p:sp>
      <p:sp>
        <p:nvSpPr>
          <p:cNvPr id="11" name="Shape 9"/>
          <p:cNvSpPr/>
          <p:nvPr/>
        </p:nvSpPr>
        <p:spPr>
          <a:xfrm>
            <a:off x="3785616" y="2788920"/>
            <a:ext cx="1280160" cy="310896"/>
          </a:xfrm>
          <a:prstGeom prst="roundRect">
            <a:avLst>
              <a:gd name="adj" fmla="val 23529"/>
            </a:avLst>
          </a:prstGeom>
          <a:solidFill>
            <a:srgbClr val="07163F"/>
          </a:solidFill>
          <a:ln w="12700">
            <a:solidFill>
              <a:srgbClr val="07163F"/>
            </a:solidFill>
            <a:prstDash val="solid"/>
          </a:ln>
        </p:spPr>
      </p:sp>
      <p:sp>
        <p:nvSpPr>
          <p:cNvPr id="12" name="Text 10"/>
          <p:cNvSpPr/>
          <p:nvPr/>
        </p:nvSpPr>
        <p:spPr>
          <a:xfrm>
            <a:off x="3858768" y="2862072"/>
            <a:ext cx="1133856" cy="128016"/>
          </a:xfrm>
          <a:prstGeom prst="rect">
            <a:avLst/>
          </a:prstGeom>
          <a:noFill/>
          <a:ln/>
        </p:spPr>
        <p:txBody>
          <a:bodyPr wrap="square" lIns="0" tIns="0" rIns="0" bIns="0" rtlCol="0" anchor="ctr">
            <a:normAutofit/>
          </a:bodyPr>
          <a:lstStyle/>
          <a:p>
            <a:pPr algn="ctr" indent="0" marL="0">
              <a:buNone/>
            </a:pPr>
            <a:r>
              <a:rPr lang="en-US" sz="960" b="1" dirty="0">
                <a:solidFill>
                  <a:srgbClr val="FFFFFF"/>
                </a:solidFill>
              </a:rPr>
              <a:t>Leadership</a:t>
            </a:r>
            <a:endParaRPr lang="en-US" sz="960" dirty="0"/>
          </a:p>
        </p:txBody>
      </p:sp>
      <p:sp>
        <p:nvSpPr>
          <p:cNvPr id="13" name="Shape 11"/>
          <p:cNvSpPr/>
          <p:nvPr/>
        </p:nvSpPr>
        <p:spPr>
          <a:xfrm>
            <a:off x="713232" y="3867912"/>
            <a:ext cx="5303520" cy="1143000"/>
          </a:xfrm>
          <a:prstGeom prst="roundRect">
            <a:avLst>
              <a:gd name="adj" fmla="val 6400"/>
            </a:avLst>
          </a:prstGeom>
          <a:solidFill>
            <a:srgbClr val="FFFFFF"/>
          </a:solidFill>
          <a:ln w="12700">
            <a:solidFill>
              <a:srgbClr val="D6E4F2"/>
            </a:solidFill>
            <a:prstDash val="solid"/>
          </a:ln>
        </p:spPr>
      </p:sp>
      <p:sp>
        <p:nvSpPr>
          <p:cNvPr id="14" name="Text 12"/>
          <p:cNvSpPr/>
          <p:nvPr/>
        </p:nvSpPr>
        <p:spPr>
          <a:xfrm>
            <a:off x="960120" y="4133088"/>
            <a:ext cx="1280160" cy="228600"/>
          </a:xfrm>
          <a:prstGeom prst="rect">
            <a:avLst/>
          </a:prstGeom>
          <a:noFill/>
          <a:ln/>
        </p:spPr>
        <p:txBody>
          <a:bodyPr wrap="square" lIns="0" tIns="0" rIns="0" bIns="0" rtlCol="0" anchor="ctr"/>
          <a:lstStyle/>
          <a:p>
            <a:pPr indent="0" marL="0">
              <a:buNone/>
            </a:pPr>
            <a:r>
              <a:rPr lang="en-US" sz="1400" b="1" dirty="0">
                <a:solidFill>
                  <a:srgbClr val="07163F"/>
                </a:solidFill>
              </a:rPr>
              <a:t>What I built</a:t>
            </a:r>
            <a:endParaRPr lang="en-US" sz="1400" dirty="0"/>
          </a:p>
        </p:txBody>
      </p:sp>
      <p:sp>
        <p:nvSpPr>
          <p:cNvPr id="15" name="Shape 13"/>
          <p:cNvSpPr/>
          <p:nvPr/>
        </p:nvSpPr>
        <p:spPr>
          <a:xfrm>
            <a:off x="960120" y="4581144"/>
            <a:ext cx="77724" cy="77724"/>
          </a:xfrm>
          <a:prstGeom prst="ellipse">
            <a:avLst/>
          </a:prstGeom>
          <a:solidFill>
            <a:srgbClr val="00827C"/>
          </a:solidFill>
          <a:ln w="12700">
            <a:solidFill>
              <a:srgbClr val="00827C"/>
            </a:solidFill>
            <a:prstDash val="solid"/>
          </a:ln>
        </p:spPr>
      </p:sp>
      <p:sp>
        <p:nvSpPr>
          <p:cNvPr id="16" name="Text 14"/>
          <p:cNvSpPr/>
          <p:nvPr/>
        </p:nvSpPr>
        <p:spPr>
          <a:xfrm>
            <a:off x="1133856" y="4498848"/>
            <a:ext cx="4489704" cy="265176"/>
          </a:xfrm>
          <a:prstGeom prst="rect">
            <a:avLst/>
          </a:prstGeom>
          <a:noFill/>
          <a:ln/>
        </p:spPr>
        <p:txBody>
          <a:bodyPr wrap="square" lIns="0" tIns="0" rIns="0" bIns="0" rtlCol="0" anchor="ctr">
            <a:normAutofit/>
          </a:bodyPr>
          <a:lstStyle/>
          <a:p>
            <a:pPr indent="0" marL="0">
              <a:buNone/>
            </a:pPr>
            <a:r>
              <a:rPr lang="en-US" sz="1280" dirty="0">
                <a:solidFill>
                  <a:srgbClr val="111827"/>
                </a:solidFill>
              </a:rPr>
              <a:t>A grounded Q&amp;A system over PostgreSQL 16 docs</a:t>
            </a:r>
            <a:endParaRPr lang="en-US" sz="1280" dirty="0"/>
          </a:p>
        </p:txBody>
      </p:sp>
      <p:sp>
        <p:nvSpPr>
          <p:cNvPr id="17" name="Shape 15"/>
          <p:cNvSpPr/>
          <p:nvPr/>
        </p:nvSpPr>
        <p:spPr>
          <a:xfrm>
            <a:off x="960120" y="4837176"/>
            <a:ext cx="77724" cy="77724"/>
          </a:xfrm>
          <a:prstGeom prst="ellipse">
            <a:avLst/>
          </a:prstGeom>
          <a:solidFill>
            <a:srgbClr val="00827C"/>
          </a:solidFill>
          <a:ln w="12700">
            <a:solidFill>
              <a:srgbClr val="00827C"/>
            </a:solidFill>
            <a:prstDash val="solid"/>
          </a:ln>
        </p:spPr>
      </p:sp>
      <p:sp>
        <p:nvSpPr>
          <p:cNvPr id="18" name="Text 16"/>
          <p:cNvSpPr/>
          <p:nvPr/>
        </p:nvSpPr>
        <p:spPr>
          <a:xfrm>
            <a:off x="1133856" y="4754880"/>
            <a:ext cx="4489704" cy="265176"/>
          </a:xfrm>
          <a:prstGeom prst="rect">
            <a:avLst/>
          </a:prstGeom>
          <a:noFill/>
          <a:ln/>
        </p:spPr>
        <p:txBody>
          <a:bodyPr wrap="square" lIns="0" tIns="0" rIns="0" bIns="0" rtlCol="0" anchor="ctr">
            <a:normAutofit/>
          </a:bodyPr>
          <a:lstStyle/>
          <a:p>
            <a:pPr indent="0" marL="0">
              <a:buNone/>
            </a:pPr>
            <a:r>
              <a:rPr lang="en-US" sz="1280" dirty="0">
                <a:solidFill>
                  <a:srgbClr val="111827"/>
                </a:solidFill>
              </a:rPr>
              <a:t>A measurable retrieval pipeline, not just a chatbot UI</a:t>
            </a:r>
            <a:endParaRPr lang="en-US" sz="1280" dirty="0"/>
          </a:p>
        </p:txBody>
      </p:sp>
      <p:sp>
        <p:nvSpPr>
          <p:cNvPr id="19" name="Shape 17"/>
          <p:cNvSpPr/>
          <p:nvPr/>
        </p:nvSpPr>
        <p:spPr>
          <a:xfrm>
            <a:off x="960120" y="5093208"/>
            <a:ext cx="77724" cy="77724"/>
          </a:xfrm>
          <a:prstGeom prst="ellipse">
            <a:avLst/>
          </a:prstGeom>
          <a:solidFill>
            <a:srgbClr val="00827C"/>
          </a:solidFill>
          <a:ln w="12700">
            <a:solidFill>
              <a:srgbClr val="00827C"/>
            </a:solidFill>
            <a:prstDash val="solid"/>
          </a:ln>
        </p:spPr>
      </p:sp>
      <p:sp>
        <p:nvSpPr>
          <p:cNvPr id="20" name="Text 18"/>
          <p:cNvSpPr/>
          <p:nvPr/>
        </p:nvSpPr>
        <p:spPr>
          <a:xfrm>
            <a:off x="1133856" y="5010912"/>
            <a:ext cx="4489704" cy="265176"/>
          </a:xfrm>
          <a:prstGeom prst="rect">
            <a:avLst/>
          </a:prstGeom>
          <a:noFill/>
          <a:ln/>
        </p:spPr>
        <p:txBody>
          <a:bodyPr wrap="square" lIns="0" tIns="0" rIns="0" bIns="0" rtlCol="0" anchor="ctr">
            <a:normAutofit/>
          </a:bodyPr>
          <a:lstStyle/>
          <a:p>
            <a:pPr indent="0" marL="0">
              <a:buNone/>
            </a:pPr>
            <a:r>
              <a:rPr lang="en-US" sz="1280" dirty="0">
                <a:solidFill>
                  <a:srgbClr val="111827"/>
                </a:solidFill>
              </a:rPr>
              <a:t>An engineering workflow with evaluation and guardrails</a:t>
            </a:r>
            <a:endParaRPr lang="en-US" sz="1280" dirty="0"/>
          </a:p>
        </p:txBody>
      </p:sp>
      <p:sp>
        <p:nvSpPr>
          <p:cNvPr id="21" name="Shape 19"/>
          <p:cNvSpPr/>
          <p:nvPr/>
        </p:nvSpPr>
        <p:spPr>
          <a:xfrm rot="1800000">
            <a:off x="8549640" y="713232"/>
            <a:ext cx="2834640" cy="2834640"/>
          </a:xfrm>
          <a:prstGeom prst="arc">
            <a:avLst/>
          </a:prstGeom>
          <a:noFill/>
          <a:ln w="25400">
            <a:solidFill>
              <a:srgbClr val="00827C">
                <a:alpha val="82000"/>
              </a:srgbClr>
            </a:solidFill>
            <a:prstDash val="solid"/>
          </a:ln>
        </p:spPr>
      </p:sp>
      <p:sp>
        <p:nvSpPr>
          <p:cNvPr id="22" name="Shape 20"/>
          <p:cNvSpPr/>
          <p:nvPr/>
        </p:nvSpPr>
        <p:spPr>
          <a:xfrm rot="4200000">
            <a:off x="8915400" y="1143000"/>
            <a:ext cx="2011680" cy="2011680"/>
          </a:xfrm>
          <a:prstGeom prst="arc">
            <a:avLst/>
          </a:prstGeom>
          <a:noFill/>
          <a:ln w="25400">
            <a:solidFill>
              <a:srgbClr val="175DAD">
                <a:alpha val="80000"/>
              </a:srgbClr>
            </a:solidFill>
            <a:prstDash val="solid"/>
          </a:ln>
        </p:spPr>
      </p:sp>
      <p:sp>
        <p:nvSpPr>
          <p:cNvPr id="23" name="Shape 21"/>
          <p:cNvSpPr/>
          <p:nvPr/>
        </p:nvSpPr>
        <p:spPr>
          <a:xfrm>
            <a:off x="9509760" y="1828800"/>
            <a:ext cx="914400" cy="914400"/>
          </a:xfrm>
          <a:prstGeom prst="ellipse">
            <a:avLst/>
          </a:prstGeom>
          <a:solidFill>
            <a:srgbClr val="E7F8F6"/>
          </a:solidFill>
          <a:ln w="17780">
            <a:solidFill>
              <a:srgbClr val="00827C"/>
            </a:solidFill>
            <a:prstDash val="solid"/>
          </a:ln>
        </p:spPr>
      </p:sp>
      <p:sp>
        <p:nvSpPr>
          <p:cNvPr id="24" name="Text 22"/>
          <p:cNvSpPr/>
          <p:nvPr/>
        </p:nvSpPr>
        <p:spPr>
          <a:xfrm>
            <a:off x="9509760" y="2148840"/>
            <a:ext cx="914400" cy="137160"/>
          </a:xfrm>
          <a:prstGeom prst="rect">
            <a:avLst/>
          </a:prstGeom>
          <a:noFill/>
          <a:ln/>
        </p:spPr>
        <p:txBody>
          <a:bodyPr wrap="square" lIns="0" tIns="0" rIns="0" bIns="0" rtlCol="0" anchor="ctr"/>
          <a:lstStyle/>
          <a:p>
            <a:pPr algn="ctr" indent="0" marL="0">
              <a:buNone/>
            </a:pPr>
            <a:r>
              <a:rPr lang="en-US" sz="1500" b="1" dirty="0">
                <a:solidFill>
                  <a:srgbClr val="00827C"/>
                </a:solidFill>
              </a:rPr>
              <a:t>RAG</a:t>
            </a:r>
            <a:endParaRPr lang="en-US" sz="1500" dirty="0"/>
          </a:p>
        </p:txBody>
      </p:sp>
      <p:sp>
        <p:nvSpPr>
          <p:cNvPr id="25" name="Text 23"/>
          <p:cNvSpPr/>
          <p:nvPr/>
        </p:nvSpPr>
        <p:spPr>
          <a:xfrm>
            <a:off x="676656" y="6272784"/>
            <a:ext cx="2011680" cy="182880"/>
          </a:xfrm>
          <a:prstGeom prst="rect">
            <a:avLst/>
          </a:prstGeom>
          <a:noFill/>
          <a:ln/>
        </p:spPr>
        <p:txBody>
          <a:bodyPr wrap="square" lIns="0" tIns="0" rIns="0" bIns="0" rtlCol="0" anchor="ctr"/>
          <a:lstStyle/>
          <a:p>
            <a:pPr indent="0" marL="0">
              <a:buNone/>
            </a:pPr>
            <a:r>
              <a:rPr lang="en-US" sz="1100" dirty="0">
                <a:solidFill>
                  <a:srgbClr val="4B5563"/>
                </a:solidFill>
              </a:rPr>
              <a:t>Shubham Patil</a:t>
            </a:r>
            <a:endParaRPr lang="en-US" sz="1100" dirty="0"/>
          </a:p>
        </p:txBody>
      </p:sp>
      <p:sp>
        <p:nvSpPr>
          <p:cNvPr id="27" name="Text 24"/>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01</a:t>
            </a:r>
            <a:endParaRPr lang="en-US" sz="850" dirty="0"/>
          </a:p>
        </p:txBody>
      </p:sp>
      <p:sp>
        <p:nvSpPr>
          <p:cNvPr id="28" name="Text 25"/>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Introduction: what the project is</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572768"/>
            <a:ext cx="10652760" cy="960120"/>
          </a:xfrm>
          <a:prstGeom prst="roundRect">
            <a:avLst>
              <a:gd name="adj" fmla="val 7619"/>
            </a:avLst>
          </a:prstGeom>
          <a:solidFill>
            <a:srgbClr val="FFFFFF"/>
          </a:solidFill>
          <a:ln w="12700">
            <a:solidFill>
              <a:srgbClr val="CFE1F0"/>
            </a:solidFill>
            <a:prstDash val="solid"/>
          </a:ln>
        </p:spPr>
      </p:sp>
      <p:sp>
        <p:nvSpPr>
          <p:cNvPr id="7" name="Text 5"/>
          <p:cNvSpPr/>
          <p:nvPr/>
        </p:nvSpPr>
        <p:spPr>
          <a:xfrm>
            <a:off x="1060704" y="1856232"/>
            <a:ext cx="10058400" cy="338328"/>
          </a:xfrm>
          <a:prstGeom prst="rect">
            <a:avLst/>
          </a:prstGeom>
          <a:noFill/>
          <a:ln/>
        </p:spPr>
        <p:txBody>
          <a:bodyPr wrap="square" lIns="0" tIns="0" rIns="0" bIns="0" rtlCol="0" anchor="ctr">
            <a:normAutofit/>
          </a:bodyPr>
          <a:lstStyle/>
          <a:p>
            <a:pPr algn="ctr" indent="0" marL="0">
              <a:buNone/>
            </a:pPr>
            <a:r>
              <a:rPr lang="en-US" sz="1850" b="1" dirty="0">
                <a:solidFill>
                  <a:srgbClr val="07163F"/>
                </a:solidFill>
              </a:rPr>
              <a:t>A retrieval-augmented Q&amp;A assistant that answers PostgreSQL 16 documentation questions using retrieved official documentation chunks instead of relying only on LLM memory.</a:t>
            </a:r>
            <a:endParaRPr lang="en-US" sz="1850" dirty="0"/>
          </a:p>
        </p:txBody>
      </p:sp>
      <p:sp>
        <p:nvSpPr>
          <p:cNvPr id="8" name="Shape 6"/>
          <p:cNvSpPr/>
          <p:nvPr/>
        </p:nvSpPr>
        <p:spPr>
          <a:xfrm>
            <a:off x="868680" y="3063240"/>
            <a:ext cx="3154680" cy="1325880"/>
          </a:xfrm>
          <a:prstGeom prst="roundRect">
            <a:avLst>
              <a:gd name="adj" fmla="val 5517"/>
            </a:avLst>
          </a:prstGeom>
          <a:solidFill>
            <a:srgbClr val="FFFFFF"/>
          </a:solidFill>
          <a:ln w="12700">
            <a:solidFill>
              <a:srgbClr val="D6E4F2"/>
            </a:solidFill>
            <a:prstDash val="solid"/>
          </a:ln>
        </p:spPr>
      </p:sp>
      <p:sp>
        <p:nvSpPr>
          <p:cNvPr id="9" name="Shape 7"/>
          <p:cNvSpPr/>
          <p:nvPr/>
        </p:nvSpPr>
        <p:spPr>
          <a:xfrm>
            <a:off x="1033272" y="3246120"/>
            <a:ext cx="393192" cy="393192"/>
          </a:xfrm>
          <a:prstGeom prst="ellipse">
            <a:avLst/>
          </a:prstGeom>
          <a:solidFill>
            <a:srgbClr val="175DAD"/>
          </a:solidFill>
          <a:ln w="12700">
            <a:solidFill>
              <a:srgbClr val="175DAD"/>
            </a:solidFill>
            <a:prstDash val="solid"/>
          </a:ln>
        </p:spPr>
      </p:sp>
      <p:sp>
        <p:nvSpPr>
          <p:cNvPr id="10" name="Text 8"/>
          <p:cNvSpPr/>
          <p:nvPr/>
        </p:nvSpPr>
        <p:spPr>
          <a:xfrm>
            <a:off x="1033272" y="331012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9"/>
          <p:cNvSpPr/>
          <p:nvPr/>
        </p:nvSpPr>
        <p:spPr>
          <a:xfrm>
            <a:off x="1554480" y="3246120"/>
            <a:ext cx="2011680" cy="219456"/>
          </a:xfrm>
          <a:prstGeom prst="rect">
            <a:avLst/>
          </a:prstGeom>
          <a:noFill/>
          <a:ln/>
        </p:spPr>
        <p:txBody>
          <a:bodyPr wrap="square" lIns="0" tIns="0" rIns="0" bIns="0" rtlCol="0" anchor="ctr"/>
          <a:lstStyle/>
          <a:p>
            <a:pPr indent="0" marL="0">
              <a:buNone/>
            </a:pPr>
            <a:r>
              <a:rPr lang="en-US" sz="1600" b="1" dirty="0">
                <a:solidFill>
                  <a:srgbClr val="07163F"/>
                </a:solidFill>
              </a:rPr>
              <a:t>User asks</a:t>
            </a:r>
            <a:endParaRPr lang="en-US" sz="1600" dirty="0"/>
          </a:p>
        </p:txBody>
      </p:sp>
      <p:sp>
        <p:nvSpPr>
          <p:cNvPr id="12" name="Text 10"/>
          <p:cNvSpPr/>
          <p:nvPr/>
        </p:nvSpPr>
        <p:spPr>
          <a:xfrm>
            <a:off x="1554480" y="3602736"/>
            <a:ext cx="2103120" cy="402336"/>
          </a:xfrm>
          <a:prstGeom prst="rect">
            <a:avLst/>
          </a:prstGeom>
          <a:noFill/>
          <a:ln/>
        </p:spPr>
        <p:txBody>
          <a:bodyPr wrap="square" lIns="0" tIns="0" rIns="0" bIns="0" rtlCol="0" anchor="ctr">
            <a:normAutofit/>
          </a:bodyPr>
          <a:lstStyle/>
          <a:p>
            <a:pPr indent="0" marL="0">
              <a:buNone/>
            </a:pPr>
            <a:r>
              <a:rPr lang="en-US" sz="1250" dirty="0">
                <a:solidFill>
                  <a:srgbClr val="4B5563"/>
                </a:solidFill>
              </a:rPr>
              <a:t>Natural-language PostgreSQL / SQL question</a:t>
            </a:r>
            <a:endParaRPr lang="en-US" sz="1250" dirty="0"/>
          </a:p>
        </p:txBody>
      </p:sp>
      <p:sp>
        <p:nvSpPr>
          <p:cNvPr id="13" name="Shape 11"/>
          <p:cNvSpPr/>
          <p:nvPr/>
        </p:nvSpPr>
        <p:spPr>
          <a:xfrm>
            <a:off x="4572000" y="3063240"/>
            <a:ext cx="3154680" cy="1325880"/>
          </a:xfrm>
          <a:prstGeom prst="roundRect">
            <a:avLst>
              <a:gd name="adj" fmla="val 5517"/>
            </a:avLst>
          </a:prstGeom>
          <a:solidFill>
            <a:srgbClr val="E7F8F6"/>
          </a:solidFill>
          <a:ln w="12700">
            <a:solidFill>
              <a:srgbClr val="A7F3D0"/>
            </a:solidFill>
            <a:prstDash val="solid"/>
          </a:ln>
        </p:spPr>
      </p:sp>
      <p:sp>
        <p:nvSpPr>
          <p:cNvPr id="14" name="Shape 12"/>
          <p:cNvSpPr/>
          <p:nvPr/>
        </p:nvSpPr>
        <p:spPr>
          <a:xfrm>
            <a:off x="4736592" y="3246120"/>
            <a:ext cx="393192" cy="393192"/>
          </a:xfrm>
          <a:prstGeom prst="ellipse">
            <a:avLst/>
          </a:prstGeom>
          <a:solidFill>
            <a:srgbClr val="00827C"/>
          </a:solidFill>
          <a:ln w="12700">
            <a:solidFill>
              <a:srgbClr val="00827C"/>
            </a:solidFill>
            <a:prstDash val="solid"/>
          </a:ln>
        </p:spPr>
      </p:sp>
      <p:sp>
        <p:nvSpPr>
          <p:cNvPr id="15" name="Text 13"/>
          <p:cNvSpPr/>
          <p:nvPr/>
        </p:nvSpPr>
        <p:spPr>
          <a:xfrm>
            <a:off x="4736592" y="331012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6" name="Text 14"/>
          <p:cNvSpPr/>
          <p:nvPr/>
        </p:nvSpPr>
        <p:spPr>
          <a:xfrm>
            <a:off x="5257800" y="3246120"/>
            <a:ext cx="2011680" cy="219456"/>
          </a:xfrm>
          <a:prstGeom prst="rect">
            <a:avLst/>
          </a:prstGeom>
          <a:noFill/>
          <a:ln/>
        </p:spPr>
        <p:txBody>
          <a:bodyPr wrap="square" lIns="0" tIns="0" rIns="0" bIns="0" rtlCol="0" anchor="ctr"/>
          <a:lstStyle/>
          <a:p>
            <a:pPr indent="0" marL="0">
              <a:buNone/>
            </a:pPr>
            <a:r>
              <a:rPr lang="en-US" sz="1600" b="1" dirty="0">
                <a:solidFill>
                  <a:srgbClr val="07163F"/>
                </a:solidFill>
              </a:rPr>
              <a:t>Retriever finds</a:t>
            </a:r>
            <a:endParaRPr lang="en-US" sz="1600" dirty="0"/>
          </a:p>
        </p:txBody>
      </p:sp>
      <p:sp>
        <p:nvSpPr>
          <p:cNvPr id="17" name="Text 15"/>
          <p:cNvSpPr/>
          <p:nvPr/>
        </p:nvSpPr>
        <p:spPr>
          <a:xfrm>
            <a:off x="5257800" y="3602736"/>
            <a:ext cx="2103120" cy="402336"/>
          </a:xfrm>
          <a:prstGeom prst="rect">
            <a:avLst/>
          </a:prstGeom>
          <a:noFill/>
          <a:ln/>
        </p:spPr>
        <p:txBody>
          <a:bodyPr wrap="square" lIns="0" tIns="0" rIns="0" bIns="0" rtlCol="0" anchor="ctr">
            <a:normAutofit/>
          </a:bodyPr>
          <a:lstStyle/>
          <a:p>
            <a:pPr indent="0" marL="0">
              <a:buNone/>
            </a:pPr>
            <a:r>
              <a:rPr lang="en-US" sz="1250" dirty="0">
                <a:solidFill>
                  <a:srgbClr val="4B5563"/>
                </a:solidFill>
              </a:rPr>
              <a:t>Relevant chunks from official documentation</a:t>
            </a:r>
            <a:endParaRPr lang="en-US" sz="1250" dirty="0"/>
          </a:p>
        </p:txBody>
      </p:sp>
      <p:sp>
        <p:nvSpPr>
          <p:cNvPr id="18" name="Shape 16"/>
          <p:cNvSpPr/>
          <p:nvPr/>
        </p:nvSpPr>
        <p:spPr>
          <a:xfrm>
            <a:off x="8275320" y="3063240"/>
            <a:ext cx="3154680" cy="1325880"/>
          </a:xfrm>
          <a:prstGeom prst="roundRect">
            <a:avLst>
              <a:gd name="adj" fmla="val 5517"/>
            </a:avLst>
          </a:prstGeom>
          <a:solidFill>
            <a:srgbClr val="FFFFFF"/>
          </a:solidFill>
          <a:ln w="12700">
            <a:solidFill>
              <a:srgbClr val="D6E4F2"/>
            </a:solidFill>
            <a:prstDash val="solid"/>
          </a:ln>
        </p:spPr>
      </p:sp>
      <p:sp>
        <p:nvSpPr>
          <p:cNvPr id="19" name="Shape 17"/>
          <p:cNvSpPr/>
          <p:nvPr/>
        </p:nvSpPr>
        <p:spPr>
          <a:xfrm>
            <a:off x="8439912" y="3246120"/>
            <a:ext cx="393192" cy="393192"/>
          </a:xfrm>
          <a:prstGeom prst="ellipse">
            <a:avLst/>
          </a:prstGeom>
          <a:solidFill>
            <a:srgbClr val="175DAD"/>
          </a:solidFill>
          <a:ln w="12700">
            <a:solidFill>
              <a:srgbClr val="175DAD"/>
            </a:solidFill>
            <a:prstDash val="solid"/>
          </a:ln>
        </p:spPr>
      </p:sp>
      <p:sp>
        <p:nvSpPr>
          <p:cNvPr id="20" name="Text 18"/>
          <p:cNvSpPr/>
          <p:nvPr/>
        </p:nvSpPr>
        <p:spPr>
          <a:xfrm>
            <a:off x="8439912" y="331012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8961120" y="3246120"/>
            <a:ext cx="2011680" cy="219456"/>
          </a:xfrm>
          <a:prstGeom prst="rect">
            <a:avLst/>
          </a:prstGeom>
          <a:noFill/>
          <a:ln/>
        </p:spPr>
        <p:txBody>
          <a:bodyPr wrap="square" lIns="0" tIns="0" rIns="0" bIns="0" rtlCol="0" anchor="ctr"/>
          <a:lstStyle/>
          <a:p>
            <a:pPr indent="0" marL="0">
              <a:buNone/>
            </a:pPr>
            <a:r>
              <a:rPr lang="en-US" sz="1600" b="1" dirty="0">
                <a:solidFill>
                  <a:srgbClr val="07163F"/>
                </a:solidFill>
              </a:rPr>
              <a:t>LLM answers</a:t>
            </a:r>
            <a:endParaRPr lang="en-US" sz="1600" dirty="0"/>
          </a:p>
        </p:txBody>
      </p:sp>
      <p:sp>
        <p:nvSpPr>
          <p:cNvPr id="22" name="Text 20"/>
          <p:cNvSpPr/>
          <p:nvPr/>
        </p:nvSpPr>
        <p:spPr>
          <a:xfrm>
            <a:off x="8961120" y="3602736"/>
            <a:ext cx="2103120" cy="402336"/>
          </a:xfrm>
          <a:prstGeom prst="rect">
            <a:avLst/>
          </a:prstGeom>
          <a:noFill/>
          <a:ln/>
        </p:spPr>
        <p:txBody>
          <a:bodyPr wrap="square" lIns="0" tIns="0" rIns="0" bIns="0" rtlCol="0" anchor="ctr">
            <a:normAutofit/>
          </a:bodyPr>
          <a:lstStyle/>
          <a:p>
            <a:pPr indent="0" marL="0">
              <a:buNone/>
            </a:pPr>
            <a:r>
              <a:rPr lang="en-US" sz="1250" dirty="0">
                <a:solidFill>
                  <a:srgbClr val="4B5563"/>
                </a:solidFill>
              </a:rPr>
              <a:t>Grounded response with source citations</a:t>
            </a:r>
            <a:endParaRPr lang="en-US" sz="1250" dirty="0"/>
          </a:p>
        </p:txBody>
      </p:sp>
      <p:sp>
        <p:nvSpPr>
          <p:cNvPr id="23" name="Text 21"/>
          <p:cNvSpPr/>
          <p:nvPr/>
        </p:nvSpPr>
        <p:spPr>
          <a:xfrm>
            <a:off x="859536" y="5074920"/>
            <a:ext cx="2103120" cy="228600"/>
          </a:xfrm>
          <a:prstGeom prst="rect">
            <a:avLst/>
          </a:prstGeom>
          <a:noFill/>
          <a:ln/>
        </p:spPr>
        <p:txBody>
          <a:bodyPr wrap="square" lIns="0" tIns="0" rIns="0" bIns="0" rtlCol="0" anchor="ctr"/>
          <a:lstStyle/>
          <a:p>
            <a:pPr indent="0" marL="0">
              <a:buNone/>
            </a:pPr>
            <a:r>
              <a:rPr lang="en-US" sz="1400" b="1" dirty="0">
                <a:solidFill>
                  <a:srgbClr val="00827C"/>
                </a:solidFill>
              </a:rPr>
              <a:t>One-sentence positioning</a:t>
            </a:r>
            <a:endParaRPr lang="en-US" sz="1400" dirty="0"/>
          </a:p>
        </p:txBody>
      </p:sp>
      <p:sp>
        <p:nvSpPr>
          <p:cNvPr id="24" name="Text 22"/>
          <p:cNvSpPr/>
          <p:nvPr/>
        </p:nvSpPr>
        <p:spPr>
          <a:xfrm>
            <a:off x="859536" y="5440680"/>
            <a:ext cx="9875520" cy="274320"/>
          </a:xfrm>
          <a:prstGeom prst="rect">
            <a:avLst/>
          </a:prstGeom>
          <a:noFill/>
          <a:ln/>
        </p:spPr>
        <p:txBody>
          <a:bodyPr wrap="square" lIns="0" tIns="0" rIns="0" bIns="0" rtlCol="0" anchor="ctr">
            <a:normAutofit/>
          </a:bodyPr>
          <a:lstStyle/>
          <a:p>
            <a:pPr indent="0" marL="0">
              <a:buNone/>
            </a:pPr>
            <a:r>
              <a:rPr lang="en-US" sz="1550" dirty="0">
                <a:solidFill>
                  <a:srgbClr val="111827"/>
                </a:solidFill>
              </a:rPr>
              <a:t>It turns a large technical documentation set into a searchable, grounded assistant with evaluation, citations, and controlled failure behavior.</a:t>
            </a:r>
            <a:endParaRPr lang="en-US" sz="1550" dirty="0"/>
          </a:p>
        </p:txBody>
      </p:sp>
      <p:sp>
        <p:nvSpPr>
          <p:cNvPr id="26" name="Text 23"/>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02</a:t>
            </a:r>
            <a:endParaRPr lang="en-US" sz="850" dirty="0"/>
          </a:p>
        </p:txBody>
      </p:sp>
      <p:sp>
        <p:nvSpPr>
          <p:cNvPr id="27" name="Text 24"/>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Objective: the 8 requirements at a glance</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508760"/>
            <a:ext cx="2359152" cy="1005840"/>
          </a:xfrm>
          <a:prstGeom prst="roundRect">
            <a:avLst>
              <a:gd name="adj" fmla="val 7273"/>
            </a:avLst>
          </a:prstGeom>
          <a:solidFill>
            <a:srgbClr val="FFFFFF"/>
          </a:solidFill>
          <a:ln w="12700">
            <a:solidFill>
              <a:srgbClr val="D6E4F2"/>
            </a:solidFill>
            <a:prstDash val="solid"/>
          </a:ln>
        </p:spPr>
      </p:sp>
      <p:sp>
        <p:nvSpPr>
          <p:cNvPr id="7" name="Shape 5"/>
          <p:cNvSpPr/>
          <p:nvPr/>
        </p:nvSpPr>
        <p:spPr>
          <a:xfrm>
            <a:off x="941832" y="1691640"/>
            <a:ext cx="393192" cy="393192"/>
          </a:xfrm>
          <a:prstGeom prst="ellipse">
            <a:avLst/>
          </a:prstGeom>
          <a:solidFill>
            <a:srgbClr val="175DAD"/>
          </a:solidFill>
          <a:ln w="12700">
            <a:solidFill>
              <a:srgbClr val="175DAD"/>
            </a:solidFill>
            <a:prstDash val="solid"/>
          </a:ln>
        </p:spPr>
      </p:sp>
      <p:sp>
        <p:nvSpPr>
          <p:cNvPr id="8" name="Text 6"/>
          <p:cNvSpPr/>
          <p:nvPr/>
        </p:nvSpPr>
        <p:spPr>
          <a:xfrm>
            <a:off x="941832" y="175564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1463040" y="180136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Ingest PostgreSQL docs</a:t>
            </a:r>
            <a:endParaRPr lang="en-US" sz="1420" dirty="0"/>
          </a:p>
        </p:txBody>
      </p:sp>
      <p:sp>
        <p:nvSpPr>
          <p:cNvPr id="10" name="Shape 8"/>
          <p:cNvSpPr/>
          <p:nvPr/>
        </p:nvSpPr>
        <p:spPr>
          <a:xfrm>
            <a:off x="3566160" y="1508760"/>
            <a:ext cx="2359152" cy="1005840"/>
          </a:xfrm>
          <a:prstGeom prst="roundRect">
            <a:avLst>
              <a:gd name="adj" fmla="val 7273"/>
            </a:avLst>
          </a:prstGeom>
          <a:solidFill>
            <a:srgbClr val="FFFFFF"/>
          </a:solidFill>
          <a:ln w="12700">
            <a:solidFill>
              <a:srgbClr val="D6E4F2"/>
            </a:solidFill>
            <a:prstDash val="solid"/>
          </a:ln>
        </p:spPr>
      </p:sp>
      <p:sp>
        <p:nvSpPr>
          <p:cNvPr id="11" name="Shape 9"/>
          <p:cNvSpPr/>
          <p:nvPr/>
        </p:nvSpPr>
        <p:spPr>
          <a:xfrm>
            <a:off x="3730752" y="1691640"/>
            <a:ext cx="393192" cy="393192"/>
          </a:xfrm>
          <a:prstGeom prst="ellipse">
            <a:avLst/>
          </a:prstGeom>
          <a:solidFill>
            <a:srgbClr val="175DAD"/>
          </a:solidFill>
          <a:ln w="12700">
            <a:solidFill>
              <a:srgbClr val="175DAD"/>
            </a:solidFill>
            <a:prstDash val="solid"/>
          </a:ln>
        </p:spPr>
      </p:sp>
      <p:sp>
        <p:nvSpPr>
          <p:cNvPr id="12" name="Text 10"/>
          <p:cNvSpPr/>
          <p:nvPr/>
        </p:nvSpPr>
        <p:spPr>
          <a:xfrm>
            <a:off x="3730752" y="175564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p:nvPr/>
        </p:nvSpPr>
        <p:spPr>
          <a:xfrm>
            <a:off x="4251960" y="180136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Clean HTML content</a:t>
            </a:r>
            <a:endParaRPr lang="en-US" sz="1420" dirty="0"/>
          </a:p>
        </p:txBody>
      </p:sp>
      <p:sp>
        <p:nvSpPr>
          <p:cNvPr id="14" name="Shape 12"/>
          <p:cNvSpPr/>
          <p:nvPr/>
        </p:nvSpPr>
        <p:spPr>
          <a:xfrm>
            <a:off x="6355080" y="1508760"/>
            <a:ext cx="2359152" cy="1005840"/>
          </a:xfrm>
          <a:prstGeom prst="roundRect">
            <a:avLst>
              <a:gd name="adj" fmla="val 7273"/>
            </a:avLst>
          </a:prstGeom>
          <a:solidFill>
            <a:srgbClr val="FFFFFF"/>
          </a:solidFill>
          <a:ln w="12700">
            <a:solidFill>
              <a:srgbClr val="D6E4F2"/>
            </a:solidFill>
            <a:prstDash val="solid"/>
          </a:ln>
        </p:spPr>
      </p:sp>
      <p:sp>
        <p:nvSpPr>
          <p:cNvPr id="15" name="Shape 13"/>
          <p:cNvSpPr/>
          <p:nvPr/>
        </p:nvSpPr>
        <p:spPr>
          <a:xfrm>
            <a:off x="6519672" y="1691640"/>
            <a:ext cx="393192" cy="393192"/>
          </a:xfrm>
          <a:prstGeom prst="ellipse">
            <a:avLst/>
          </a:prstGeom>
          <a:solidFill>
            <a:srgbClr val="175DAD"/>
          </a:solidFill>
          <a:ln w="12700">
            <a:solidFill>
              <a:srgbClr val="175DAD"/>
            </a:solidFill>
            <a:prstDash val="solid"/>
          </a:ln>
        </p:spPr>
      </p:sp>
      <p:sp>
        <p:nvSpPr>
          <p:cNvPr id="16" name="Text 14"/>
          <p:cNvSpPr/>
          <p:nvPr/>
        </p:nvSpPr>
        <p:spPr>
          <a:xfrm>
            <a:off x="6519672" y="175564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p:nvPr/>
        </p:nvSpPr>
        <p:spPr>
          <a:xfrm>
            <a:off x="7040880" y="180136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Chunk with metadata</a:t>
            </a:r>
            <a:endParaRPr lang="en-US" sz="1420" dirty="0"/>
          </a:p>
        </p:txBody>
      </p:sp>
      <p:sp>
        <p:nvSpPr>
          <p:cNvPr id="18" name="Shape 16"/>
          <p:cNvSpPr/>
          <p:nvPr/>
        </p:nvSpPr>
        <p:spPr>
          <a:xfrm>
            <a:off x="9144000" y="1508760"/>
            <a:ext cx="2359152" cy="1005840"/>
          </a:xfrm>
          <a:prstGeom prst="roundRect">
            <a:avLst>
              <a:gd name="adj" fmla="val 7273"/>
            </a:avLst>
          </a:prstGeom>
          <a:solidFill>
            <a:srgbClr val="FFFFFF"/>
          </a:solidFill>
          <a:ln w="12700">
            <a:solidFill>
              <a:srgbClr val="D6E4F2"/>
            </a:solidFill>
            <a:prstDash val="solid"/>
          </a:ln>
        </p:spPr>
      </p:sp>
      <p:sp>
        <p:nvSpPr>
          <p:cNvPr id="19" name="Shape 17"/>
          <p:cNvSpPr/>
          <p:nvPr/>
        </p:nvSpPr>
        <p:spPr>
          <a:xfrm>
            <a:off x="9308592" y="1691640"/>
            <a:ext cx="393192" cy="393192"/>
          </a:xfrm>
          <a:prstGeom prst="ellipse">
            <a:avLst/>
          </a:prstGeom>
          <a:solidFill>
            <a:srgbClr val="175DAD"/>
          </a:solidFill>
          <a:ln w="12700">
            <a:solidFill>
              <a:srgbClr val="175DAD"/>
            </a:solidFill>
            <a:prstDash val="solid"/>
          </a:ln>
        </p:spPr>
      </p:sp>
      <p:sp>
        <p:nvSpPr>
          <p:cNvPr id="20" name="Text 18"/>
          <p:cNvSpPr/>
          <p:nvPr/>
        </p:nvSpPr>
        <p:spPr>
          <a:xfrm>
            <a:off x="9308592" y="175564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p:nvPr/>
        </p:nvSpPr>
        <p:spPr>
          <a:xfrm>
            <a:off x="9829800" y="180136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Create vector index</a:t>
            </a:r>
            <a:endParaRPr lang="en-US" sz="1420" dirty="0"/>
          </a:p>
        </p:txBody>
      </p:sp>
      <p:sp>
        <p:nvSpPr>
          <p:cNvPr id="22" name="Shape 20"/>
          <p:cNvSpPr/>
          <p:nvPr/>
        </p:nvSpPr>
        <p:spPr>
          <a:xfrm>
            <a:off x="777240" y="3017520"/>
            <a:ext cx="2359152" cy="1005840"/>
          </a:xfrm>
          <a:prstGeom prst="roundRect">
            <a:avLst>
              <a:gd name="adj" fmla="val 7273"/>
            </a:avLst>
          </a:prstGeom>
          <a:solidFill>
            <a:srgbClr val="FFFFFF"/>
          </a:solidFill>
          <a:ln w="12700">
            <a:solidFill>
              <a:srgbClr val="D6E4F2"/>
            </a:solidFill>
            <a:prstDash val="solid"/>
          </a:ln>
        </p:spPr>
      </p:sp>
      <p:sp>
        <p:nvSpPr>
          <p:cNvPr id="23" name="Shape 21"/>
          <p:cNvSpPr/>
          <p:nvPr/>
        </p:nvSpPr>
        <p:spPr>
          <a:xfrm>
            <a:off x="941832" y="3200400"/>
            <a:ext cx="393192" cy="393192"/>
          </a:xfrm>
          <a:prstGeom prst="ellipse">
            <a:avLst/>
          </a:prstGeom>
          <a:solidFill>
            <a:srgbClr val="175DAD"/>
          </a:solidFill>
          <a:ln w="12700">
            <a:solidFill>
              <a:srgbClr val="175DAD"/>
            </a:solidFill>
            <a:prstDash val="solid"/>
          </a:ln>
        </p:spPr>
      </p:sp>
      <p:sp>
        <p:nvSpPr>
          <p:cNvPr id="24" name="Text 22"/>
          <p:cNvSpPr/>
          <p:nvPr/>
        </p:nvSpPr>
        <p:spPr>
          <a:xfrm>
            <a:off x="941832" y="326440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5" name="Text 23"/>
          <p:cNvSpPr/>
          <p:nvPr/>
        </p:nvSpPr>
        <p:spPr>
          <a:xfrm>
            <a:off x="1463040" y="331012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Retrieve top-k sources</a:t>
            </a:r>
            <a:endParaRPr lang="en-US" sz="1420" dirty="0"/>
          </a:p>
        </p:txBody>
      </p:sp>
      <p:sp>
        <p:nvSpPr>
          <p:cNvPr id="26" name="Shape 24"/>
          <p:cNvSpPr/>
          <p:nvPr/>
        </p:nvSpPr>
        <p:spPr>
          <a:xfrm>
            <a:off x="3566160" y="3017520"/>
            <a:ext cx="2359152" cy="1005840"/>
          </a:xfrm>
          <a:prstGeom prst="roundRect">
            <a:avLst>
              <a:gd name="adj" fmla="val 7273"/>
            </a:avLst>
          </a:prstGeom>
          <a:solidFill>
            <a:srgbClr val="FFFFFF"/>
          </a:solidFill>
          <a:ln w="12700">
            <a:solidFill>
              <a:srgbClr val="D6E4F2"/>
            </a:solidFill>
            <a:prstDash val="solid"/>
          </a:ln>
        </p:spPr>
      </p:sp>
      <p:sp>
        <p:nvSpPr>
          <p:cNvPr id="27" name="Shape 25"/>
          <p:cNvSpPr/>
          <p:nvPr/>
        </p:nvSpPr>
        <p:spPr>
          <a:xfrm>
            <a:off x="3730752" y="3200400"/>
            <a:ext cx="393192" cy="393192"/>
          </a:xfrm>
          <a:prstGeom prst="ellipse">
            <a:avLst/>
          </a:prstGeom>
          <a:solidFill>
            <a:srgbClr val="175DAD"/>
          </a:solidFill>
          <a:ln w="12700">
            <a:solidFill>
              <a:srgbClr val="175DAD"/>
            </a:solidFill>
            <a:prstDash val="solid"/>
          </a:ln>
        </p:spPr>
      </p:sp>
      <p:sp>
        <p:nvSpPr>
          <p:cNvPr id="28" name="Text 26"/>
          <p:cNvSpPr/>
          <p:nvPr/>
        </p:nvSpPr>
        <p:spPr>
          <a:xfrm>
            <a:off x="3730752" y="326440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9" name="Text 27"/>
          <p:cNvSpPr/>
          <p:nvPr/>
        </p:nvSpPr>
        <p:spPr>
          <a:xfrm>
            <a:off x="4251960" y="331012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Generate answer with Groq</a:t>
            </a:r>
            <a:endParaRPr lang="en-US" sz="1420" dirty="0"/>
          </a:p>
        </p:txBody>
      </p:sp>
      <p:sp>
        <p:nvSpPr>
          <p:cNvPr id="30" name="Shape 28"/>
          <p:cNvSpPr/>
          <p:nvPr/>
        </p:nvSpPr>
        <p:spPr>
          <a:xfrm>
            <a:off x="6355080" y="3017520"/>
            <a:ext cx="2359152" cy="1005840"/>
          </a:xfrm>
          <a:prstGeom prst="roundRect">
            <a:avLst>
              <a:gd name="adj" fmla="val 7273"/>
            </a:avLst>
          </a:prstGeom>
          <a:solidFill>
            <a:srgbClr val="FFFFFF"/>
          </a:solidFill>
          <a:ln w="12700">
            <a:solidFill>
              <a:srgbClr val="D6E4F2"/>
            </a:solidFill>
            <a:prstDash val="solid"/>
          </a:ln>
        </p:spPr>
      </p:sp>
      <p:sp>
        <p:nvSpPr>
          <p:cNvPr id="31" name="Shape 29"/>
          <p:cNvSpPr/>
          <p:nvPr/>
        </p:nvSpPr>
        <p:spPr>
          <a:xfrm>
            <a:off x="6519672" y="3200400"/>
            <a:ext cx="393192" cy="393192"/>
          </a:xfrm>
          <a:prstGeom prst="ellipse">
            <a:avLst/>
          </a:prstGeom>
          <a:solidFill>
            <a:srgbClr val="175DAD"/>
          </a:solidFill>
          <a:ln w="12700">
            <a:solidFill>
              <a:srgbClr val="175DAD"/>
            </a:solidFill>
            <a:prstDash val="solid"/>
          </a:ln>
        </p:spPr>
      </p:sp>
      <p:sp>
        <p:nvSpPr>
          <p:cNvPr id="32" name="Text 30"/>
          <p:cNvSpPr/>
          <p:nvPr/>
        </p:nvSpPr>
        <p:spPr>
          <a:xfrm>
            <a:off x="6519672" y="326440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3" name="Text 31"/>
          <p:cNvSpPr/>
          <p:nvPr/>
        </p:nvSpPr>
        <p:spPr>
          <a:xfrm>
            <a:off x="7040880" y="331012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Validate citations</a:t>
            </a:r>
            <a:endParaRPr lang="en-US" sz="1420" dirty="0"/>
          </a:p>
        </p:txBody>
      </p:sp>
      <p:sp>
        <p:nvSpPr>
          <p:cNvPr id="34" name="Shape 32"/>
          <p:cNvSpPr/>
          <p:nvPr/>
        </p:nvSpPr>
        <p:spPr>
          <a:xfrm>
            <a:off x="9144000" y="3017520"/>
            <a:ext cx="2359152" cy="1005840"/>
          </a:xfrm>
          <a:prstGeom prst="roundRect">
            <a:avLst>
              <a:gd name="adj" fmla="val 7273"/>
            </a:avLst>
          </a:prstGeom>
          <a:solidFill>
            <a:srgbClr val="E7F8F6"/>
          </a:solidFill>
          <a:ln w="12700">
            <a:solidFill>
              <a:srgbClr val="99E6D8"/>
            </a:solidFill>
            <a:prstDash val="solid"/>
          </a:ln>
        </p:spPr>
      </p:sp>
      <p:sp>
        <p:nvSpPr>
          <p:cNvPr id="35" name="Shape 33"/>
          <p:cNvSpPr/>
          <p:nvPr/>
        </p:nvSpPr>
        <p:spPr>
          <a:xfrm>
            <a:off x="9308592" y="3200400"/>
            <a:ext cx="393192" cy="393192"/>
          </a:xfrm>
          <a:prstGeom prst="ellipse">
            <a:avLst/>
          </a:prstGeom>
          <a:solidFill>
            <a:srgbClr val="00827C"/>
          </a:solidFill>
          <a:ln w="12700">
            <a:solidFill>
              <a:srgbClr val="00827C"/>
            </a:solidFill>
            <a:prstDash val="solid"/>
          </a:ln>
        </p:spPr>
      </p:sp>
      <p:sp>
        <p:nvSpPr>
          <p:cNvPr id="36" name="Text 34"/>
          <p:cNvSpPr/>
          <p:nvPr/>
        </p:nvSpPr>
        <p:spPr>
          <a:xfrm>
            <a:off x="9308592" y="326440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37" name="Text 35"/>
          <p:cNvSpPr/>
          <p:nvPr/>
        </p:nvSpPr>
        <p:spPr>
          <a:xfrm>
            <a:off x="9829800" y="3310128"/>
            <a:ext cx="1417320" cy="219456"/>
          </a:xfrm>
          <a:prstGeom prst="rect">
            <a:avLst/>
          </a:prstGeom>
          <a:noFill/>
          <a:ln/>
        </p:spPr>
        <p:txBody>
          <a:bodyPr wrap="square" lIns="0" tIns="0" rIns="0" bIns="0" rtlCol="0" anchor="ctr">
            <a:normAutofit/>
          </a:bodyPr>
          <a:lstStyle/>
          <a:p>
            <a:pPr indent="0" marL="0">
              <a:buNone/>
            </a:pPr>
            <a:r>
              <a:rPr lang="en-US" sz="1420" b="1" dirty="0">
                <a:solidFill>
                  <a:srgbClr val="07163F"/>
                </a:solidFill>
              </a:rPr>
              <a:t>Evaluate quality</a:t>
            </a:r>
            <a:endParaRPr lang="en-US" sz="1420" dirty="0"/>
          </a:p>
        </p:txBody>
      </p:sp>
      <p:sp>
        <p:nvSpPr>
          <p:cNvPr id="38" name="Shape 36"/>
          <p:cNvSpPr/>
          <p:nvPr/>
        </p:nvSpPr>
        <p:spPr>
          <a:xfrm>
            <a:off x="1005840" y="4901184"/>
            <a:ext cx="10149840" cy="841248"/>
          </a:xfrm>
          <a:prstGeom prst="roundRect">
            <a:avLst>
              <a:gd name="adj" fmla="val 8696"/>
            </a:avLst>
          </a:prstGeom>
          <a:solidFill>
            <a:srgbClr val="FFFFFF"/>
          </a:solidFill>
          <a:ln w="12700">
            <a:solidFill>
              <a:srgbClr val="CFE1F0"/>
            </a:solidFill>
            <a:prstDash val="solid"/>
          </a:ln>
        </p:spPr>
      </p:sp>
      <p:sp>
        <p:nvSpPr>
          <p:cNvPr id="39" name="Text 37"/>
          <p:cNvSpPr/>
          <p:nvPr/>
        </p:nvSpPr>
        <p:spPr>
          <a:xfrm>
            <a:off x="1280160" y="5120640"/>
            <a:ext cx="1554480" cy="182880"/>
          </a:xfrm>
          <a:prstGeom prst="rect">
            <a:avLst/>
          </a:prstGeom>
          <a:noFill/>
          <a:ln/>
        </p:spPr>
        <p:txBody>
          <a:bodyPr wrap="square" lIns="0" tIns="0" rIns="0" bIns="0" rtlCol="0" anchor="ctr"/>
          <a:lstStyle/>
          <a:p>
            <a:pPr indent="0" marL="0">
              <a:buNone/>
            </a:pPr>
            <a:r>
              <a:rPr lang="en-US" sz="1250" b="1" dirty="0">
                <a:solidFill>
                  <a:srgbClr val="00827C"/>
                </a:solidFill>
              </a:rPr>
              <a:t>My interpretation</a:t>
            </a:r>
            <a:endParaRPr lang="en-US" sz="1250" dirty="0"/>
          </a:p>
        </p:txBody>
      </p:sp>
      <p:sp>
        <p:nvSpPr>
          <p:cNvPr id="40" name="Text 38"/>
          <p:cNvSpPr/>
          <p:nvPr/>
        </p:nvSpPr>
        <p:spPr>
          <a:xfrm>
            <a:off x="2743200" y="5102352"/>
            <a:ext cx="7955280" cy="228600"/>
          </a:xfrm>
          <a:prstGeom prst="rect">
            <a:avLst/>
          </a:prstGeom>
          <a:noFill/>
          <a:ln/>
        </p:spPr>
        <p:txBody>
          <a:bodyPr wrap="square" lIns="0" tIns="0" rIns="0" bIns="0" rtlCol="0" anchor="ctr">
            <a:normAutofit/>
          </a:bodyPr>
          <a:lstStyle/>
          <a:p>
            <a:pPr indent="0" marL="0">
              <a:buNone/>
            </a:pPr>
            <a:r>
              <a:rPr lang="en-US" sz="1380" dirty="0">
                <a:solidFill>
                  <a:srgbClr val="111827"/>
                </a:solidFill>
              </a:rPr>
              <a:t>The case study was not only about producing answers. It was about building a small but complete engineering system with retrieval, grounding, UI, guardrails, and measurable quality.</a:t>
            </a:r>
            <a:endParaRPr lang="en-US" sz="1380" dirty="0"/>
          </a:p>
        </p:txBody>
      </p:sp>
      <p:sp>
        <p:nvSpPr>
          <p:cNvPr id="42" name="Text 39"/>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03</a:t>
            </a:r>
            <a:endParaRPr lang="en-US" sz="850" dirty="0"/>
          </a:p>
        </p:txBody>
      </p:sp>
      <p:sp>
        <p:nvSpPr>
          <p:cNvPr id="43" name="Text 40"/>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Problem statement: accurate answers without hallucination</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481328"/>
            <a:ext cx="5257800" cy="4297680"/>
          </a:xfrm>
          <a:prstGeom prst="roundRect">
            <a:avLst>
              <a:gd name="adj" fmla="val 1702"/>
            </a:avLst>
          </a:prstGeom>
          <a:solidFill>
            <a:srgbClr val="FFFFFF"/>
          </a:solidFill>
          <a:ln w="12700">
            <a:solidFill>
              <a:srgbClr val="D6E4F2"/>
            </a:solidFill>
            <a:prstDash val="solid"/>
          </a:ln>
        </p:spPr>
      </p:sp>
      <p:sp>
        <p:nvSpPr>
          <p:cNvPr id="7" name="Text 5"/>
          <p:cNvSpPr/>
          <p:nvPr/>
        </p:nvSpPr>
        <p:spPr>
          <a:xfrm>
            <a:off x="1060704" y="1783080"/>
            <a:ext cx="2286000" cy="256032"/>
          </a:xfrm>
          <a:prstGeom prst="rect">
            <a:avLst/>
          </a:prstGeom>
          <a:noFill/>
          <a:ln/>
        </p:spPr>
        <p:txBody>
          <a:bodyPr wrap="square" lIns="0" tIns="0" rIns="0" bIns="0" rtlCol="0" anchor="ctr"/>
          <a:lstStyle/>
          <a:p>
            <a:pPr indent="0" marL="0">
              <a:buNone/>
            </a:pPr>
            <a:r>
              <a:rPr lang="en-US" sz="1900" b="1" dirty="0">
                <a:solidFill>
                  <a:srgbClr val="07163F"/>
                </a:solidFill>
              </a:rPr>
              <a:t>Why this matters</a:t>
            </a:r>
            <a:endParaRPr lang="en-US" sz="1900" dirty="0"/>
          </a:p>
        </p:txBody>
      </p:sp>
      <p:sp>
        <p:nvSpPr>
          <p:cNvPr id="8" name="Shape 6"/>
          <p:cNvSpPr/>
          <p:nvPr/>
        </p:nvSpPr>
        <p:spPr>
          <a:xfrm>
            <a:off x="1060704" y="2350008"/>
            <a:ext cx="77724" cy="77724"/>
          </a:xfrm>
          <a:prstGeom prst="ellipse">
            <a:avLst/>
          </a:prstGeom>
          <a:solidFill>
            <a:srgbClr val="00827C"/>
          </a:solidFill>
          <a:ln w="12700">
            <a:solidFill>
              <a:srgbClr val="00827C"/>
            </a:solidFill>
            <a:prstDash val="solid"/>
          </a:ln>
        </p:spPr>
      </p:sp>
      <p:sp>
        <p:nvSpPr>
          <p:cNvPr id="9" name="Text 7"/>
          <p:cNvSpPr/>
          <p:nvPr/>
        </p:nvSpPr>
        <p:spPr>
          <a:xfrm>
            <a:off x="1234440" y="2267712"/>
            <a:ext cx="4261104" cy="265176"/>
          </a:xfrm>
          <a:prstGeom prst="rect">
            <a:avLst/>
          </a:prstGeom>
          <a:noFill/>
          <a:ln/>
        </p:spPr>
        <p:txBody>
          <a:bodyPr wrap="square" lIns="0" tIns="0" rIns="0" bIns="0" rtlCol="0" anchor="ctr">
            <a:normAutofit/>
          </a:bodyPr>
          <a:lstStyle/>
          <a:p>
            <a:pPr indent="0" marL="0">
              <a:buNone/>
            </a:pPr>
            <a:r>
              <a:rPr lang="en-US" sz="1440" dirty="0">
                <a:solidFill>
                  <a:srgbClr val="111827"/>
                </a:solidFill>
              </a:rPr>
              <a:t>PostgreSQL documentation is broad and highly technical.</a:t>
            </a:r>
            <a:endParaRPr lang="en-US" sz="1440" dirty="0"/>
          </a:p>
        </p:txBody>
      </p:sp>
      <p:sp>
        <p:nvSpPr>
          <p:cNvPr id="10" name="Shape 8"/>
          <p:cNvSpPr/>
          <p:nvPr/>
        </p:nvSpPr>
        <p:spPr>
          <a:xfrm>
            <a:off x="1060704" y="2871216"/>
            <a:ext cx="77724" cy="77724"/>
          </a:xfrm>
          <a:prstGeom prst="ellipse">
            <a:avLst/>
          </a:prstGeom>
          <a:solidFill>
            <a:srgbClr val="00827C"/>
          </a:solidFill>
          <a:ln w="12700">
            <a:solidFill>
              <a:srgbClr val="00827C"/>
            </a:solidFill>
            <a:prstDash val="solid"/>
          </a:ln>
        </p:spPr>
      </p:sp>
      <p:sp>
        <p:nvSpPr>
          <p:cNvPr id="11" name="Text 9"/>
          <p:cNvSpPr/>
          <p:nvPr/>
        </p:nvSpPr>
        <p:spPr>
          <a:xfrm>
            <a:off x="1234440" y="2788920"/>
            <a:ext cx="4261104" cy="265176"/>
          </a:xfrm>
          <a:prstGeom prst="rect">
            <a:avLst/>
          </a:prstGeom>
          <a:noFill/>
          <a:ln/>
        </p:spPr>
        <p:txBody>
          <a:bodyPr wrap="square" lIns="0" tIns="0" rIns="0" bIns="0" rtlCol="0" anchor="ctr">
            <a:normAutofit/>
          </a:bodyPr>
          <a:lstStyle/>
          <a:p>
            <a:pPr indent="0" marL="0">
              <a:buNone/>
            </a:pPr>
            <a:r>
              <a:rPr lang="en-US" sz="1440" dirty="0">
                <a:solidFill>
                  <a:srgbClr val="111827"/>
                </a:solidFill>
              </a:rPr>
              <a:t>Many questions depend on exact terms: VACUUM, MVCC, GIN, SAVEPOINT, CONCURRENTLY.</a:t>
            </a:r>
            <a:endParaRPr lang="en-US" sz="1440" dirty="0"/>
          </a:p>
        </p:txBody>
      </p:sp>
      <p:sp>
        <p:nvSpPr>
          <p:cNvPr id="12" name="Shape 10"/>
          <p:cNvSpPr/>
          <p:nvPr/>
        </p:nvSpPr>
        <p:spPr>
          <a:xfrm>
            <a:off x="1060704" y="3392424"/>
            <a:ext cx="77724" cy="77724"/>
          </a:xfrm>
          <a:prstGeom prst="ellipse">
            <a:avLst/>
          </a:prstGeom>
          <a:solidFill>
            <a:srgbClr val="00827C"/>
          </a:solidFill>
          <a:ln w="12700">
            <a:solidFill>
              <a:srgbClr val="00827C"/>
            </a:solidFill>
            <a:prstDash val="solid"/>
          </a:ln>
        </p:spPr>
      </p:sp>
      <p:sp>
        <p:nvSpPr>
          <p:cNvPr id="13" name="Text 11"/>
          <p:cNvSpPr/>
          <p:nvPr/>
        </p:nvSpPr>
        <p:spPr>
          <a:xfrm>
            <a:off x="1234440" y="3310128"/>
            <a:ext cx="4261104" cy="265176"/>
          </a:xfrm>
          <a:prstGeom prst="rect">
            <a:avLst/>
          </a:prstGeom>
          <a:noFill/>
          <a:ln/>
        </p:spPr>
        <p:txBody>
          <a:bodyPr wrap="square" lIns="0" tIns="0" rIns="0" bIns="0" rtlCol="0" anchor="ctr">
            <a:normAutofit/>
          </a:bodyPr>
          <a:lstStyle/>
          <a:p>
            <a:pPr indent="0" marL="0">
              <a:buNone/>
            </a:pPr>
            <a:r>
              <a:rPr lang="en-US" sz="1440" dirty="0">
                <a:solidFill>
                  <a:srgbClr val="111827"/>
                </a:solidFill>
              </a:rPr>
              <a:t>A normal chatbot may answer confidently but miss the right documentation source.</a:t>
            </a:r>
            <a:endParaRPr lang="en-US" sz="1440" dirty="0"/>
          </a:p>
        </p:txBody>
      </p:sp>
      <p:sp>
        <p:nvSpPr>
          <p:cNvPr id="14" name="Shape 12"/>
          <p:cNvSpPr/>
          <p:nvPr/>
        </p:nvSpPr>
        <p:spPr>
          <a:xfrm>
            <a:off x="1060704" y="3913632"/>
            <a:ext cx="77724" cy="77724"/>
          </a:xfrm>
          <a:prstGeom prst="ellipse">
            <a:avLst/>
          </a:prstGeom>
          <a:solidFill>
            <a:srgbClr val="00827C"/>
          </a:solidFill>
          <a:ln w="12700">
            <a:solidFill>
              <a:srgbClr val="00827C"/>
            </a:solidFill>
            <a:prstDash val="solid"/>
          </a:ln>
        </p:spPr>
      </p:sp>
      <p:sp>
        <p:nvSpPr>
          <p:cNvPr id="15" name="Text 13"/>
          <p:cNvSpPr/>
          <p:nvPr/>
        </p:nvSpPr>
        <p:spPr>
          <a:xfrm>
            <a:off x="1234440" y="3831336"/>
            <a:ext cx="4261104" cy="265176"/>
          </a:xfrm>
          <a:prstGeom prst="rect">
            <a:avLst/>
          </a:prstGeom>
          <a:noFill/>
          <a:ln/>
        </p:spPr>
        <p:txBody>
          <a:bodyPr wrap="square" lIns="0" tIns="0" rIns="0" bIns="0" rtlCol="0" anchor="ctr">
            <a:normAutofit/>
          </a:bodyPr>
          <a:lstStyle/>
          <a:p>
            <a:pPr indent="0" marL="0">
              <a:buNone/>
            </a:pPr>
            <a:r>
              <a:rPr lang="en-US" sz="1440" dirty="0">
                <a:solidFill>
                  <a:srgbClr val="111827"/>
                </a:solidFill>
              </a:rPr>
              <a:t>For technical Q&amp;A, citation quality matters as much as answer fluency.</a:t>
            </a:r>
            <a:endParaRPr lang="en-US" sz="1440" dirty="0"/>
          </a:p>
        </p:txBody>
      </p:sp>
      <p:sp>
        <p:nvSpPr>
          <p:cNvPr id="16" name="Shape 14"/>
          <p:cNvSpPr/>
          <p:nvPr/>
        </p:nvSpPr>
        <p:spPr>
          <a:xfrm>
            <a:off x="6400800" y="1481328"/>
            <a:ext cx="4709160" cy="1143000"/>
          </a:xfrm>
          <a:prstGeom prst="roundRect">
            <a:avLst>
              <a:gd name="adj" fmla="val 6400"/>
            </a:avLst>
          </a:prstGeom>
          <a:solidFill>
            <a:srgbClr val="FFF7ED"/>
          </a:solidFill>
          <a:ln w="12700">
            <a:solidFill>
              <a:srgbClr val="FED7AA"/>
            </a:solidFill>
            <a:prstDash val="solid"/>
          </a:ln>
        </p:spPr>
      </p:sp>
      <p:sp>
        <p:nvSpPr>
          <p:cNvPr id="17" name="Text 15"/>
          <p:cNvSpPr/>
          <p:nvPr/>
        </p:nvSpPr>
        <p:spPr>
          <a:xfrm>
            <a:off x="6720840" y="1773936"/>
            <a:ext cx="731520" cy="210312"/>
          </a:xfrm>
          <a:prstGeom prst="rect">
            <a:avLst/>
          </a:prstGeom>
          <a:noFill/>
          <a:ln/>
        </p:spPr>
        <p:txBody>
          <a:bodyPr wrap="square" lIns="0" tIns="0" rIns="0" bIns="0" rtlCol="0" anchor="ctr"/>
          <a:lstStyle/>
          <a:p>
            <a:pPr indent="0" marL="0">
              <a:buNone/>
            </a:pPr>
            <a:r>
              <a:rPr lang="en-US" sz="1600" b="1" dirty="0">
                <a:solidFill>
                  <a:srgbClr val="E68A00"/>
                </a:solidFill>
              </a:rPr>
              <a:t>Risk</a:t>
            </a:r>
            <a:endParaRPr lang="en-US" sz="1600" dirty="0"/>
          </a:p>
        </p:txBody>
      </p:sp>
      <p:sp>
        <p:nvSpPr>
          <p:cNvPr id="18" name="Text 16"/>
          <p:cNvSpPr/>
          <p:nvPr/>
        </p:nvSpPr>
        <p:spPr>
          <a:xfrm>
            <a:off x="7452360" y="1773936"/>
            <a:ext cx="3017520" cy="210312"/>
          </a:xfrm>
          <a:prstGeom prst="rect">
            <a:avLst/>
          </a:prstGeom>
          <a:noFill/>
          <a:ln/>
        </p:spPr>
        <p:txBody>
          <a:bodyPr wrap="square" lIns="0" tIns="0" rIns="0" bIns="0" rtlCol="0" anchor="ctr"/>
          <a:lstStyle/>
          <a:p>
            <a:pPr indent="0" marL="0">
              <a:buNone/>
            </a:pPr>
            <a:r>
              <a:rPr lang="en-US" sz="1600" b="1" dirty="0">
                <a:solidFill>
                  <a:srgbClr val="07163F"/>
                </a:solidFill>
              </a:rPr>
              <a:t>Fluent but unsupported answers</a:t>
            </a:r>
            <a:endParaRPr lang="en-US" sz="1600" dirty="0"/>
          </a:p>
        </p:txBody>
      </p:sp>
      <p:sp>
        <p:nvSpPr>
          <p:cNvPr id="19" name="Shape 17"/>
          <p:cNvSpPr/>
          <p:nvPr/>
        </p:nvSpPr>
        <p:spPr>
          <a:xfrm>
            <a:off x="6400800" y="2852928"/>
            <a:ext cx="4709160" cy="1143000"/>
          </a:xfrm>
          <a:prstGeom prst="roundRect">
            <a:avLst>
              <a:gd name="adj" fmla="val 6400"/>
            </a:avLst>
          </a:prstGeom>
          <a:solidFill>
            <a:srgbClr val="E7F8F6"/>
          </a:solidFill>
          <a:ln w="12700">
            <a:solidFill>
              <a:srgbClr val="A7F3D0"/>
            </a:solidFill>
            <a:prstDash val="solid"/>
          </a:ln>
        </p:spPr>
      </p:sp>
      <p:sp>
        <p:nvSpPr>
          <p:cNvPr id="20" name="Text 18"/>
          <p:cNvSpPr/>
          <p:nvPr/>
        </p:nvSpPr>
        <p:spPr>
          <a:xfrm>
            <a:off x="6720840" y="3145536"/>
            <a:ext cx="731520" cy="210312"/>
          </a:xfrm>
          <a:prstGeom prst="rect">
            <a:avLst/>
          </a:prstGeom>
          <a:noFill/>
          <a:ln/>
        </p:spPr>
        <p:txBody>
          <a:bodyPr wrap="square" lIns="0" tIns="0" rIns="0" bIns="0" rtlCol="0" anchor="ctr"/>
          <a:lstStyle/>
          <a:p>
            <a:pPr indent="0" marL="0">
              <a:buNone/>
            </a:pPr>
            <a:r>
              <a:rPr lang="en-US" sz="1600" b="1" dirty="0">
                <a:solidFill>
                  <a:srgbClr val="00827C"/>
                </a:solidFill>
              </a:rPr>
              <a:t>Goal</a:t>
            </a:r>
            <a:endParaRPr lang="en-US" sz="1600" dirty="0"/>
          </a:p>
        </p:txBody>
      </p:sp>
      <p:sp>
        <p:nvSpPr>
          <p:cNvPr id="21" name="Text 19"/>
          <p:cNvSpPr/>
          <p:nvPr/>
        </p:nvSpPr>
        <p:spPr>
          <a:xfrm>
            <a:off x="7452360" y="3145536"/>
            <a:ext cx="3017520" cy="210312"/>
          </a:xfrm>
          <a:prstGeom prst="rect">
            <a:avLst/>
          </a:prstGeom>
          <a:noFill/>
          <a:ln/>
        </p:spPr>
        <p:txBody>
          <a:bodyPr wrap="square" lIns="0" tIns="0" rIns="0" bIns="0" rtlCol="0" anchor="ctr"/>
          <a:lstStyle/>
          <a:p>
            <a:pPr indent="0" marL="0">
              <a:buNone/>
            </a:pPr>
            <a:r>
              <a:rPr lang="en-US" sz="1600" b="1" dirty="0">
                <a:solidFill>
                  <a:srgbClr val="07163F"/>
                </a:solidFill>
              </a:rPr>
              <a:t>Grounded answer + valid sources</a:t>
            </a:r>
            <a:endParaRPr lang="en-US" sz="1600" dirty="0"/>
          </a:p>
        </p:txBody>
      </p:sp>
      <p:sp>
        <p:nvSpPr>
          <p:cNvPr id="22" name="Shape 20"/>
          <p:cNvSpPr/>
          <p:nvPr/>
        </p:nvSpPr>
        <p:spPr>
          <a:xfrm>
            <a:off x="6400800" y="4224528"/>
            <a:ext cx="4709160" cy="1143000"/>
          </a:xfrm>
          <a:prstGeom prst="roundRect">
            <a:avLst>
              <a:gd name="adj" fmla="val 6400"/>
            </a:avLst>
          </a:prstGeom>
          <a:solidFill>
            <a:srgbClr val="EAF4FF"/>
          </a:solidFill>
          <a:ln w="12700">
            <a:solidFill>
              <a:srgbClr val="BFDBFE"/>
            </a:solidFill>
            <a:prstDash val="solid"/>
          </a:ln>
        </p:spPr>
      </p:sp>
      <p:sp>
        <p:nvSpPr>
          <p:cNvPr id="23" name="Text 21"/>
          <p:cNvSpPr/>
          <p:nvPr/>
        </p:nvSpPr>
        <p:spPr>
          <a:xfrm>
            <a:off x="6720840" y="4517136"/>
            <a:ext cx="822960" cy="210312"/>
          </a:xfrm>
          <a:prstGeom prst="rect">
            <a:avLst/>
          </a:prstGeom>
          <a:noFill/>
          <a:ln/>
        </p:spPr>
        <p:txBody>
          <a:bodyPr wrap="square" lIns="0" tIns="0" rIns="0" bIns="0" rtlCol="0" anchor="ctr"/>
          <a:lstStyle/>
          <a:p>
            <a:pPr indent="0" marL="0">
              <a:buNone/>
            </a:pPr>
            <a:r>
              <a:rPr lang="en-US" sz="1600" b="1" dirty="0">
                <a:solidFill>
                  <a:srgbClr val="175DAD"/>
                </a:solidFill>
              </a:rPr>
              <a:t>Method</a:t>
            </a:r>
            <a:endParaRPr lang="en-US" sz="1600" dirty="0"/>
          </a:p>
        </p:txBody>
      </p:sp>
      <p:sp>
        <p:nvSpPr>
          <p:cNvPr id="24" name="Text 22"/>
          <p:cNvSpPr/>
          <p:nvPr/>
        </p:nvSpPr>
        <p:spPr>
          <a:xfrm>
            <a:off x="7543800" y="4517136"/>
            <a:ext cx="3108960" cy="210312"/>
          </a:xfrm>
          <a:prstGeom prst="rect">
            <a:avLst/>
          </a:prstGeom>
          <a:noFill/>
          <a:ln/>
        </p:spPr>
        <p:txBody>
          <a:bodyPr wrap="square" lIns="0" tIns="0" rIns="0" bIns="0" rtlCol="0" anchor="ctr">
            <a:normAutofit/>
          </a:bodyPr>
          <a:lstStyle/>
          <a:p>
            <a:pPr indent="0" marL="0">
              <a:buNone/>
            </a:pPr>
            <a:r>
              <a:rPr lang="en-US" sz="1600" b="1" dirty="0">
                <a:solidFill>
                  <a:srgbClr val="07163F"/>
                </a:solidFill>
              </a:rPr>
              <a:t>Measure retrieval before optimizing LLM</a:t>
            </a:r>
            <a:endParaRPr lang="en-US" sz="1600" dirty="0"/>
          </a:p>
        </p:txBody>
      </p:sp>
      <p:sp>
        <p:nvSpPr>
          <p:cNvPr id="26" name="Text 23"/>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04</a:t>
            </a:r>
            <a:endParaRPr lang="en-US" sz="850" dirty="0"/>
          </a:p>
        </p:txBody>
      </p:sp>
      <p:sp>
        <p:nvSpPr>
          <p:cNvPr id="27" name="Text 24"/>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Architecture overview: offline indexing + runtime pipeline</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pic>
        <p:nvPicPr>
          <p:cNvPr id="6" name="Image 0" descr="/mnt/data/Architecture(1).png">    </p:cNvPr>
          <p:cNvPicPr>
            <a:picLocks noChangeAspect="1"/>
          </p:cNvPicPr>
          <p:nvPr/>
        </p:nvPicPr>
        <p:blipFill>
          <a:blip r:embed="rId1"/>
          <a:stretch>
            <a:fillRect/>
          </a:stretch>
        </p:blipFill>
        <p:spPr>
          <a:xfrm>
            <a:off x="1743735" y="1243584"/>
            <a:ext cx="8692339" cy="4892040"/>
          </a:xfrm>
          <a:prstGeom prst="rect">
            <a:avLst/>
          </a:prstGeom>
        </p:spPr>
      </p:pic>
      <p:sp>
        <p:nvSpPr>
          <p:cNvPr id="7" name="Shape 4"/>
          <p:cNvSpPr/>
          <p:nvPr/>
        </p:nvSpPr>
        <p:spPr>
          <a:xfrm>
            <a:off x="594360" y="6336792"/>
            <a:ext cx="1600200" cy="310896"/>
          </a:xfrm>
          <a:prstGeom prst="roundRect">
            <a:avLst>
              <a:gd name="adj" fmla="val 23529"/>
            </a:avLst>
          </a:prstGeom>
          <a:solidFill>
            <a:srgbClr val="175DAD"/>
          </a:solidFill>
          <a:ln w="12700">
            <a:solidFill>
              <a:srgbClr val="175DAD"/>
            </a:solidFill>
            <a:prstDash val="solid"/>
          </a:ln>
        </p:spPr>
      </p:sp>
      <p:sp>
        <p:nvSpPr>
          <p:cNvPr id="8" name="Text 5"/>
          <p:cNvSpPr/>
          <p:nvPr/>
        </p:nvSpPr>
        <p:spPr>
          <a:xfrm>
            <a:off x="667512" y="6409944"/>
            <a:ext cx="1453896" cy="128016"/>
          </a:xfrm>
          <a:prstGeom prst="rect">
            <a:avLst/>
          </a:prstGeom>
          <a:noFill/>
          <a:ln/>
        </p:spPr>
        <p:txBody>
          <a:bodyPr wrap="square" lIns="0" tIns="0" rIns="0" bIns="0" rtlCol="0" anchor="ctr">
            <a:normAutofit/>
          </a:bodyPr>
          <a:lstStyle/>
          <a:p>
            <a:pPr algn="ctr" indent="0" marL="0">
              <a:buNone/>
            </a:pPr>
            <a:r>
              <a:rPr lang="en-US" sz="960" b="1" dirty="0">
                <a:solidFill>
                  <a:srgbClr val="FFFFFF"/>
                </a:solidFill>
              </a:rPr>
              <a:t>1 Offline index build</a:t>
            </a:r>
            <a:endParaRPr lang="en-US" sz="960" dirty="0"/>
          </a:p>
        </p:txBody>
      </p:sp>
      <p:sp>
        <p:nvSpPr>
          <p:cNvPr id="9" name="Shape 6"/>
          <p:cNvSpPr/>
          <p:nvPr/>
        </p:nvSpPr>
        <p:spPr>
          <a:xfrm>
            <a:off x="2423160" y="6336792"/>
            <a:ext cx="1828800" cy="310896"/>
          </a:xfrm>
          <a:prstGeom prst="roundRect">
            <a:avLst>
              <a:gd name="adj" fmla="val 23529"/>
            </a:avLst>
          </a:prstGeom>
          <a:solidFill>
            <a:srgbClr val="00827C"/>
          </a:solidFill>
          <a:ln w="12700">
            <a:solidFill>
              <a:srgbClr val="00827C"/>
            </a:solidFill>
            <a:prstDash val="solid"/>
          </a:ln>
        </p:spPr>
      </p:sp>
      <p:sp>
        <p:nvSpPr>
          <p:cNvPr id="10" name="Text 7"/>
          <p:cNvSpPr/>
          <p:nvPr/>
        </p:nvSpPr>
        <p:spPr>
          <a:xfrm>
            <a:off x="2496312" y="6409944"/>
            <a:ext cx="1682496" cy="128016"/>
          </a:xfrm>
          <a:prstGeom prst="rect">
            <a:avLst/>
          </a:prstGeom>
          <a:noFill/>
          <a:ln/>
        </p:spPr>
        <p:txBody>
          <a:bodyPr wrap="square" lIns="0" tIns="0" rIns="0" bIns="0" rtlCol="0" anchor="ctr">
            <a:normAutofit/>
          </a:bodyPr>
          <a:lstStyle/>
          <a:p>
            <a:pPr algn="ctr" indent="0" marL="0">
              <a:buNone/>
            </a:pPr>
            <a:r>
              <a:rPr lang="en-US" sz="960" b="1" dirty="0">
                <a:solidFill>
                  <a:srgbClr val="FFFFFF"/>
                </a:solidFill>
              </a:rPr>
              <a:t>2 Online Q&amp;A workflow</a:t>
            </a:r>
            <a:endParaRPr lang="en-US" sz="960" dirty="0"/>
          </a:p>
        </p:txBody>
      </p:sp>
      <p:sp>
        <p:nvSpPr>
          <p:cNvPr id="11" name="Shape 8"/>
          <p:cNvSpPr/>
          <p:nvPr/>
        </p:nvSpPr>
        <p:spPr>
          <a:xfrm>
            <a:off x="4498848" y="6336792"/>
            <a:ext cx="1417320" cy="310896"/>
          </a:xfrm>
          <a:prstGeom prst="roundRect">
            <a:avLst>
              <a:gd name="adj" fmla="val 23529"/>
            </a:avLst>
          </a:prstGeom>
          <a:solidFill>
            <a:srgbClr val="374151"/>
          </a:solidFill>
          <a:ln w="12700">
            <a:solidFill>
              <a:srgbClr val="374151"/>
            </a:solidFill>
            <a:prstDash val="solid"/>
          </a:ln>
        </p:spPr>
      </p:sp>
      <p:sp>
        <p:nvSpPr>
          <p:cNvPr id="12" name="Text 9"/>
          <p:cNvSpPr/>
          <p:nvPr/>
        </p:nvSpPr>
        <p:spPr>
          <a:xfrm>
            <a:off x="4572000" y="6409944"/>
            <a:ext cx="1271016" cy="128016"/>
          </a:xfrm>
          <a:prstGeom prst="rect">
            <a:avLst/>
          </a:prstGeom>
          <a:noFill/>
          <a:ln/>
        </p:spPr>
        <p:txBody>
          <a:bodyPr wrap="square" lIns="0" tIns="0" rIns="0" bIns="0" rtlCol="0" anchor="ctr">
            <a:normAutofit/>
          </a:bodyPr>
          <a:lstStyle/>
          <a:p>
            <a:pPr algn="ctr" indent="0" marL="0">
              <a:buNone/>
            </a:pPr>
            <a:r>
              <a:rPr lang="en-US" sz="960" b="1" dirty="0">
                <a:solidFill>
                  <a:srgbClr val="FFFFFF"/>
                </a:solidFill>
              </a:rPr>
              <a:t>3 Evaluation lane</a:t>
            </a:r>
            <a:endParaRPr lang="en-US" sz="960" dirty="0"/>
          </a:p>
        </p:txBody>
      </p:sp>
      <p:sp>
        <p:nvSpPr>
          <p:cNvPr id="14" name="Text 10"/>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05</a:t>
            </a:r>
            <a:endParaRPr lang="en-US" sz="850" dirty="0"/>
          </a:p>
        </p:txBody>
      </p:sp>
      <p:sp>
        <p:nvSpPr>
          <p:cNvPr id="15" name="Text 11"/>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Data handling: fetch, clean, chunk</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572768"/>
            <a:ext cx="1508760" cy="658368"/>
          </a:xfrm>
          <a:prstGeom prst="roundRect">
            <a:avLst>
              <a:gd name="adj" fmla="val 11111"/>
            </a:avLst>
          </a:prstGeom>
          <a:solidFill>
            <a:srgbClr val="FFFFFF"/>
          </a:solidFill>
          <a:ln w="12700">
            <a:solidFill>
              <a:srgbClr val="E2E8F0"/>
            </a:solidFill>
            <a:prstDash val="solid"/>
          </a:ln>
        </p:spPr>
      </p:sp>
      <p:sp>
        <p:nvSpPr>
          <p:cNvPr id="7" name="Text 5"/>
          <p:cNvSpPr/>
          <p:nvPr/>
        </p:nvSpPr>
        <p:spPr>
          <a:xfrm>
            <a:off x="850392"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Official docs</a:t>
            </a:r>
            <a:endParaRPr lang="en-US" sz="1040" dirty="0"/>
          </a:p>
        </p:txBody>
      </p:sp>
      <p:sp>
        <p:nvSpPr>
          <p:cNvPr id="8" name="Shape 6"/>
          <p:cNvSpPr/>
          <p:nvPr/>
        </p:nvSpPr>
        <p:spPr>
          <a:xfrm>
            <a:off x="2286000" y="1901952"/>
            <a:ext cx="201168" cy="0"/>
          </a:xfrm>
          <a:prstGeom prst="line">
            <a:avLst/>
          </a:prstGeom>
          <a:noFill/>
          <a:ln w="17780">
            <a:solidFill>
              <a:srgbClr val="00827C"/>
            </a:solidFill>
            <a:prstDash val="solid"/>
            <a:tailEnd type="triangle"/>
          </a:ln>
        </p:spPr>
      </p:sp>
      <p:sp>
        <p:nvSpPr>
          <p:cNvPr id="9" name="Shape 7"/>
          <p:cNvSpPr/>
          <p:nvPr/>
        </p:nvSpPr>
        <p:spPr>
          <a:xfrm>
            <a:off x="2523744" y="1572768"/>
            <a:ext cx="1508760" cy="658368"/>
          </a:xfrm>
          <a:prstGeom prst="roundRect">
            <a:avLst>
              <a:gd name="adj" fmla="val 11111"/>
            </a:avLst>
          </a:prstGeom>
          <a:solidFill>
            <a:srgbClr val="FFFFFF"/>
          </a:solidFill>
          <a:ln w="12700">
            <a:solidFill>
              <a:srgbClr val="E2E8F0"/>
            </a:solidFill>
            <a:prstDash val="solid"/>
          </a:ln>
        </p:spPr>
      </p:sp>
      <p:sp>
        <p:nvSpPr>
          <p:cNvPr id="10" name="Text 8"/>
          <p:cNvSpPr/>
          <p:nvPr/>
        </p:nvSpPr>
        <p:spPr>
          <a:xfrm>
            <a:off x="2596896"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HTML fetch</a:t>
            </a:r>
            <a:endParaRPr lang="en-US" sz="1040" dirty="0"/>
          </a:p>
        </p:txBody>
      </p:sp>
      <p:sp>
        <p:nvSpPr>
          <p:cNvPr id="11" name="Shape 9"/>
          <p:cNvSpPr/>
          <p:nvPr/>
        </p:nvSpPr>
        <p:spPr>
          <a:xfrm>
            <a:off x="4032504" y="1901952"/>
            <a:ext cx="201168" cy="0"/>
          </a:xfrm>
          <a:prstGeom prst="line">
            <a:avLst/>
          </a:prstGeom>
          <a:noFill/>
          <a:ln w="17780">
            <a:solidFill>
              <a:srgbClr val="00827C"/>
            </a:solidFill>
            <a:prstDash val="solid"/>
            <a:tailEnd type="triangle"/>
          </a:ln>
        </p:spPr>
      </p:sp>
      <p:sp>
        <p:nvSpPr>
          <p:cNvPr id="12" name="Shape 10"/>
          <p:cNvSpPr/>
          <p:nvPr/>
        </p:nvSpPr>
        <p:spPr>
          <a:xfrm>
            <a:off x="4270248" y="1572768"/>
            <a:ext cx="1508760" cy="658368"/>
          </a:xfrm>
          <a:prstGeom prst="roundRect">
            <a:avLst>
              <a:gd name="adj" fmla="val 11111"/>
            </a:avLst>
          </a:prstGeom>
          <a:solidFill>
            <a:srgbClr val="FFFFFF"/>
          </a:solidFill>
          <a:ln w="12700">
            <a:solidFill>
              <a:srgbClr val="E2E8F0"/>
            </a:solidFill>
            <a:prstDash val="solid"/>
          </a:ln>
        </p:spPr>
      </p:sp>
      <p:sp>
        <p:nvSpPr>
          <p:cNvPr id="13" name="Text 11"/>
          <p:cNvSpPr/>
          <p:nvPr/>
        </p:nvSpPr>
        <p:spPr>
          <a:xfrm>
            <a:off x="4343400"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Clean text</a:t>
            </a:r>
            <a:endParaRPr lang="en-US" sz="1040" dirty="0"/>
          </a:p>
        </p:txBody>
      </p:sp>
      <p:sp>
        <p:nvSpPr>
          <p:cNvPr id="14" name="Shape 12"/>
          <p:cNvSpPr/>
          <p:nvPr/>
        </p:nvSpPr>
        <p:spPr>
          <a:xfrm>
            <a:off x="5779008" y="1901952"/>
            <a:ext cx="201168" cy="0"/>
          </a:xfrm>
          <a:prstGeom prst="line">
            <a:avLst/>
          </a:prstGeom>
          <a:noFill/>
          <a:ln w="17780">
            <a:solidFill>
              <a:srgbClr val="00827C"/>
            </a:solidFill>
            <a:prstDash val="solid"/>
            <a:tailEnd type="triangle"/>
          </a:ln>
        </p:spPr>
      </p:sp>
      <p:sp>
        <p:nvSpPr>
          <p:cNvPr id="15" name="Shape 13"/>
          <p:cNvSpPr/>
          <p:nvPr/>
        </p:nvSpPr>
        <p:spPr>
          <a:xfrm>
            <a:off x="6016752" y="1572768"/>
            <a:ext cx="1508760" cy="658368"/>
          </a:xfrm>
          <a:prstGeom prst="roundRect">
            <a:avLst>
              <a:gd name="adj" fmla="val 11111"/>
            </a:avLst>
          </a:prstGeom>
          <a:solidFill>
            <a:srgbClr val="E7F8F6"/>
          </a:solidFill>
          <a:ln w="12700">
            <a:solidFill>
              <a:srgbClr val="E2E8F0"/>
            </a:solidFill>
            <a:prstDash val="solid"/>
          </a:ln>
        </p:spPr>
      </p:sp>
      <p:sp>
        <p:nvSpPr>
          <p:cNvPr id="16" name="Text 14"/>
          <p:cNvSpPr/>
          <p:nvPr/>
        </p:nvSpPr>
        <p:spPr>
          <a:xfrm>
            <a:off x="6089904"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Chunking</a:t>
            </a:r>
            <a:endParaRPr lang="en-US" sz="1040" dirty="0"/>
          </a:p>
        </p:txBody>
      </p:sp>
      <p:sp>
        <p:nvSpPr>
          <p:cNvPr id="17" name="Shape 15"/>
          <p:cNvSpPr/>
          <p:nvPr/>
        </p:nvSpPr>
        <p:spPr>
          <a:xfrm>
            <a:off x="7525512" y="1901952"/>
            <a:ext cx="201168" cy="0"/>
          </a:xfrm>
          <a:prstGeom prst="line">
            <a:avLst/>
          </a:prstGeom>
          <a:noFill/>
          <a:ln w="17780">
            <a:solidFill>
              <a:srgbClr val="00827C"/>
            </a:solidFill>
            <a:prstDash val="solid"/>
            <a:tailEnd type="triangle"/>
          </a:ln>
        </p:spPr>
      </p:sp>
      <p:sp>
        <p:nvSpPr>
          <p:cNvPr id="18" name="Shape 16"/>
          <p:cNvSpPr/>
          <p:nvPr/>
        </p:nvSpPr>
        <p:spPr>
          <a:xfrm>
            <a:off x="7763256" y="1572768"/>
            <a:ext cx="1508760" cy="658368"/>
          </a:xfrm>
          <a:prstGeom prst="roundRect">
            <a:avLst>
              <a:gd name="adj" fmla="val 11111"/>
            </a:avLst>
          </a:prstGeom>
          <a:solidFill>
            <a:srgbClr val="FFFFFF"/>
          </a:solidFill>
          <a:ln w="12700">
            <a:solidFill>
              <a:srgbClr val="00827C"/>
            </a:solidFill>
            <a:prstDash val="solid"/>
          </a:ln>
        </p:spPr>
      </p:sp>
      <p:sp>
        <p:nvSpPr>
          <p:cNvPr id="19" name="Text 17"/>
          <p:cNvSpPr/>
          <p:nvPr/>
        </p:nvSpPr>
        <p:spPr>
          <a:xfrm>
            <a:off x="7836408"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Metadata</a:t>
            </a:r>
            <a:endParaRPr lang="en-US" sz="1040" dirty="0"/>
          </a:p>
        </p:txBody>
      </p:sp>
      <p:sp>
        <p:nvSpPr>
          <p:cNvPr id="20" name="Shape 18"/>
          <p:cNvSpPr/>
          <p:nvPr/>
        </p:nvSpPr>
        <p:spPr>
          <a:xfrm>
            <a:off x="868680" y="2834640"/>
            <a:ext cx="3246120" cy="2103120"/>
          </a:xfrm>
          <a:prstGeom prst="roundRect">
            <a:avLst>
              <a:gd name="adj" fmla="val 3478"/>
            </a:avLst>
          </a:prstGeom>
          <a:solidFill>
            <a:srgbClr val="FFFFFF"/>
          </a:solidFill>
          <a:ln w="12700">
            <a:solidFill>
              <a:srgbClr val="D6E4F2"/>
            </a:solidFill>
            <a:prstDash val="solid"/>
          </a:ln>
        </p:spPr>
      </p:sp>
      <p:sp>
        <p:nvSpPr>
          <p:cNvPr id="21" name="Text 19"/>
          <p:cNvSpPr/>
          <p:nvPr/>
        </p:nvSpPr>
        <p:spPr>
          <a:xfrm>
            <a:off x="1115568" y="3127248"/>
            <a:ext cx="914400" cy="219456"/>
          </a:xfrm>
          <a:prstGeom prst="rect">
            <a:avLst/>
          </a:prstGeom>
          <a:noFill/>
          <a:ln/>
        </p:spPr>
        <p:txBody>
          <a:bodyPr wrap="square" lIns="0" tIns="0" rIns="0" bIns="0" rtlCol="0" anchor="ctr"/>
          <a:lstStyle/>
          <a:p>
            <a:pPr indent="0" marL="0">
              <a:buNone/>
            </a:pPr>
            <a:r>
              <a:rPr lang="en-US" sz="1800" b="1" dirty="0">
                <a:solidFill>
                  <a:srgbClr val="07163F"/>
                </a:solidFill>
              </a:rPr>
              <a:t>Fetch</a:t>
            </a:r>
            <a:endParaRPr lang="en-US" sz="1800" dirty="0"/>
          </a:p>
        </p:txBody>
      </p:sp>
      <p:sp>
        <p:nvSpPr>
          <p:cNvPr id="22" name="Shape 20"/>
          <p:cNvSpPr/>
          <p:nvPr/>
        </p:nvSpPr>
        <p:spPr>
          <a:xfrm>
            <a:off x="1115568" y="3630168"/>
            <a:ext cx="77724" cy="77724"/>
          </a:xfrm>
          <a:prstGeom prst="ellipse">
            <a:avLst/>
          </a:prstGeom>
          <a:solidFill>
            <a:srgbClr val="00827C"/>
          </a:solidFill>
          <a:ln w="12700">
            <a:solidFill>
              <a:srgbClr val="00827C"/>
            </a:solidFill>
            <a:prstDash val="solid"/>
          </a:ln>
        </p:spPr>
      </p:sp>
      <p:sp>
        <p:nvSpPr>
          <p:cNvPr id="23" name="Text 21"/>
          <p:cNvSpPr/>
          <p:nvPr/>
        </p:nvSpPr>
        <p:spPr>
          <a:xfrm>
            <a:off x="1289304" y="3547872"/>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Pulls pages from official PostgreSQL 16 documentation</a:t>
            </a:r>
            <a:endParaRPr lang="en-US" sz="1350" dirty="0"/>
          </a:p>
        </p:txBody>
      </p:sp>
      <p:sp>
        <p:nvSpPr>
          <p:cNvPr id="24" name="Shape 22"/>
          <p:cNvSpPr/>
          <p:nvPr/>
        </p:nvSpPr>
        <p:spPr>
          <a:xfrm>
            <a:off x="1115568" y="4041648"/>
            <a:ext cx="77724" cy="77724"/>
          </a:xfrm>
          <a:prstGeom prst="ellipse">
            <a:avLst/>
          </a:prstGeom>
          <a:solidFill>
            <a:srgbClr val="00827C"/>
          </a:solidFill>
          <a:ln w="12700">
            <a:solidFill>
              <a:srgbClr val="00827C"/>
            </a:solidFill>
            <a:prstDash val="solid"/>
          </a:ln>
        </p:spPr>
      </p:sp>
      <p:sp>
        <p:nvSpPr>
          <p:cNvPr id="25" name="Text 23"/>
          <p:cNvSpPr/>
          <p:nvPr/>
        </p:nvSpPr>
        <p:spPr>
          <a:xfrm>
            <a:off x="1289304" y="3959352"/>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Keeps stable source IDs for citation tracking</a:t>
            </a:r>
            <a:endParaRPr lang="en-US" sz="1350" dirty="0"/>
          </a:p>
        </p:txBody>
      </p:sp>
      <p:sp>
        <p:nvSpPr>
          <p:cNvPr id="26" name="Shape 24"/>
          <p:cNvSpPr/>
          <p:nvPr/>
        </p:nvSpPr>
        <p:spPr>
          <a:xfrm>
            <a:off x="4462272" y="2834640"/>
            <a:ext cx="3246120" cy="2103120"/>
          </a:xfrm>
          <a:prstGeom prst="roundRect">
            <a:avLst>
              <a:gd name="adj" fmla="val 3478"/>
            </a:avLst>
          </a:prstGeom>
          <a:solidFill>
            <a:srgbClr val="FFFFFF"/>
          </a:solidFill>
          <a:ln w="12700">
            <a:solidFill>
              <a:srgbClr val="D6E4F2"/>
            </a:solidFill>
            <a:prstDash val="solid"/>
          </a:ln>
        </p:spPr>
      </p:sp>
      <p:sp>
        <p:nvSpPr>
          <p:cNvPr id="27" name="Text 25"/>
          <p:cNvSpPr/>
          <p:nvPr/>
        </p:nvSpPr>
        <p:spPr>
          <a:xfrm>
            <a:off x="4709160" y="3127248"/>
            <a:ext cx="914400" cy="219456"/>
          </a:xfrm>
          <a:prstGeom prst="rect">
            <a:avLst/>
          </a:prstGeom>
          <a:noFill/>
          <a:ln/>
        </p:spPr>
        <p:txBody>
          <a:bodyPr wrap="square" lIns="0" tIns="0" rIns="0" bIns="0" rtlCol="0" anchor="ctr"/>
          <a:lstStyle/>
          <a:p>
            <a:pPr indent="0" marL="0">
              <a:buNone/>
            </a:pPr>
            <a:r>
              <a:rPr lang="en-US" sz="1800" b="1" dirty="0">
                <a:solidFill>
                  <a:srgbClr val="07163F"/>
                </a:solidFill>
              </a:rPr>
              <a:t>Clean</a:t>
            </a:r>
            <a:endParaRPr lang="en-US" sz="1800" dirty="0"/>
          </a:p>
        </p:txBody>
      </p:sp>
      <p:sp>
        <p:nvSpPr>
          <p:cNvPr id="28" name="Shape 26"/>
          <p:cNvSpPr/>
          <p:nvPr/>
        </p:nvSpPr>
        <p:spPr>
          <a:xfrm>
            <a:off x="4709160" y="3630168"/>
            <a:ext cx="77724" cy="77724"/>
          </a:xfrm>
          <a:prstGeom prst="ellipse">
            <a:avLst/>
          </a:prstGeom>
          <a:solidFill>
            <a:srgbClr val="00827C"/>
          </a:solidFill>
          <a:ln w="12700">
            <a:solidFill>
              <a:srgbClr val="00827C"/>
            </a:solidFill>
            <a:prstDash val="solid"/>
          </a:ln>
        </p:spPr>
      </p:sp>
      <p:sp>
        <p:nvSpPr>
          <p:cNvPr id="29" name="Text 27"/>
          <p:cNvSpPr/>
          <p:nvPr/>
        </p:nvSpPr>
        <p:spPr>
          <a:xfrm>
            <a:off x="4882896" y="3547872"/>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Removes noisy HTML with BeautifulSoup</a:t>
            </a:r>
            <a:endParaRPr lang="en-US" sz="1350" dirty="0"/>
          </a:p>
        </p:txBody>
      </p:sp>
      <p:sp>
        <p:nvSpPr>
          <p:cNvPr id="30" name="Shape 28"/>
          <p:cNvSpPr/>
          <p:nvPr/>
        </p:nvSpPr>
        <p:spPr>
          <a:xfrm>
            <a:off x="4709160" y="4041648"/>
            <a:ext cx="77724" cy="77724"/>
          </a:xfrm>
          <a:prstGeom prst="ellipse">
            <a:avLst/>
          </a:prstGeom>
          <a:solidFill>
            <a:srgbClr val="00827C"/>
          </a:solidFill>
          <a:ln w="12700">
            <a:solidFill>
              <a:srgbClr val="00827C"/>
            </a:solidFill>
            <a:prstDash val="solid"/>
          </a:ln>
        </p:spPr>
      </p:sp>
      <p:sp>
        <p:nvSpPr>
          <p:cNvPr id="31" name="Text 29"/>
          <p:cNvSpPr/>
          <p:nvPr/>
        </p:nvSpPr>
        <p:spPr>
          <a:xfrm>
            <a:off x="4882896" y="3959352"/>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Keeps text useful for retrieval and prompt assembly</a:t>
            </a:r>
            <a:endParaRPr lang="en-US" sz="1350" dirty="0"/>
          </a:p>
        </p:txBody>
      </p:sp>
      <p:sp>
        <p:nvSpPr>
          <p:cNvPr id="32" name="Shape 30"/>
          <p:cNvSpPr/>
          <p:nvPr/>
        </p:nvSpPr>
        <p:spPr>
          <a:xfrm>
            <a:off x="8046720" y="2834640"/>
            <a:ext cx="3246120" cy="2103120"/>
          </a:xfrm>
          <a:prstGeom prst="roundRect">
            <a:avLst>
              <a:gd name="adj" fmla="val 3478"/>
            </a:avLst>
          </a:prstGeom>
          <a:solidFill>
            <a:srgbClr val="E7F8F6"/>
          </a:solidFill>
          <a:ln w="12700">
            <a:solidFill>
              <a:srgbClr val="A7F3D0"/>
            </a:solidFill>
            <a:prstDash val="solid"/>
          </a:ln>
        </p:spPr>
      </p:sp>
      <p:sp>
        <p:nvSpPr>
          <p:cNvPr id="33" name="Text 31"/>
          <p:cNvSpPr/>
          <p:nvPr/>
        </p:nvSpPr>
        <p:spPr>
          <a:xfrm>
            <a:off x="8293608" y="3127248"/>
            <a:ext cx="1005840" cy="219456"/>
          </a:xfrm>
          <a:prstGeom prst="rect">
            <a:avLst/>
          </a:prstGeom>
          <a:noFill/>
          <a:ln/>
        </p:spPr>
        <p:txBody>
          <a:bodyPr wrap="square" lIns="0" tIns="0" rIns="0" bIns="0" rtlCol="0" anchor="ctr"/>
          <a:lstStyle/>
          <a:p>
            <a:pPr indent="0" marL="0">
              <a:buNone/>
            </a:pPr>
            <a:r>
              <a:rPr lang="en-US" sz="1800" b="1" dirty="0">
                <a:solidFill>
                  <a:srgbClr val="07163F"/>
                </a:solidFill>
              </a:rPr>
              <a:t>Chunk</a:t>
            </a:r>
            <a:endParaRPr lang="en-US" sz="1800" dirty="0"/>
          </a:p>
        </p:txBody>
      </p:sp>
      <p:sp>
        <p:nvSpPr>
          <p:cNvPr id="34" name="Shape 32"/>
          <p:cNvSpPr/>
          <p:nvPr/>
        </p:nvSpPr>
        <p:spPr>
          <a:xfrm>
            <a:off x="8293608" y="3630168"/>
            <a:ext cx="77724" cy="77724"/>
          </a:xfrm>
          <a:prstGeom prst="ellipse">
            <a:avLst/>
          </a:prstGeom>
          <a:solidFill>
            <a:srgbClr val="00827C"/>
          </a:solidFill>
          <a:ln w="12700">
            <a:solidFill>
              <a:srgbClr val="00827C"/>
            </a:solidFill>
            <a:prstDash val="solid"/>
          </a:ln>
        </p:spPr>
      </p:sp>
      <p:sp>
        <p:nvSpPr>
          <p:cNvPr id="35" name="Text 33"/>
          <p:cNvSpPr/>
          <p:nvPr/>
        </p:nvSpPr>
        <p:spPr>
          <a:xfrm>
            <a:off x="8467344" y="3547872"/>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Default: 400 words, 80 overlap</a:t>
            </a:r>
            <a:endParaRPr lang="en-US" sz="1350" dirty="0"/>
          </a:p>
        </p:txBody>
      </p:sp>
      <p:sp>
        <p:nvSpPr>
          <p:cNvPr id="36" name="Shape 34"/>
          <p:cNvSpPr/>
          <p:nvPr/>
        </p:nvSpPr>
        <p:spPr>
          <a:xfrm>
            <a:off x="8293608" y="4041648"/>
            <a:ext cx="77724" cy="77724"/>
          </a:xfrm>
          <a:prstGeom prst="ellipse">
            <a:avLst/>
          </a:prstGeom>
          <a:solidFill>
            <a:srgbClr val="00827C"/>
          </a:solidFill>
          <a:ln w="12700">
            <a:solidFill>
              <a:srgbClr val="00827C"/>
            </a:solidFill>
            <a:prstDash val="solid"/>
          </a:ln>
        </p:spPr>
      </p:sp>
      <p:sp>
        <p:nvSpPr>
          <p:cNvPr id="37" name="Text 35"/>
          <p:cNvSpPr/>
          <p:nvPr/>
        </p:nvSpPr>
        <p:spPr>
          <a:xfrm>
            <a:off x="8467344" y="3959352"/>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Balances enough context with focused retrieval</a:t>
            </a:r>
            <a:endParaRPr lang="en-US" sz="1350" dirty="0"/>
          </a:p>
        </p:txBody>
      </p:sp>
      <p:sp>
        <p:nvSpPr>
          <p:cNvPr id="38" name="Shape 36"/>
          <p:cNvSpPr/>
          <p:nvPr/>
        </p:nvSpPr>
        <p:spPr>
          <a:xfrm>
            <a:off x="1965960" y="5532120"/>
            <a:ext cx="8321040" cy="438912"/>
          </a:xfrm>
          <a:prstGeom prst="roundRect">
            <a:avLst>
              <a:gd name="adj" fmla="val 16667"/>
            </a:avLst>
          </a:prstGeom>
          <a:solidFill>
            <a:srgbClr val="FFFFFF"/>
          </a:solidFill>
          <a:ln w="12700">
            <a:solidFill>
              <a:srgbClr val="CFE1F0"/>
            </a:solidFill>
            <a:prstDash val="solid"/>
          </a:ln>
        </p:spPr>
      </p:sp>
      <p:sp>
        <p:nvSpPr>
          <p:cNvPr id="39" name="Text 37"/>
          <p:cNvSpPr/>
          <p:nvPr/>
        </p:nvSpPr>
        <p:spPr>
          <a:xfrm>
            <a:off x="2240280" y="5669280"/>
            <a:ext cx="7772400" cy="128016"/>
          </a:xfrm>
          <a:prstGeom prst="rect">
            <a:avLst/>
          </a:prstGeom>
          <a:noFill/>
          <a:ln/>
        </p:spPr>
        <p:txBody>
          <a:bodyPr wrap="square" lIns="0" tIns="0" rIns="0" bIns="0" rtlCol="0" anchor="ctr">
            <a:normAutofit/>
          </a:bodyPr>
          <a:lstStyle/>
          <a:p>
            <a:pPr algn="ctr" indent="0" marL="0">
              <a:buNone/>
            </a:pPr>
            <a:r>
              <a:rPr lang="en-US" sz="1250" b="1" dirty="0">
                <a:solidFill>
                  <a:srgbClr val="00827C"/>
                </a:solidFill>
              </a:rPr>
              <a:t>Design choice: preserve source metadata early so retrieval, citations, and evaluation all use the same source IDs.</a:t>
            </a:r>
            <a:endParaRPr lang="en-US" sz="1250" dirty="0"/>
          </a:p>
        </p:txBody>
      </p:sp>
      <p:sp>
        <p:nvSpPr>
          <p:cNvPr id="41" name="Text 38"/>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06</a:t>
            </a:r>
            <a:endParaRPr lang="en-US" sz="850" dirty="0"/>
          </a:p>
        </p:txBody>
      </p:sp>
      <p:sp>
        <p:nvSpPr>
          <p:cNvPr id="42" name="Text 39"/>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Embedding and retrieval strategy: dense + BM25 hybrid</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490472"/>
            <a:ext cx="3337560" cy="4343400"/>
          </a:xfrm>
          <a:prstGeom prst="roundRect">
            <a:avLst>
              <a:gd name="adj" fmla="val 2192"/>
            </a:avLst>
          </a:prstGeom>
          <a:solidFill>
            <a:srgbClr val="FFFFFF"/>
          </a:solidFill>
          <a:ln w="12700">
            <a:solidFill>
              <a:srgbClr val="D6E4F2"/>
            </a:solidFill>
            <a:prstDash val="solid"/>
          </a:ln>
        </p:spPr>
      </p:sp>
      <p:sp>
        <p:nvSpPr>
          <p:cNvPr id="7" name="Text 5"/>
          <p:cNvSpPr/>
          <p:nvPr/>
        </p:nvSpPr>
        <p:spPr>
          <a:xfrm>
            <a:off x="1051560" y="1792224"/>
            <a:ext cx="2103120" cy="237744"/>
          </a:xfrm>
          <a:prstGeom prst="rect">
            <a:avLst/>
          </a:prstGeom>
          <a:noFill/>
          <a:ln/>
        </p:spPr>
        <p:txBody>
          <a:bodyPr wrap="square" lIns="0" tIns="0" rIns="0" bIns="0" rtlCol="0" anchor="ctr"/>
          <a:lstStyle/>
          <a:p>
            <a:pPr indent="0" marL="0">
              <a:buNone/>
            </a:pPr>
            <a:r>
              <a:rPr lang="en-US" sz="1800" b="1" dirty="0">
                <a:solidFill>
                  <a:srgbClr val="175DAD"/>
                </a:solidFill>
              </a:rPr>
              <a:t>Dense retrieval</a:t>
            </a:r>
            <a:endParaRPr lang="en-US" sz="1800" dirty="0"/>
          </a:p>
        </p:txBody>
      </p:sp>
      <p:sp>
        <p:nvSpPr>
          <p:cNvPr id="8" name="Shape 6"/>
          <p:cNvSpPr/>
          <p:nvPr/>
        </p:nvSpPr>
        <p:spPr>
          <a:xfrm>
            <a:off x="1051560" y="2322576"/>
            <a:ext cx="77724" cy="77724"/>
          </a:xfrm>
          <a:prstGeom prst="ellipse">
            <a:avLst/>
          </a:prstGeom>
          <a:solidFill>
            <a:srgbClr val="175DAD"/>
          </a:solidFill>
          <a:ln w="12700">
            <a:solidFill>
              <a:srgbClr val="175DAD"/>
            </a:solidFill>
            <a:prstDash val="solid"/>
          </a:ln>
        </p:spPr>
      </p:sp>
      <p:sp>
        <p:nvSpPr>
          <p:cNvPr id="9" name="Text 7"/>
          <p:cNvSpPr/>
          <p:nvPr/>
        </p:nvSpPr>
        <p:spPr>
          <a:xfrm>
            <a:off x="1225296" y="2240280"/>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FAISS index over normalized sentence-transformer embeddings</a:t>
            </a:r>
            <a:endParaRPr lang="en-US" sz="1350" dirty="0"/>
          </a:p>
        </p:txBody>
      </p:sp>
      <p:sp>
        <p:nvSpPr>
          <p:cNvPr id="10" name="Shape 8"/>
          <p:cNvSpPr/>
          <p:nvPr/>
        </p:nvSpPr>
        <p:spPr>
          <a:xfrm>
            <a:off x="1051560" y="2761488"/>
            <a:ext cx="77724" cy="77724"/>
          </a:xfrm>
          <a:prstGeom prst="ellipse">
            <a:avLst/>
          </a:prstGeom>
          <a:solidFill>
            <a:srgbClr val="175DAD"/>
          </a:solidFill>
          <a:ln w="12700">
            <a:solidFill>
              <a:srgbClr val="175DAD"/>
            </a:solidFill>
            <a:prstDash val="solid"/>
          </a:ln>
        </p:spPr>
      </p:sp>
      <p:sp>
        <p:nvSpPr>
          <p:cNvPr id="11" name="Text 9"/>
          <p:cNvSpPr/>
          <p:nvPr/>
        </p:nvSpPr>
        <p:spPr>
          <a:xfrm>
            <a:off x="1225296" y="2679192"/>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Strong for semantic similarity and paraphrases</a:t>
            </a:r>
            <a:endParaRPr lang="en-US" sz="1350" dirty="0"/>
          </a:p>
        </p:txBody>
      </p:sp>
      <p:sp>
        <p:nvSpPr>
          <p:cNvPr id="12" name="Shape 10"/>
          <p:cNvSpPr/>
          <p:nvPr/>
        </p:nvSpPr>
        <p:spPr>
          <a:xfrm>
            <a:off x="1051560" y="3200400"/>
            <a:ext cx="77724" cy="77724"/>
          </a:xfrm>
          <a:prstGeom prst="ellipse">
            <a:avLst/>
          </a:prstGeom>
          <a:solidFill>
            <a:srgbClr val="175DAD"/>
          </a:solidFill>
          <a:ln w="12700">
            <a:solidFill>
              <a:srgbClr val="175DAD"/>
            </a:solidFill>
            <a:prstDash val="solid"/>
          </a:ln>
        </p:spPr>
      </p:sp>
      <p:sp>
        <p:nvSpPr>
          <p:cNvPr id="13" name="Text 11"/>
          <p:cNvSpPr/>
          <p:nvPr/>
        </p:nvSpPr>
        <p:spPr>
          <a:xfrm>
            <a:off x="1225296" y="3118104"/>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Weakness: may miss exact technical terms</a:t>
            </a:r>
            <a:endParaRPr lang="en-US" sz="1350" dirty="0"/>
          </a:p>
        </p:txBody>
      </p:sp>
      <p:sp>
        <p:nvSpPr>
          <p:cNvPr id="14" name="Shape 12"/>
          <p:cNvSpPr/>
          <p:nvPr/>
        </p:nvSpPr>
        <p:spPr>
          <a:xfrm>
            <a:off x="4434840" y="1490472"/>
            <a:ext cx="3337560" cy="4343400"/>
          </a:xfrm>
          <a:prstGeom prst="roundRect">
            <a:avLst>
              <a:gd name="adj" fmla="val 2192"/>
            </a:avLst>
          </a:prstGeom>
          <a:solidFill>
            <a:srgbClr val="FFFFFF"/>
          </a:solidFill>
          <a:ln w="12700">
            <a:solidFill>
              <a:srgbClr val="D6E4F2"/>
            </a:solidFill>
            <a:prstDash val="solid"/>
          </a:ln>
        </p:spPr>
      </p:sp>
      <p:sp>
        <p:nvSpPr>
          <p:cNvPr id="15" name="Text 13"/>
          <p:cNvSpPr/>
          <p:nvPr/>
        </p:nvSpPr>
        <p:spPr>
          <a:xfrm>
            <a:off x="4709160" y="1792224"/>
            <a:ext cx="2103120" cy="237744"/>
          </a:xfrm>
          <a:prstGeom prst="rect">
            <a:avLst/>
          </a:prstGeom>
          <a:noFill/>
          <a:ln/>
        </p:spPr>
        <p:txBody>
          <a:bodyPr wrap="square" lIns="0" tIns="0" rIns="0" bIns="0" rtlCol="0" anchor="ctr"/>
          <a:lstStyle/>
          <a:p>
            <a:pPr indent="0" marL="0">
              <a:buNone/>
            </a:pPr>
            <a:r>
              <a:rPr lang="en-US" sz="1800" b="1" dirty="0">
                <a:solidFill>
                  <a:srgbClr val="E68A00"/>
                </a:solidFill>
              </a:rPr>
              <a:t>BM25 retrieval</a:t>
            </a:r>
            <a:endParaRPr lang="en-US" sz="1800" dirty="0"/>
          </a:p>
        </p:txBody>
      </p:sp>
      <p:sp>
        <p:nvSpPr>
          <p:cNvPr id="16" name="Shape 14"/>
          <p:cNvSpPr/>
          <p:nvPr/>
        </p:nvSpPr>
        <p:spPr>
          <a:xfrm>
            <a:off x="4709160" y="2322576"/>
            <a:ext cx="77724" cy="77724"/>
          </a:xfrm>
          <a:prstGeom prst="ellipse">
            <a:avLst/>
          </a:prstGeom>
          <a:solidFill>
            <a:srgbClr val="E68A00"/>
          </a:solidFill>
          <a:ln w="12700">
            <a:solidFill>
              <a:srgbClr val="E68A00"/>
            </a:solidFill>
            <a:prstDash val="solid"/>
          </a:ln>
        </p:spPr>
      </p:sp>
      <p:sp>
        <p:nvSpPr>
          <p:cNvPr id="17" name="Text 15"/>
          <p:cNvSpPr/>
          <p:nvPr/>
        </p:nvSpPr>
        <p:spPr>
          <a:xfrm>
            <a:off x="4882896" y="2240280"/>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Keyword-based lexical matching</a:t>
            </a:r>
            <a:endParaRPr lang="en-US" sz="1350" dirty="0"/>
          </a:p>
        </p:txBody>
      </p:sp>
      <p:sp>
        <p:nvSpPr>
          <p:cNvPr id="18" name="Shape 16"/>
          <p:cNvSpPr/>
          <p:nvPr/>
        </p:nvSpPr>
        <p:spPr>
          <a:xfrm>
            <a:off x="4709160" y="2761488"/>
            <a:ext cx="77724" cy="77724"/>
          </a:xfrm>
          <a:prstGeom prst="ellipse">
            <a:avLst/>
          </a:prstGeom>
          <a:solidFill>
            <a:srgbClr val="E68A00"/>
          </a:solidFill>
          <a:ln w="12700">
            <a:solidFill>
              <a:srgbClr val="E68A00"/>
            </a:solidFill>
            <a:prstDash val="solid"/>
          </a:ln>
        </p:spPr>
      </p:sp>
      <p:sp>
        <p:nvSpPr>
          <p:cNvPr id="19" name="Text 17"/>
          <p:cNvSpPr/>
          <p:nvPr/>
        </p:nvSpPr>
        <p:spPr>
          <a:xfrm>
            <a:off x="4882896" y="2679192"/>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Strong for exact terms like VACUUM, GIN, MVCC</a:t>
            </a:r>
            <a:endParaRPr lang="en-US" sz="1350" dirty="0"/>
          </a:p>
        </p:txBody>
      </p:sp>
      <p:sp>
        <p:nvSpPr>
          <p:cNvPr id="20" name="Shape 18"/>
          <p:cNvSpPr/>
          <p:nvPr/>
        </p:nvSpPr>
        <p:spPr>
          <a:xfrm>
            <a:off x="4709160" y="3200400"/>
            <a:ext cx="77724" cy="77724"/>
          </a:xfrm>
          <a:prstGeom prst="ellipse">
            <a:avLst/>
          </a:prstGeom>
          <a:solidFill>
            <a:srgbClr val="E68A00"/>
          </a:solidFill>
          <a:ln w="12700">
            <a:solidFill>
              <a:srgbClr val="E68A00"/>
            </a:solidFill>
            <a:prstDash val="solid"/>
          </a:ln>
        </p:spPr>
      </p:sp>
      <p:sp>
        <p:nvSpPr>
          <p:cNvPr id="21" name="Text 19"/>
          <p:cNvSpPr/>
          <p:nvPr/>
        </p:nvSpPr>
        <p:spPr>
          <a:xfrm>
            <a:off x="4882896" y="3118104"/>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Weakness: less semantic understanding</a:t>
            </a:r>
            <a:endParaRPr lang="en-US" sz="1350" dirty="0"/>
          </a:p>
        </p:txBody>
      </p:sp>
      <p:sp>
        <p:nvSpPr>
          <p:cNvPr id="22" name="Shape 20"/>
          <p:cNvSpPr/>
          <p:nvPr/>
        </p:nvSpPr>
        <p:spPr>
          <a:xfrm>
            <a:off x="8092440" y="1490472"/>
            <a:ext cx="3337560" cy="4343400"/>
          </a:xfrm>
          <a:prstGeom prst="roundRect">
            <a:avLst>
              <a:gd name="adj" fmla="val 2192"/>
            </a:avLst>
          </a:prstGeom>
          <a:solidFill>
            <a:srgbClr val="E7F8F6"/>
          </a:solidFill>
          <a:ln w="12700">
            <a:solidFill>
              <a:srgbClr val="A7F3D0"/>
            </a:solidFill>
            <a:prstDash val="solid"/>
          </a:ln>
        </p:spPr>
      </p:sp>
      <p:sp>
        <p:nvSpPr>
          <p:cNvPr id="23" name="Text 21"/>
          <p:cNvSpPr/>
          <p:nvPr/>
        </p:nvSpPr>
        <p:spPr>
          <a:xfrm>
            <a:off x="8366760" y="1792224"/>
            <a:ext cx="2103120" cy="237744"/>
          </a:xfrm>
          <a:prstGeom prst="rect">
            <a:avLst/>
          </a:prstGeom>
          <a:noFill/>
          <a:ln/>
        </p:spPr>
        <p:txBody>
          <a:bodyPr wrap="square" lIns="0" tIns="0" rIns="0" bIns="0" rtlCol="0" anchor="ctr"/>
          <a:lstStyle/>
          <a:p>
            <a:pPr indent="0" marL="0">
              <a:buNone/>
            </a:pPr>
            <a:r>
              <a:rPr lang="en-US" sz="1800" b="1" dirty="0">
                <a:solidFill>
                  <a:srgbClr val="00827C"/>
                </a:solidFill>
              </a:rPr>
              <a:t>Hybrid default</a:t>
            </a:r>
            <a:endParaRPr lang="en-US" sz="1800" dirty="0"/>
          </a:p>
        </p:txBody>
      </p:sp>
      <p:sp>
        <p:nvSpPr>
          <p:cNvPr id="24" name="Shape 22"/>
          <p:cNvSpPr/>
          <p:nvPr/>
        </p:nvSpPr>
        <p:spPr>
          <a:xfrm>
            <a:off x="8366760" y="2322576"/>
            <a:ext cx="77724" cy="77724"/>
          </a:xfrm>
          <a:prstGeom prst="ellipse">
            <a:avLst/>
          </a:prstGeom>
          <a:solidFill>
            <a:srgbClr val="00827C"/>
          </a:solidFill>
          <a:ln w="12700">
            <a:solidFill>
              <a:srgbClr val="00827C"/>
            </a:solidFill>
            <a:prstDash val="solid"/>
          </a:ln>
        </p:spPr>
      </p:sp>
      <p:sp>
        <p:nvSpPr>
          <p:cNvPr id="25" name="Text 23"/>
          <p:cNvSpPr/>
          <p:nvPr/>
        </p:nvSpPr>
        <p:spPr>
          <a:xfrm>
            <a:off x="8540496" y="2240280"/>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Combines semantic and exact-term signals</a:t>
            </a:r>
            <a:endParaRPr lang="en-US" sz="1350" dirty="0"/>
          </a:p>
        </p:txBody>
      </p:sp>
      <p:sp>
        <p:nvSpPr>
          <p:cNvPr id="26" name="Shape 24"/>
          <p:cNvSpPr/>
          <p:nvPr/>
        </p:nvSpPr>
        <p:spPr>
          <a:xfrm>
            <a:off x="8366760" y="2761488"/>
            <a:ext cx="77724" cy="77724"/>
          </a:xfrm>
          <a:prstGeom prst="ellipse">
            <a:avLst/>
          </a:prstGeom>
          <a:solidFill>
            <a:srgbClr val="00827C"/>
          </a:solidFill>
          <a:ln w="12700">
            <a:solidFill>
              <a:srgbClr val="00827C"/>
            </a:solidFill>
            <a:prstDash val="solid"/>
          </a:ln>
        </p:spPr>
      </p:sp>
      <p:sp>
        <p:nvSpPr>
          <p:cNvPr id="27" name="Text 25"/>
          <p:cNvSpPr/>
          <p:nvPr/>
        </p:nvSpPr>
        <p:spPr>
          <a:xfrm>
            <a:off x="8540496" y="2679192"/>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Improved Mean Recall@5 from 0.878 to 0.933</a:t>
            </a:r>
            <a:endParaRPr lang="en-US" sz="1350" dirty="0"/>
          </a:p>
        </p:txBody>
      </p:sp>
      <p:sp>
        <p:nvSpPr>
          <p:cNvPr id="28" name="Shape 26"/>
          <p:cNvSpPr/>
          <p:nvPr/>
        </p:nvSpPr>
        <p:spPr>
          <a:xfrm>
            <a:off x="8366760" y="3200400"/>
            <a:ext cx="77724" cy="77724"/>
          </a:xfrm>
          <a:prstGeom prst="ellipse">
            <a:avLst/>
          </a:prstGeom>
          <a:solidFill>
            <a:srgbClr val="00827C"/>
          </a:solidFill>
          <a:ln w="12700">
            <a:solidFill>
              <a:srgbClr val="00827C"/>
            </a:solidFill>
            <a:prstDash val="solid"/>
          </a:ln>
        </p:spPr>
      </p:sp>
      <p:sp>
        <p:nvSpPr>
          <p:cNvPr id="29" name="Text 27"/>
          <p:cNvSpPr/>
          <p:nvPr/>
        </p:nvSpPr>
        <p:spPr>
          <a:xfrm>
            <a:off x="8540496" y="3118104"/>
            <a:ext cx="25694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Chosen as best recall/latency balance</a:t>
            </a:r>
            <a:endParaRPr lang="en-US" sz="1350" dirty="0"/>
          </a:p>
        </p:txBody>
      </p:sp>
      <p:sp>
        <p:nvSpPr>
          <p:cNvPr id="30" name="Text 28"/>
          <p:cNvSpPr/>
          <p:nvPr/>
        </p:nvSpPr>
        <p:spPr>
          <a:xfrm>
            <a:off x="868680" y="6126480"/>
            <a:ext cx="1097280" cy="164592"/>
          </a:xfrm>
          <a:prstGeom prst="rect">
            <a:avLst/>
          </a:prstGeom>
          <a:noFill/>
          <a:ln/>
        </p:spPr>
        <p:txBody>
          <a:bodyPr wrap="square" lIns="0" tIns="0" rIns="0" bIns="0" rtlCol="0" anchor="ctr"/>
          <a:lstStyle/>
          <a:p>
            <a:pPr indent="0" marL="0">
              <a:buNone/>
            </a:pPr>
            <a:r>
              <a:rPr lang="en-US" sz="1150" b="1" dirty="0">
                <a:solidFill>
                  <a:srgbClr val="07163F"/>
                </a:solidFill>
              </a:rPr>
              <a:t>Why hybrid?</a:t>
            </a:r>
            <a:endParaRPr lang="en-US" sz="1150" dirty="0"/>
          </a:p>
        </p:txBody>
      </p:sp>
      <p:sp>
        <p:nvSpPr>
          <p:cNvPr id="31" name="Text 29"/>
          <p:cNvSpPr/>
          <p:nvPr/>
        </p:nvSpPr>
        <p:spPr>
          <a:xfrm>
            <a:off x="1828800" y="6126480"/>
            <a:ext cx="5303520" cy="164592"/>
          </a:xfrm>
          <a:prstGeom prst="rect">
            <a:avLst/>
          </a:prstGeom>
          <a:noFill/>
          <a:ln/>
        </p:spPr>
        <p:txBody>
          <a:bodyPr wrap="square" lIns="0" tIns="0" rIns="0" bIns="0" rtlCol="0" anchor="ctr"/>
          <a:lstStyle/>
          <a:p>
            <a:pPr indent="0" marL="0">
              <a:buNone/>
            </a:pPr>
            <a:r>
              <a:rPr lang="en-US" sz="1150" dirty="0">
                <a:solidFill>
                  <a:srgbClr val="4B5563"/>
                </a:solidFill>
              </a:rPr>
              <a:t>Technical documentation needs both meaning-based retrieval and exact keyword matching.</a:t>
            </a:r>
            <a:endParaRPr lang="en-US" sz="1150" dirty="0"/>
          </a:p>
        </p:txBody>
      </p:sp>
      <p:sp>
        <p:nvSpPr>
          <p:cNvPr id="33" name="Text 30"/>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07</a:t>
            </a:r>
            <a:endParaRPr lang="en-US" sz="850" dirty="0"/>
          </a:p>
        </p:txBody>
      </p:sp>
      <p:sp>
        <p:nvSpPr>
          <p:cNvPr id="34" name="Text 31"/>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Generation layer: Groq, Llama 3.1 8B, prompt design, citations</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914400" y="1572768"/>
            <a:ext cx="1508760" cy="658368"/>
          </a:xfrm>
          <a:prstGeom prst="roundRect">
            <a:avLst>
              <a:gd name="adj" fmla="val 11111"/>
            </a:avLst>
          </a:prstGeom>
          <a:solidFill>
            <a:srgbClr val="FFFFFF"/>
          </a:solidFill>
          <a:ln w="12700">
            <a:solidFill>
              <a:srgbClr val="E2E8F0"/>
            </a:solidFill>
            <a:prstDash val="solid"/>
          </a:ln>
        </p:spPr>
      </p:sp>
      <p:sp>
        <p:nvSpPr>
          <p:cNvPr id="7" name="Text 5"/>
          <p:cNvSpPr/>
          <p:nvPr/>
        </p:nvSpPr>
        <p:spPr>
          <a:xfrm>
            <a:off x="987552"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Question</a:t>
            </a:r>
            <a:endParaRPr lang="en-US" sz="1040" dirty="0"/>
          </a:p>
        </p:txBody>
      </p:sp>
      <p:sp>
        <p:nvSpPr>
          <p:cNvPr id="8" name="Shape 6"/>
          <p:cNvSpPr/>
          <p:nvPr/>
        </p:nvSpPr>
        <p:spPr>
          <a:xfrm>
            <a:off x="2423160" y="1901952"/>
            <a:ext cx="201168" cy="0"/>
          </a:xfrm>
          <a:prstGeom prst="line">
            <a:avLst/>
          </a:prstGeom>
          <a:noFill/>
          <a:ln w="17780">
            <a:solidFill>
              <a:srgbClr val="00827C"/>
            </a:solidFill>
            <a:prstDash val="solid"/>
            <a:tailEnd type="triangle"/>
          </a:ln>
        </p:spPr>
      </p:sp>
      <p:sp>
        <p:nvSpPr>
          <p:cNvPr id="9" name="Shape 7"/>
          <p:cNvSpPr/>
          <p:nvPr/>
        </p:nvSpPr>
        <p:spPr>
          <a:xfrm>
            <a:off x="2660904" y="1572768"/>
            <a:ext cx="1508760" cy="658368"/>
          </a:xfrm>
          <a:prstGeom prst="roundRect">
            <a:avLst>
              <a:gd name="adj" fmla="val 11111"/>
            </a:avLst>
          </a:prstGeom>
          <a:solidFill>
            <a:srgbClr val="E7F8F6"/>
          </a:solidFill>
          <a:ln w="12700">
            <a:solidFill>
              <a:srgbClr val="E2E8F0"/>
            </a:solidFill>
            <a:prstDash val="solid"/>
          </a:ln>
        </p:spPr>
      </p:sp>
      <p:sp>
        <p:nvSpPr>
          <p:cNvPr id="10" name="Text 8"/>
          <p:cNvSpPr/>
          <p:nvPr/>
        </p:nvSpPr>
        <p:spPr>
          <a:xfrm>
            <a:off x="2734056"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Retrieved chunks</a:t>
            </a:r>
            <a:endParaRPr lang="en-US" sz="1040" dirty="0"/>
          </a:p>
        </p:txBody>
      </p:sp>
      <p:sp>
        <p:nvSpPr>
          <p:cNvPr id="11" name="Shape 9"/>
          <p:cNvSpPr/>
          <p:nvPr/>
        </p:nvSpPr>
        <p:spPr>
          <a:xfrm>
            <a:off x="4169664" y="1901952"/>
            <a:ext cx="201168" cy="0"/>
          </a:xfrm>
          <a:prstGeom prst="line">
            <a:avLst/>
          </a:prstGeom>
          <a:noFill/>
          <a:ln w="17780">
            <a:solidFill>
              <a:srgbClr val="00827C"/>
            </a:solidFill>
            <a:prstDash val="solid"/>
            <a:tailEnd type="triangle"/>
          </a:ln>
        </p:spPr>
      </p:sp>
      <p:sp>
        <p:nvSpPr>
          <p:cNvPr id="12" name="Shape 10"/>
          <p:cNvSpPr/>
          <p:nvPr/>
        </p:nvSpPr>
        <p:spPr>
          <a:xfrm>
            <a:off x="4407408" y="1572768"/>
            <a:ext cx="1508760" cy="658368"/>
          </a:xfrm>
          <a:prstGeom prst="roundRect">
            <a:avLst>
              <a:gd name="adj" fmla="val 11111"/>
            </a:avLst>
          </a:prstGeom>
          <a:solidFill>
            <a:srgbClr val="FFFFFF"/>
          </a:solidFill>
          <a:ln w="12700">
            <a:solidFill>
              <a:srgbClr val="E2E8F0"/>
            </a:solidFill>
            <a:prstDash val="solid"/>
          </a:ln>
        </p:spPr>
      </p:sp>
      <p:sp>
        <p:nvSpPr>
          <p:cNvPr id="13" name="Text 11"/>
          <p:cNvSpPr/>
          <p:nvPr/>
        </p:nvSpPr>
        <p:spPr>
          <a:xfrm>
            <a:off x="4480560"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System prompt</a:t>
            </a:r>
            <a:endParaRPr lang="en-US" sz="1040" dirty="0"/>
          </a:p>
        </p:txBody>
      </p:sp>
      <p:sp>
        <p:nvSpPr>
          <p:cNvPr id="14" name="Shape 12"/>
          <p:cNvSpPr/>
          <p:nvPr/>
        </p:nvSpPr>
        <p:spPr>
          <a:xfrm>
            <a:off x="5916168" y="1901952"/>
            <a:ext cx="201168" cy="0"/>
          </a:xfrm>
          <a:prstGeom prst="line">
            <a:avLst/>
          </a:prstGeom>
          <a:noFill/>
          <a:ln w="17780">
            <a:solidFill>
              <a:srgbClr val="00827C"/>
            </a:solidFill>
            <a:prstDash val="solid"/>
            <a:tailEnd type="triangle"/>
          </a:ln>
        </p:spPr>
      </p:sp>
      <p:sp>
        <p:nvSpPr>
          <p:cNvPr id="15" name="Shape 13"/>
          <p:cNvSpPr/>
          <p:nvPr/>
        </p:nvSpPr>
        <p:spPr>
          <a:xfrm>
            <a:off x="6153912" y="1572768"/>
            <a:ext cx="1508760" cy="658368"/>
          </a:xfrm>
          <a:prstGeom prst="roundRect">
            <a:avLst>
              <a:gd name="adj" fmla="val 11111"/>
            </a:avLst>
          </a:prstGeom>
          <a:solidFill>
            <a:srgbClr val="EAF4FF"/>
          </a:solidFill>
          <a:ln w="12700">
            <a:solidFill>
              <a:srgbClr val="E2E8F0"/>
            </a:solidFill>
            <a:prstDash val="solid"/>
          </a:ln>
        </p:spPr>
      </p:sp>
      <p:sp>
        <p:nvSpPr>
          <p:cNvPr id="16" name="Text 14"/>
          <p:cNvSpPr/>
          <p:nvPr/>
        </p:nvSpPr>
        <p:spPr>
          <a:xfrm>
            <a:off x="6227064"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Groq LLM</a:t>
            </a:r>
            <a:endParaRPr lang="en-US" sz="1040" dirty="0"/>
          </a:p>
        </p:txBody>
      </p:sp>
      <p:sp>
        <p:nvSpPr>
          <p:cNvPr id="17" name="Shape 15"/>
          <p:cNvSpPr/>
          <p:nvPr/>
        </p:nvSpPr>
        <p:spPr>
          <a:xfrm>
            <a:off x="7662672" y="1901952"/>
            <a:ext cx="201168" cy="0"/>
          </a:xfrm>
          <a:prstGeom prst="line">
            <a:avLst/>
          </a:prstGeom>
          <a:noFill/>
          <a:ln w="17780">
            <a:solidFill>
              <a:srgbClr val="00827C"/>
            </a:solidFill>
            <a:prstDash val="solid"/>
            <a:tailEnd type="triangle"/>
          </a:ln>
        </p:spPr>
      </p:sp>
      <p:sp>
        <p:nvSpPr>
          <p:cNvPr id="18" name="Shape 16"/>
          <p:cNvSpPr/>
          <p:nvPr/>
        </p:nvSpPr>
        <p:spPr>
          <a:xfrm>
            <a:off x="7900416" y="1572768"/>
            <a:ext cx="1508760" cy="658368"/>
          </a:xfrm>
          <a:prstGeom prst="roundRect">
            <a:avLst>
              <a:gd name="adj" fmla="val 11111"/>
            </a:avLst>
          </a:prstGeom>
          <a:solidFill>
            <a:srgbClr val="FFFFFF"/>
          </a:solidFill>
          <a:ln w="12700">
            <a:solidFill>
              <a:srgbClr val="00827C"/>
            </a:solidFill>
            <a:prstDash val="solid"/>
          </a:ln>
        </p:spPr>
      </p:sp>
      <p:sp>
        <p:nvSpPr>
          <p:cNvPr id="19" name="Text 17"/>
          <p:cNvSpPr/>
          <p:nvPr/>
        </p:nvSpPr>
        <p:spPr>
          <a:xfrm>
            <a:off x="7973568" y="1728216"/>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Validated answer</a:t>
            </a:r>
            <a:endParaRPr lang="en-US" sz="1040" dirty="0"/>
          </a:p>
        </p:txBody>
      </p:sp>
      <p:sp>
        <p:nvSpPr>
          <p:cNvPr id="20" name="Shape 18"/>
          <p:cNvSpPr/>
          <p:nvPr/>
        </p:nvSpPr>
        <p:spPr>
          <a:xfrm>
            <a:off x="868680" y="2834640"/>
            <a:ext cx="3246120" cy="2057400"/>
          </a:xfrm>
          <a:prstGeom prst="roundRect">
            <a:avLst>
              <a:gd name="adj" fmla="val 3556"/>
            </a:avLst>
          </a:prstGeom>
          <a:solidFill>
            <a:srgbClr val="FFFFFF"/>
          </a:solidFill>
          <a:ln w="12700">
            <a:solidFill>
              <a:srgbClr val="D6E4F2"/>
            </a:solidFill>
            <a:prstDash val="solid"/>
          </a:ln>
        </p:spPr>
      </p:sp>
      <p:sp>
        <p:nvSpPr>
          <p:cNvPr id="21" name="Text 19"/>
          <p:cNvSpPr/>
          <p:nvPr/>
        </p:nvSpPr>
        <p:spPr>
          <a:xfrm>
            <a:off x="1115568" y="3127248"/>
            <a:ext cx="1463040" cy="219456"/>
          </a:xfrm>
          <a:prstGeom prst="rect">
            <a:avLst/>
          </a:prstGeom>
          <a:noFill/>
          <a:ln/>
        </p:spPr>
        <p:txBody>
          <a:bodyPr wrap="square" lIns="0" tIns="0" rIns="0" bIns="0" rtlCol="0" anchor="ctr"/>
          <a:lstStyle/>
          <a:p>
            <a:pPr indent="0" marL="0">
              <a:buNone/>
            </a:pPr>
            <a:r>
              <a:rPr lang="en-US" sz="1800" b="1" dirty="0">
                <a:solidFill>
                  <a:srgbClr val="07163F"/>
                </a:solidFill>
              </a:rPr>
              <a:t>Model layer</a:t>
            </a:r>
            <a:endParaRPr lang="en-US" sz="1800" dirty="0"/>
          </a:p>
        </p:txBody>
      </p:sp>
      <p:sp>
        <p:nvSpPr>
          <p:cNvPr id="22" name="Shape 20"/>
          <p:cNvSpPr/>
          <p:nvPr/>
        </p:nvSpPr>
        <p:spPr>
          <a:xfrm>
            <a:off x="1115568" y="3630168"/>
            <a:ext cx="77724" cy="77724"/>
          </a:xfrm>
          <a:prstGeom prst="ellipse">
            <a:avLst/>
          </a:prstGeom>
          <a:solidFill>
            <a:srgbClr val="00827C"/>
          </a:solidFill>
          <a:ln w="12700">
            <a:solidFill>
              <a:srgbClr val="00827C"/>
            </a:solidFill>
            <a:prstDash val="solid"/>
          </a:ln>
        </p:spPr>
      </p:sp>
      <p:sp>
        <p:nvSpPr>
          <p:cNvPr id="23" name="Text 21"/>
          <p:cNvSpPr/>
          <p:nvPr/>
        </p:nvSpPr>
        <p:spPr>
          <a:xfrm>
            <a:off x="1289304" y="3547872"/>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Groq-hosted LLM generation</a:t>
            </a:r>
            <a:endParaRPr lang="en-US" sz="1340" dirty="0"/>
          </a:p>
        </p:txBody>
      </p:sp>
      <p:sp>
        <p:nvSpPr>
          <p:cNvPr id="24" name="Shape 22"/>
          <p:cNvSpPr/>
          <p:nvPr/>
        </p:nvSpPr>
        <p:spPr>
          <a:xfrm>
            <a:off x="1115568" y="4014216"/>
            <a:ext cx="77724" cy="77724"/>
          </a:xfrm>
          <a:prstGeom prst="ellipse">
            <a:avLst/>
          </a:prstGeom>
          <a:solidFill>
            <a:srgbClr val="00827C"/>
          </a:solidFill>
          <a:ln w="12700">
            <a:solidFill>
              <a:srgbClr val="00827C"/>
            </a:solidFill>
            <a:prstDash val="solid"/>
          </a:ln>
        </p:spPr>
      </p:sp>
      <p:sp>
        <p:nvSpPr>
          <p:cNvPr id="25" name="Text 23"/>
          <p:cNvSpPr/>
          <p:nvPr/>
        </p:nvSpPr>
        <p:spPr>
          <a:xfrm>
            <a:off x="1289304" y="3931920"/>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Default model: Llama 3.1 8B Instant</a:t>
            </a:r>
            <a:endParaRPr lang="en-US" sz="1340" dirty="0"/>
          </a:p>
        </p:txBody>
      </p:sp>
      <p:sp>
        <p:nvSpPr>
          <p:cNvPr id="26" name="Shape 24"/>
          <p:cNvSpPr/>
          <p:nvPr/>
        </p:nvSpPr>
        <p:spPr>
          <a:xfrm>
            <a:off x="1115568" y="4398264"/>
            <a:ext cx="77724" cy="77724"/>
          </a:xfrm>
          <a:prstGeom prst="ellipse">
            <a:avLst/>
          </a:prstGeom>
          <a:solidFill>
            <a:srgbClr val="00827C"/>
          </a:solidFill>
          <a:ln w="12700">
            <a:solidFill>
              <a:srgbClr val="00827C"/>
            </a:solidFill>
            <a:prstDash val="solid"/>
          </a:ln>
        </p:spPr>
      </p:sp>
      <p:sp>
        <p:nvSpPr>
          <p:cNvPr id="27" name="Text 25"/>
          <p:cNvSpPr/>
          <p:nvPr/>
        </p:nvSpPr>
        <p:spPr>
          <a:xfrm>
            <a:off x="1289304" y="4315968"/>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Model selection available in UI</a:t>
            </a:r>
            <a:endParaRPr lang="en-US" sz="1340" dirty="0"/>
          </a:p>
        </p:txBody>
      </p:sp>
      <p:sp>
        <p:nvSpPr>
          <p:cNvPr id="28" name="Shape 26"/>
          <p:cNvSpPr/>
          <p:nvPr/>
        </p:nvSpPr>
        <p:spPr>
          <a:xfrm>
            <a:off x="4462272" y="2834640"/>
            <a:ext cx="3246120" cy="2057400"/>
          </a:xfrm>
          <a:prstGeom prst="roundRect">
            <a:avLst>
              <a:gd name="adj" fmla="val 3556"/>
            </a:avLst>
          </a:prstGeom>
          <a:solidFill>
            <a:srgbClr val="FFFFFF"/>
          </a:solidFill>
          <a:ln w="12700">
            <a:solidFill>
              <a:srgbClr val="D6E4F2"/>
            </a:solidFill>
            <a:prstDash val="solid"/>
          </a:ln>
        </p:spPr>
      </p:sp>
      <p:sp>
        <p:nvSpPr>
          <p:cNvPr id="29" name="Text 27"/>
          <p:cNvSpPr/>
          <p:nvPr/>
        </p:nvSpPr>
        <p:spPr>
          <a:xfrm>
            <a:off x="4709160" y="3127248"/>
            <a:ext cx="1645920" cy="219456"/>
          </a:xfrm>
          <a:prstGeom prst="rect">
            <a:avLst/>
          </a:prstGeom>
          <a:noFill/>
          <a:ln/>
        </p:spPr>
        <p:txBody>
          <a:bodyPr wrap="square" lIns="0" tIns="0" rIns="0" bIns="0" rtlCol="0" anchor="ctr"/>
          <a:lstStyle/>
          <a:p>
            <a:pPr indent="0" marL="0">
              <a:buNone/>
            </a:pPr>
            <a:r>
              <a:rPr lang="en-US" sz="1800" b="1" dirty="0">
                <a:solidFill>
                  <a:srgbClr val="07163F"/>
                </a:solidFill>
              </a:rPr>
              <a:t>Prompt design</a:t>
            </a:r>
            <a:endParaRPr lang="en-US" sz="1800" dirty="0"/>
          </a:p>
        </p:txBody>
      </p:sp>
      <p:sp>
        <p:nvSpPr>
          <p:cNvPr id="30" name="Shape 28"/>
          <p:cNvSpPr/>
          <p:nvPr/>
        </p:nvSpPr>
        <p:spPr>
          <a:xfrm>
            <a:off x="4709160" y="3630168"/>
            <a:ext cx="77724" cy="77724"/>
          </a:xfrm>
          <a:prstGeom prst="ellipse">
            <a:avLst/>
          </a:prstGeom>
          <a:solidFill>
            <a:srgbClr val="00827C"/>
          </a:solidFill>
          <a:ln w="12700">
            <a:solidFill>
              <a:srgbClr val="00827C"/>
            </a:solidFill>
            <a:prstDash val="solid"/>
          </a:ln>
        </p:spPr>
      </p:sp>
      <p:sp>
        <p:nvSpPr>
          <p:cNvPr id="31" name="Text 29"/>
          <p:cNvSpPr/>
          <p:nvPr/>
        </p:nvSpPr>
        <p:spPr>
          <a:xfrm>
            <a:off x="4882896" y="3547872"/>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System prompt limits answer to retrieved context</a:t>
            </a:r>
            <a:endParaRPr lang="en-US" sz="1340" dirty="0"/>
          </a:p>
        </p:txBody>
      </p:sp>
      <p:sp>
        <p:nvSpPr>
          <p:cNvPr id="32" name="Shape 30"/>
          <p:cNvSpPr/>
          <p:nvPr/>
        </p:nvSpPr>
        <p:spPr>
          <a:xfrm>
            <a:off x="4709160" y="4014216"/>
            <a:ext cx="77724" cy="77724"/>
          </a:xfrm>
          <a:prstGeom prst="ellipse">
            <a:avLst/>
          </a:prstGeom>
          <a:solidFill>
            <a:srgbClr val="00827C"/>
          </a:solidFill>
          <a:ln w="12700">
            <a:solidFill>
              <a:srgbClr val="00827C"/>
            </a:solidFill>
            <a:prstDash val="solid"/>
          </a:ln>
        </p:spPr>
      </p:sp>
      <p:sp>
        <p:nvSpPr>
          <p:cNvPr id="33" name="Text 31"/>
          <p:cNvSpPr/>
          <p:nvPr/>
        </p:nvSpPr>
        <p:spPr>
          <a:xfrm>
            <a:off x="4882896" y="3931920"/>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Includes current question and selected chunks</a:t>
            </a:r>
            <a:endParaRPr lang="en-US" sz="1340" dirty="0"/>
          </a:p>
        </p:txBody>
      </p:sp>
      <p:sp>
        <p:nvSpPr>
          <p:cNvPr id="34" name="Shape 32"/>
          <p:cNvSpPr/>
          <p:nvPr/>
        </p:nvSpPr>
        <p:spPr>
          <a:xfrm>
            <a:off x="4709160" y="4398264"/>
            <a:ext cx="77724" cy="77724"/>
          </a:xfrm>
          <a:prstGeom prst="ellipse">
            <a:avLst/>
          </a:prstGeom>
          <a:solidFill>
            <a:srgbClr val="00827C"/>
          </a:solidFill>
          <a:ln w="12700">
            <a:solidFill>
              <a:srgbClr val="00827C"/>
            </a:solidFill>
            <a:prstDash val="solid"/>
          </a:ln>
        </p:spPr>
      </p:sp>
      <p:sp>
        <p:nvSpPr>
          <p:cNvPr id="35" name="Text 33"/>
          <p:cNvSpPr/>
          <p:nvPr/>
        </p:nvSpPr>
        <p:spPr>
          <a:xfrm>
            <a:off x="4882896" y="4315968"/>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Asks for source citations</a:t>
            </a:r>
            <a:endParaRPr lang="en-US" sz="1340" dirty="0"/>
          </a:p>
        </p:txBody>
      </p:sp>
      <p:sp>
        <p:nvSpPr>
          <p:cNvPr id="36" name="Shape 34"/>
          <p:cNvSpPr/>
          <p:nvPr/>
        </p:nvSpPr>
        <p:spPr>
          <a:xfrm>
            <a:off x="8046720" y="2834640"/>
            <a:ext cx="3246120" cy="2057400"/>
          </a:xfrm>
          <a:prstGeom prst="roundRect">
            <a:avLst>
              <a:gd name="adj" fmla="val 3556"/>
            </a:avLst>
          </a:prstGeom>
          <a:solidFill>
            <a:srgbClr val="E7F8F6"/>
          </a:solidFill>
          <a:ln w="12700">
            <a:solidFill>
              <a:srgbClr val="A7F3D0"/>
            </a:solidFill>
            <a:prstDash val="solid"/>
          </a:ln>
        </p:spPr>
      </p:sp>
      <p:sp>
        <p:nvSpPr>
          <p:cNvPr id="37" name="Text 35"/>
          <p:cNvSpPr/>
          <p:nvPr/>
        </p:nvSpPr>
        <p:spPr>
          <a:xfrm>
            <a:off x="8293608" y="3127248"/>
            <a:ext cx="2011680" cy="219456"/>
          </a:xfrm>
          <a:prstGeom prst="rect">
            <a:avLst/>
          </a:prstGeom>
          <a:noFill/>
          <a:ln/>
        </p:spPr>
        <p:txBody>
          <a:bodyPr wrap="square" lIns="0" tIns="0" rIns="0" bIns="0" rtlCol="0" anchor="ctr"/>
          <a:lstStyle/>
          <a:p>
            <a:pPr indent="0" marL="0">
              <a:buNone/>
            </a:pPr>
            <a:r>
              <a:rPr lang="en-US" sz="1800" b="1" dirty="0">
                <a:solidFill>
                  <a:srgbClr val="07163F"/>
                </a:solidFill>
              </a:rPr>
              <a:t>Citation validation</a:t>
            </a:r>
            <a:endParaRPr lang="en-US" sz="1800" dirty="0"/>
          </a:p>
        </p:txBody>
      </p:sp>
      <p:sp>
        <p:nvSpPr>
          <p:cNvPr id="38" name="Shape 36"/>
          <p:cNvSpPr/>
          <p:nvPr/>
        </p:nvSpPr>
        <p:spPr>
          <a:xfrm>
            <a:off x="8293608" y="3630168"/>
            <a:ext cx="77724" cy="77724"/>
          </a:xfrm>
          <a:prstGeom prst="ellipse">
            <a:avLst/>
          </a:prstGeom>
          <a:solidFill>
            <a:srgbClr val="00827C"/>
          </a:solidFill>
          <a:ln w="12700">
            <a:solidFill>
              <a:srgbClr val="00827C"/>
            </a:solidFill>
            <a:prstDash val="solid"/>
          </a:ln>
        </p:spPr>
      </p:sp>
      <p:sp>
        <p:nvSpPr>
          <p:cNvPr id="39" name="Text 37"/>
          <p:cNvSpPr/>
          <p:nvPr/>
        </p:nvSpPr>
        <p:spPr>
          <a:xfrm>
            <a:off x="8467344" y="3547872"/>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Validates [Source: source_id] only against retrieved IDs</a:t>
            </a:r>
            <a:endParaRPr lang="en-US" sz="1340" dirty="0"/>
          </a:p>
        </p:txBody>
      </p:sp>
      <p:sp>
        <p:nvSpPr>
          <p:cNvPr id="40" name="Shape 38"/>
          <p:cNvSpPr/>
          <p:nvPr/>
        </p:nvSpPr>
        <p:spPr>
          <a:xfrm>
            <a:off x="8293608" y="4014216"/>
            <a:ext cx="77724" cy="77724"/>
          </a:xfrm>
          <a:prstGeom prst="ellipse">
            <a:avLst/>
          </a:prstGeom>
          <a:solidFill>
            <a:srgbClr val="00827C"/>
          </a:solidFill>
          <a:ln w="12700">
            <a:solidFill>
              <a:srgbClr val="00827C"/>
            </a:solidFill>
            <a:prstDash val="solid"/>
          </a:ln>
        </p:spPr>
      </p:sp>
      <p:sp>
        <p:nvSpPr>
          <p:cNvPr id="41" name="Text 39"/>
          <p:cNvSpPr/>
          <p:nvPr/>
        </p:nvSpPr>
        <p:spPr>
          <a:xfrm>
            <a:off x="8467344" y="3931920"/>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Prevents fabricated citation labels</a:t>
            </a:r>
            <a:endParaRPr lang="en-US" sz="1340" dirty="0"/>
          </a:p>
        </p:txBody>
      </p:sp>
      <p:sp>
        <p:nvSpPr>
          <p:cNvPr id="42" name="Shape 40"/>
          <p:cNvSpPr/>
          <p:nvPr/>
        </p:nvSpPr>
        <p:spPr>
          <a:xfrm>
            <a:off x="8293608" y="4398264"/>
            <a:ext cx="77724" cy="77724"/>
          </a:xfrm>
          <a:prstGeom prst="ellipse">
            <a:avLst/>
          </a:prstGeom>
          <a:solidFill>
            <a:srgbClr val="00827C"/>
          </a:solidFill>
          <a:ln w="12700">
            <a:solidFill>
              <a:srgbClr val="00827C"/>
            </a:solidFill>
            <a:prstDash val="solid"/>
          </a:ln>
        </p:spPr>
      </p:sp>
      <p:sp>
        <p:nvSpPr>
          <p:cNvPr id="43" name="Text 41"/>
          <p:cNvSpPr/>
          <p:nvPr/>
        </p:nvSpPr>
        <p:spPr>
          <a:xfrm>
            <a:off x="8467344" y="4315968"/>
            <a:ext cx="2478024" cy="265176"/>
          </a:xfrm>
          <a:prstGeom prst="rect">
            <a:avLst/>
          </a:prstGeom>
          <a:noFill/>
          <a:ln/>
        </p:spPr>
        <p:txBody>
          <a:bodyPr wrap="square" lIns="0" tIns="0" rIns="0" bIns="0" rtlCol="0" anchor="ctr">
            <a:normAutofit/>
          </a:bodyPr>
          <a:lstStyle/>
          <a:p>
            <a:pPr indent="0" marL="0">
              <a:buNone/>
            </a:pPr>
            <a:r>
              <a:rPr lang="en-US" sz="1340" dirty="0">
                <a:solidFill>
                  <a:srgbClr val="111827"/>
                </a:solidFill>
              </a:rPr>
              <a:t>Returns grounded answer + sources</a:t>
            </a:r>
            <a:endParaRPr lang="en-US" sz="1340" dirty="0"/>
          </a:p>
        </p:txBody>
      </p:sp>
      <p:sp>
        <p:nvSpPr>
          <p:cNvPr id="44" name="Shape 42"/>
          <p:cNvSpPr/>
          <p:nvPr/>
        </p:nvSpPr>
        <p:spPr>
          <a:xfrm>
            <a:off x="1234440" y="5577840"/>
            <a:ext cx="9692640" cy="493776"/>
          </a:xfrm>
          <a:prstGeom prst="roundRect">
            <a:avLst>
              <a:gd name="adj" fmla="val 14815"/>
            </a:avLst>
          </a:prstGeom>
          <a:solidFill>
            <a:srgbClr val="FFFFFF"/>
          </a:solidFill>
          <a:ln w="12700">
            <a:solidFill>
              <a:srgbClr val="CFE1F0"/>
            </a:solidFill>
            <a:prstDash val="solid"/>
          </a:ln>
        </p:spPr>
      </p:sp>
      <p:sp>
        <p:nvSpPr>
          <p:cNvPr id="45" name="Text 43"/>
          <p:cNvSpPr/>
          <p:nvPr/>
        </p:nvSpPr>
        <p:spPr>
          <a:xfrm>
            <a:off x="1508760" y="5742432"/>
            <a:ext cx="9144000" cy="128016"/>
          </a:xfrm>
          <a:prstGeom prst="rect">
            <a:avLst/>
          </a:prstGeom>
          <a:noFill/>
          <a:ln/>
        </p:spPr>
        <p:txBody>
          <a:bodyPr wrap="square" lIns="0" tIns="0" rIns="0" bIns="0" rtlCol="0" anchor="ctr">
            <a:normAutofit/>
          </a:bodyPr>
          <a:lstStyle/>
          <a:p>
            <a:pPr algn="ctr" indent="0" marL="0">
              <a:buNone/>
            </a:pPr>
            <a:r>
              <a:rPr lang="en-US" sz="1260" b="1" dirty="0">
                <a:solidFill>
                  <a:srgbClr val="00827C"/>
                </a:solidFill>
              </a:rPr>
              <a:t>Design principle: the LLM writes the answer, but retrieval + prompt + citation validation control what it can safely say.</a:t>
            </a:r>
            <a:endParaRPr lang="en-US" sz="1260" dirty="0"/>
          </a:p>
        </p:txBody>
      </p:sp>
      <p:sp>
        <p:nvSpPr>
          <p:cNvPr id="47" name="Text 44"/>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08</a:t>
            </a:r>
            <a:endParaRPr lang="en-US" sz="850" dirty="0"/>
          </a:p>
        </p:txBody>
      </p:sp>
      <p:sp>
        <p:nvSpPr>
          <p:cNvPr id="48" name="Text 45"/>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Guardrails: irrelevant query defense before the LLM call</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822960" y="1463040"/>
            <a:ext cx="4800600" cy="4434840"/>
          </a:xfrm>
          <a:prstGeom prst="roundRect">
            <a:avLst>
              <a:gd name="adj" fmla="val 1649"/>
            </a:avLst>
          </a:prstGeom>
          <a:solidFill>
            <a:srgbClr val="FFFFFF"/>
          </a:solidFill>
          <a:ln w="12700">
            <a:solidFill>
              <a:srgbClr val="D6E4F2"/>
            </a:solidFill>
            <a:prstDash val="solid"/>
          </a:ln>
        </p:spPr>
      </p:sp>
      <p:sp>
        <p:nvSpPr>
          <p:cNvPr id="7" name="Text 5"/>
          <p:cNvSpPr/>
          <p:nvPr/>
        </p:nvSpPr>
        <p:spPr>
          <a:xfrm>
            <a:off x="1097280" y="1783080"/>
            <a:ext cx="3200400" cy="237744"/>
          </a:xfrm>
          <a:prstGeom prst="rect">
            <a:avLst/>
          </a:prstGeom>
          <a:noFill/>
          <a:ln/>
        </p:spPr>
        <p:txBody>
          <a:bodyPr wrap="square" lIns="0" tIns="0" rIns="0" bIns="0" rtlCol="0" anchor="ctr"/>
          <a:lstStyle/>
          <a:p>
            <a:pPr indent="0" marL="0">
              <a:buNone/>
            </a:pPr>
            <a:r>
              <a:rPr lang="en-US" sz="1800" b="1" dirty="0">
                <a:solidFill>
                  <a:srgbClr val="07163F"/>
                </a:solidFill>
              </a:rPr>
              <a:t>Why it runs before generation</a:t>
            </a:r>
            <a:endParaRPr lang="en-US" sz="1800" dirty="0"/>
          </a:p>
        </p:txBody>
      </p:sp>
      <p:sp>
        <p:nvSpPr>
          <p:cNvPr id="8" name="Shape 6"/>
          <p:cNvSpPr/>
          <p:nvPr/>
        </p:nvSpPr>
        <p:spPr>
          <a:xfrm>
            <a:off x="1097280" y="2350008"/>
            <a:ext cx="77724" cy="77724"/>
          </a:xfrm>
          <a:prstGeom prst="ellipse">
            <a:avLst/>
          </a:prstGeom>
          <a:solidFill>
            <a:srgbClr val="00827C"/>
          </a:solidFill>
          <a:ln w="12700">
            <a:solidFill>
              <a:srgbClr val="00827C"/>
            </a:solidFill>
            <a:prstDash val="solid"/>
          </a:ln>
        </p:spPr>
      </p:sp>
      <p:sp>
        <p:nvSpPr>
          <p:cNvPr id="9" name="Text 7"/>
          <p:cNvSpPr/>
          <p:nvPr/>
        </p:nvSpPr>
        <p:spPr>
          <a:xfrm>
            <a:off x="1271016" y="2267712"/>
            <a:ext cx="3986784" cy="265176"/>
          </a:xfrm>
          <a:prstGeom prst="rect">
            <a:avLst/>
          </a:prstGeom>
          <a:noFill/>
          <a:ln/>
        </p:spPr>
        <p:txBody>
          <a:bodyPr wrap="square" lIns="0" tIns="0" rIns="0" bIns="0" rtlCol="0" anchor="ctr">
            <a:normAutofit/>
          </a:bodyPr>
          <a:lstStyle/>
          <a:p>
            <a:pPr indent="0" marL="0">
              <a:buNone/>
            </a:pPr>
            <a:r>
              <a:rPr lang="en-US" sz="1420" dirty="0">
                <a:solidFill>
                  <a:srgbClr val="111827"/>
                </a:solidFill>
              </a:rPr>
              <a:t>Avoids wasting LLM calls on off-topic questions.</a:t>
            </a:r>
            <a:endParaRPr lang="en-US" sz="1420" dirty="0"/>
          </a:p>
        </p:txBody>
      </p:sp>
      <p:sp>
        <p:nvSpPr>
          <p:cNvPr id="10" name="Shape 8"/>
          <p:cNvSpPr/>
          <p:nvPr/>
        </p:nvSpPr>
        <p:spPr>
          <a:xfrm>
            <a:off x="1097280" y="2852928"/>
            <a:ext cx="77724" cy="77724"/>
          </a:xfrm>
          <a:prstGeom prst="ellipse">
            <a:avLst/>
          </a:prstGeom>
          <a:solidFill>
            <a:srgbClr val="00827C"/>
          </a:solidFill>
          <a:ln w="12700">
            <a:solidFill>
              <a:srgbClr val="00827C"/>
            </a:solidFill>
            <a:prstDash val="solid"/>
          </a:ln>
        </p:spPr>
      </p:sp>
      <p:sp>
        <p:nvSpPr>
          <p:cNvPr id="11" name="Text 9"/>
          <p:cNvSpPr/>
          <p:nvPr/>
        </p:nvSpPr>
        <p:spPr>
          <a:xfrm>
            <a:off x="1271016" y="2770632"/>
            <a:ext cx="3986784" cy="265176"/>
          </a:xfrm>
          <a:prstGeom prst="rect">
            <a:avLst/>
          </a:prstGeom>
          <a:noFill/>
          <a:ln/>
        </p:spPr>
        <p:txBody>
          <a:bodyPr wrap="square" lIns="0" tIns="0" rIns="0" bIns="0" rtlCol="0" anchor="ctr">
            <a:normAutofit/>
          </a:bodyPr>
          <a:lstStyle/>
          <a:p>
            <a:pPr indent="0" marL="0">
              <a:buNone/>
            </a:pPr>
            <a:r>
              <a:rPr lang="en-US" sz="1420" dirty="0">
                <a:solidFill>
                  <a:srgbClr val="111827"/>
                </a:solidFill>
              </a:rPr>
              <a:t>Reduces hallucination risk when retrieval has no good PostgreSQL context.</a:t>
            </a:r>
            <a:endParaRPr lang="en-US" sz="1420" dirty="0"/>
          </a:p>
        </p:txBody>
      </p:sp>
      <p:sp>
        <p:nvSpPr>
          <p:cNvPr id="12" name="Shape 10"/>
          <p:cNvSpPr/>
          <p:nvPr/>
        </p:nvSpPr>
        <p:spPr>
          <a:xfrm>
            <a:off x="1097280" y="3355848"/>
            <a:ext cx="77724" cy="77724"/>
          </a:xfrm>
          <a:prstGeom prst="ellipse">
            <a:avLst/>
          </a:prstGeom>
          <a:solidFill>
            <a:srgbClr val="00827C"/>
          </a:solidFill>
          <a:ln w="12700">
            <a:solidFill>
              <a:srgbClr val="00827C"/>
            </a:solidFill>
            <a:prstDash val="solid"/>
          </a:ln>
        </p:spPr>
      </p:sp>
      <p:sp>
        <p:nvSpPr>
          <p:cNvPr id="13" name="Text 11"/>
          <p:cNvSpPr/>
          <p:nvPr/>
        </p:nvSpPr>
        <p:spPr>
          <a:xfrm>
            <a:off x="1271016" y="3273552"/>
            <a:ext cx="3986784" cy="265176"/>
          </a:xfrm>
          <a:prstGeom prst="rect">
            <a:avLst/>
          </a:prstGeom>
          <a:noFill/>
          <a:ln/>
        </p:spPr>
        <p:txBody>
          <a:bodyPr wrap="square" lIns="0" tIns="0" rIns="0" bIns="0" rtlCol="0" anchor="ctr">
            <a:normAutofit/>
          </a:bodyPr>
          <a:lstStyle/>
          <a:p>
            <a:pPr indent="0" marL="0">
              <a:buNone/>
            </a:pPr>
            <a:r>
              <a:rPr lang="en-US" sz="1420" dirty="0">
                <a:solidFill>
                  <a:srgbClr val="111827"/>
                </a:solidFill>
              </a:rPr>
              <a:t>Keeps the system focused on PostgreSQL / SQL intent.</a:t>
            </a:r>
            <a:endParaRPr lang="en-US" sz="1420" dirty="0"/>
          </a:p>
        </p:txBody>
      </p:sp>
      <p:sp>
        <p:nvSpPr>
          <p:cNvPr id="14" name="Shape 12"/>
          <p:cNvSpPr/>
          <p:nvPr/>
        </p:nvSpPr>
        <p:spPr>
          <a:xfrm>
            <a:off x="1097280" y="3858768"/>
            <a:ext cx="77724" cy="77724"/>
          </a:xfrm>
          <a:prstGeom prst="ellipse">
            <a:avLst/>
          </a:prstGeom>
          <a:solidFill>
            <a:srgbClr val="00827C"/>
          </a:solidFill>
          <a:ln w="12700">
            <a:solidFill>
              <a:srgbClr val="00827C"/>
            </a:solidFill>
            <a:prstDash val="solid"/>
          </a:ln>
        </p:spPr>
      </p:sp>
      <p:sp>
        <p:nvSpPr>
          <p:cNvPr id="15" name="Text 13"/>
          <p:cNvSpPr/>
          <p:nvPr/>
        </p:nvSpPr>
        <p:spPr>
          <a:xfrm>
            <a:off x="1271016" y="3776472"/>
            <a:ext cx="3986784" cy="265176"/>
          </a:xfrm>
          <a:prstGeom prst="rect">
            <a:avLst/>
          </a:prstGeom>
          <a:noFill/>
          <a:ln/>
        </p:spPr>
        <p:txBody>
          <a:bodyPr wrap="square" lIns="0" tIns="0" rIns="0" bIns="0" rtlCol="0" anchor="ctr">
            <a:normAutofit/>
          </a:bodyPr>
          <a:lstStyle/>
          <a:p>
            <a:pPr indent="0" marL="0">
              <a:buNone/>
            </a:pPr>
            <a:r>
              <a:rPr lang="en-US" sz="1420" dirty="0">
                <a:solidFill>
                  <a:srgbClr val="111827"/>
                </a:solidFill>
              </a:rPr>
              <a:t>Improves demo reliability because failure behavior is controlled.</a:t>
            </a:r>
            <a:endParaRPr lang="en-US" sz="1420" dirty="0"/>
          </a:p>
        </p:txBody>
      </p:sp>
      <p:sp>
        <p:nvSpPr>
          <p:cNvPr id="16" name="Shape 14"/>
          <p:cNvSpPr/>
          <p:nvPr/>
        </p:nvSpPr>
        <p:spPr>
          <a:xfrm>
            <a:off x="6172200" y="1463040"/>
            <a:ext cx="4892040" cy="941832"/>
          </a:xfrm>
          <a:prstGeom prst="roundRect">
            <a:avLst>
              <a:gd name="adj" fmla="val 7767"/>
            </a:avLst>
          </a:prstGeom>
          <a:solidFill>
            <a:srgbClr val="FFF7ED"/>
          </a:solidFill>
          <a:ln w="12700">
            <a:solidFill>
              <a:srgbClr val="FED7AA"/>
            </a:solidFill>
            <a:prstDash val="solid"/>
          </a:ln>
        </p:spPr>
      </p:sp>
      <p:sp>
        <p:nvSpPr>
          <p:cNvPr id="17" name="Text 15"/>
          <p:cNvSpPr/>
          <p:nvPr/>
        </p:nvSpPr>
        <p:spPr>
          <a:xfrm>
            <a:off x="6473952" y="1691640"/>
            <a:ext cx="1645920" cy="182880"/>
          </a:xfrm>
          <a:prstGeom prst="rect">
            <a:avLst/>
          </a:prstGeom>
          <a:noFill/>
          <a:ln/>
        </p:spPr>
        <p:txBody>
          <a:bodyPr wrap="square" lIns="0" tIns="0" rIns="0" bIns="0" rtlCol="0" anchor="ctr"/>
          <a:lstStyle/>
          <a:p>
            <a:pPr indent="0" marL="0">
              <a:buNone/>
            </a:pPr>
            <a:r>
              <a:rPr lang="en-US" sz="1300" b="1" dirty="0">
                <a:solidFill>
                  <a:srgbClr val="E68A00"/>
                </a:solidFill>
              </a:rPr>
              <a:t>Off-topic example</a:t>
            </a:r>
            <a:endParaRPr lang="en-US" sz="1300" dirty="0"/>
          </a:p>
        </p:txBody>
      </p:sp>
      <p:sp>
        <p:nvSpPr>
          <p:cNvPr id="18" name="Text 16"/>
          <p:cNvSpPr/>
          <p:nvPr/>
        </p:nvSpPr>
        <p:spPr>
          <a:xfrm>
            <a:off x="6473952" y="1975104"/>
            <a:ext cx="3657600" cy="146304"/>
          </a:xfrm>
          <a:prstGeom prst="rect">
            <a:avLst/>
          </a:prstGeom>
          <a:noFill/>
          <a:ln/>
        </p:spPr>
        <p:txBody>
          <a:bodyPr wrap="square" lIns="0" tIns="0" rIns="0" bIns="0" rtlCol="0" anchor="ctr">
            <a:normAutofit/>
          </a:bodyPr>
          <a:lstStyle/>
          <a:p>
            <a:pPr indent="0" marL="0">
              <a:buNone/>
            </a:pPr>
            <a:r>
              <a:rPr lang="en-US" sz="1280" dirty="0">
                <a:solidFill>
                  <a:srgbClr val="111827"/>
                </a:solidFill>
              </a:rPr>
              <a:t>“Who won the cricket match yesterday?”</a:t>
            </a:r>
            <a:endParaRPr lang="en-US" sz="1280" dirty="0"/>
          </a:p>
        </p:txBody>
      </p:sp>
      <p:sp>
        <p:nvSpPr>
          <p:cNvPr id="19" name="Shape 17"/>
          <p:cNvSpPr/>
          <p:nvPr/>
        </p:nvSpPr>
        <p:spPr>
          <a:xfrm>
            <a:off x="6172200" y="2651760"/>
            <a:ext cx="4892040" cy="941832"/>
          </a:xfrm>
          <a:prstGeom prst="roundRect">
            <a:avLst>
              <a:gd name="adj" fmla="val 7767"/>
            </a:avLst>
          </a:prstGeom>
          <a:solidFill>
            <a:srgbClr val="E7F8F6"/>
          </a:solidFill>
          <a:ln w="12700">
            <a:solidFill>
              <a:srgbClr val="A7F3D0"/>
            </a:solidFill>
            <a:prstDash val="solid"/>
          </a:ln>
        </p:spPr>
      </p:sp>
      <p:sp>
        <p:nvSpPr>
          <p:cNvPr id="20" name="Text 18"/>
          <p:cNvSpPr/>
          <p:nvPr/>
        </p:nvSpPr>
        <p:spPr>
          <a:xfrm>
            <a:off x="6473952" y="2880360"/>
            <a:ext cx="1645920" cy="182880"/>
          </a:xfrm>
          <a:prstGeom prst="rect">
            <a:avLst/>
          </a:prstGeom>
          <a:noFill/>
          <a:ln/>
        </p:spPr>
        <p:txBody>
          <a:bodyPr wrap="square" lIns="0" tIns="0" rIns="0" bIns="0" rtlCol="0" anchor="ctr"/>
          <a:lstStyle/>
          <a:p>
            <a:pPr indent="0" marL="0">
              <a:buNone/>
            </a:pPr>
            <a:r>
              <a:rPr lang="en-US" sz="1300" b="1" dirty="0">
                <a:solidFill>
                  <a:srgbClr val="00827C"/>
                </a:solidFill>
              </a:rPr>
              <a:t>Allowed example</a:t>
            </a:r>
            <a:endParaRPr lang="en-US" sz="1300" dirty="0"/>
          </a:p>
        </p:txBody>
      </p:sp>
      <p:sp>
        <p:nvSpPr>
          <p:cNvPr id="21" name="Text 19"/>
          <p:cNvSpPr/>
          <p:nvPr/>
        </p:nvSpPr>
        <p:spPr>
          <a:xfrm>
            <a:off x="6473952" y="3163824"/>
            <a:ext cx="3657600" cy="146304"/>
          </a:xfrm>
          <a:prstGeom prst="rect">
            <a:avLst/>
          </a:prstGeom>
          <a:noFill/>
          <a:ln/>
        </p:spPr>
        <p:txBody>
          <a:bodyPr wrap="square" lIns="0" tIns="0" rIns="0" bIns="0" rtlCol="0" anchor="ctr">
            <a:normAutofit/>
          </a:bodyPr>
          <a:lstStyle/>
          <a:p>
            <a:pPr indent="0" marL="0">
              <a:buNone/>
            </a:pPr>
            <a:r>
              <a:rPr lang="en-US" sz="1280" dirty="0">
                <a:solidFill>
                  <a:srgbClr val="111827"/>
                </a:solidFill>
              </a:rPr>
              <a:t>“How does VACUUM help PostgreSQL?”</a:t>
            </a:r>
            <a:endParaRPr lang="en-US" sz="1280" dirty="0"/>
          </a:p>
        </p:txBody>
      </p:sp>
      <p:sp>
        <p:nvSpPr>
          <p:cNvPr id="22" name="Shape 20"/>
          <p:cNvSpPr/>
          <p:nvPr/>
        </p:nvSpPr>
        <p:spPr>
          <a:xfrm>
            <a:off x="6172200" y="4343400"/>
            <a:ext cx="1508760" cy="658368"/>
          </a:xfrm>
          <a:prstGeom prst="roundRect">
            <a:avLst>
              <a:gd name="adj" fmla="val 11111"/>
            </a:avLst>
          </a:prstGeom>
          <a:solidFill>
            <a:srgbClr val="FFFFFF"/>
          </a:solidFill>
          <a:ln w="12700">
            <a:solidFill>
              <a:srgbClr val="E2E8F0"/>
            </a:solidFill>
            <a:prstDash val="solid"/>
          </a:ln>
        </p:spPr>
      </p:sp>
      <p:sp>
        <p:nvSpPr>
          <p:cNvPr id="23" name="Text 21"/>
          <p:cNvSpPr/>
          <p:nvPr/>
        </p:nvSpPr>
        <p:spPr>
          <a:xfrm>
            <a:off x="6245352" y="4498848"/>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Question</a:t>
            </a:r>
            <a:endParaRPr lang="en-US" sz="1040" dirty="0"/>
          </a:p>
        </p:txBody>
      </p:sp>
      <p:sp>
        <p:nvSpPr>
          <p:cNvPr id="24" name="Shape 22"/>
          <p:cNvSpPr/>
          <p:nvPr/>
        </p:nvSpPr>
        <p:spPr>
          <a:xfrm>
            <a:off x="7680960" y="4672584"/>
            <a:ext cx="201168" cy="0"/>
          </a:xfrm>
          <a:prstGeom prst="line">
            <a:avLst/>
          </a:prstGeom>
          <a:noFill/>
          <a:ln w="17780">
            <a:solidFill>
              <a:srgbClr val="00827C"/>
            </a:solidFill>
            <a:prstDash val="solid"/>
            <a:tailEnd type="triangle"/>
          </a:ln>
        </p:spPr>
      </p:sp>
      <p:sp>
        <p:nvSpPr>
          <p:cNvPr id="25" name="Shape 23"/>
          <p:cNvSpPr/>
          <p:nvPr/>
        </p:nvSpPr>
        <p:spPr>
          <a:xfrm>
            <a:off x="7918704" y="4343400"/>
            <a:ext cx="1508760" cy="658368"/>
          </a:xfrm>
          <a:prstGeom prst="roundRect">
            <a:avLst>
              <a:gd name="adj" fmla="val 11111"/>
            </a:avLst>
          </a:prstGeom>
          <a:solidFill>
            <a:srgbClr val="E7F8F6"/>
          </a:solidFill>
          <a:ln w="12700">
            <a:solidFill>
              <a:srgbClr val="E2E8F0"/>
            </a:solidFill>
            <a:prstDash val="solid"/>
          </a:ln>
        </p:spPr>
      </p:sp>
      <p:sp>
        <p:nvSpPr>
          <p:cNvPr id="26" name="Text 24"/>
          <p:cNvSpPr/>
          <p:nvPr/>
        </p:nvSpPr>
        <p:spPr>
          <a:xfrm>
            <a:off x="7991856" y="4498848"/>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Intent check</a:t>
            </a:r>
            <a:endParaRPr lang="en-US" sz="1040" dirty="0"/>
          </a:p>
        </p:txBody>
      </p:sp>
      <p:sp>
        <p:nvSpPr>
          <p:cNvPr id="27" name="Shape 25"/>
          <p:cNvSpPr/>
          <p:nvPr/>
        </p:nvSpPr>
        <p:spPr>
          <a:xfrm>
            <a:off x="9427464" y="4672584"/>
            <a:ext cx="201168" cy="0"/>
          </a:xfrm>
          <a:prstGeom prst="line">
            <a:avLst/>
          </a:prstGeom>
          <a:noFill/>
          <a:ln w="17780">
            <a:solidFill>
              <a:srgbClr val="00827C"/>
            </a:solidFill>
            <a:prstDash val="solid"/>
            <a:tailEnd type="triangle"/>
          </a:ln>
        </p:spPr>
      </p:sp>
      <p:sp>
        <p:nvSpPr>
          <p:cNvPr id="28" name="Shape 26"/>
          <p:cNvSpPr/>
          <p:nvPr/>
        </p:nvSpPr>
        <p:spPr>
          <a:xfrm>
            <a:off x="9665208" y="4343400"/>
            <a:ext cx="1508760" cy="658368"/>
          </a:xfrm>
          <a:prstGeom prst="roundRect">
            <a:avLst>
              <a:gd name="adj" fmla="val 11111"/>
            </a:avLst>
          </a:prstGeom>
          <a:solidFill>
            <a:srgbClr val="FFFFFF"/>
          </a:solidFill>
          <a:ln w="12700">
            <a:solidFill>
              <a:srgbClr val="E2E8F0"/>
            </a:solidFill>
            <a:prstDash val="solid"/>
          </a:ln>
        </p:spPr>
      </p:sp>
      <p:sp>
        <p:nvSpPr>
          <p:cNvPr id="29" name="Text 27"/>
          <p:cNvSpPr/>
          <p:nvPr/>
        </p:nvSpPr>
        <p:spPr>
          <a:xfrm>
            <a:off x="9738360" y="4498848"/>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Retrieve</a:t>
            </a:r>
            <a:endParaRPr lang="en-US" sz="1040" dirty="0"/>
          </a:p>
        </p:txBody>
      </p:sp>
      <p:sp>
        <p:nvSpPr>
          <p:cNvPr id="30" name="Shape 28"/>
          <p:cNvSpPr/>
          <p:nvPr/>
        </p:nvSpPr>
        <p:spPr>
          <a:xfrm>
            <a:off x="11173968" y="4672584"/>
            <a:ext cx="201168" cy="0"/>
          </a:xfrm>
          <a:prstGeom prst="line">
            <a:avLst/>
          </a:prstGeom>
          <a:noFill/>
          <a:ln w="17780">
            <a:solidFill>
              <a:srgbClr val="00827C"/>
            </a:solidFill>
            <a:prstDash val="solid"/>
            <a:tailEnd type="triangle"/>
          </a:ln>
        </p:spPr>
      </p:sp>
      <p:sp>
        <p:nvSpPr>
          <p:cNvPr id="31" name="Shape 29"/>
          <p:cNvSpPr/>
          <p:nvPr/>
        </p:nvSpPr>
        <p:spPr>
          <a:xfrm>
            <a:off x="11411712" y="4343400"/>
            <a:ext cx="1508760" cy="658368"/>
          </a:xfrm>
          <a:prstGeom prst="roundRect">
            <a:avLst>
              <a:gd name="adj" fmla="val 11111"/>
            </a:avLst>
          </a:prstGeom>
          <a:solidFill>
            <a:srgbClr val="FFFFFF"/>
          </a:solidFill>
          <a:ln w="12700">
            <a:solidFill>
              <a:srgbClr val="00827C"/>
            </a:solidFill>
            <a:prstDash val="solid"/>
          </a:ln>
        </p:spPr>
      </p:sp>
      <p:sp>
        <p:nvSpPr>
          <p:cNvPr id="32" name="Text 30"/>
          <p:cNvSpPr/>
          <p:nvPr/>
        </p:nvSpPr>
        <p:spPr>
          <a:xfrm>
            <a:off x="11484864" y="4498848"/>
            <a:ext cx="1362456" cy="256032"/>
          </a:xfrm>
          <a:prstGeom prst="rect">
            <a:avLst/>
          </a:prstGeom>
          <a:noFill/>
          <a:ln/>
        </p:spPr>
        <p:txBody>
          <a:bodyPr wrap="square" lIns="0" tIns="0" rIns="0" bIns="0" rtlCol="0" anchor="ctr">
            <a:normAutofit/>
          </a:bodyPr>
          <a:lstStyle/>
          <a:p>
            <a:pPr algn="ctr" indent="0" marL="0">
              <a:buNone/>
            </a:pPr>
            <a:r>
              <a:rPr lang="en-US" sz="1040" b="1" dirty="0">
                <a:solidFill>
                  <a:srgbClr val="07163F"/>
                </a:solidFill>
              </a:rPr>
              <a:t>LLM</a:t>
            </a:r>
            <a:endParaRPr lang="en-US" sz="1040" dirty="0"/>
          </a:p>
        </p:txBody>
      </p:sp>
      <p:sp>
        <p:nvSpPr>
          <p:cNvPr id="33" name="Text 31"/>
          <p:cNvSpPr/>
          <p:nvPr/>
        </p:nvSpPr>
        <p:spPr>
          <a:xfrm>
            <a:off x="6172200" y="5742432"/>
            <a:ext cx="1645920" cy="146304"/>
          </a:xfrm>
          <a:prstGeom prst="rect">
            <a:avLst/>
          </a:prstGeom>
          <a:noFill/>
          <a:ln/>
        </p:spPr>
        <p:txBody>
          <a:bodyPr wrap="square" lIns="0" tIns="0" rIns="0" bIns="0" rtlCol="0" anchor="ctr"/>
          <a:lstStyle/>
          <a:p>
            <a:pPr indent="0" marL="0">
              <a:buNone/>
            </a:pPr>
            <a:r>
              <a:rPr lang="en-US" sz="1150" b="1" dirty="0">
                <a:solidFill>
                  <a:srgbClr val="07163F"/>
                </a:solidFill>
              </a:rPr>
              <a:t>Best interview line</a:t>
            </a:r>
            <a:endParaRPr lang="en-US" sz="1150" dirty="0"/>
          </a:p>
        </p:txBody>
      </p:sp>
      <p:sp>
        <p:nvSpPr>
          <p:cNvPr id="34" name="Text 32"/>
          <p:cNvSpPr/>
          <p:nvPr/>
        </p:nvSpPr>
        <p:spPr>
          <a:xfrm>
            <a:off x="7452360" y="5733288"/>
            <a:ext cx="3108960" cy="164592"/>
          </a:xfrm>
          <a:prstGeom prst="rect">
            <a:avLst/>
          </a:prstGeom>
          <a:noFill/>
          <a:ln/>
        </p:spPr>
        <p:txBody>
          <a:bodyPr wrap="square" lIns="0" tIns="0" rIns="0" bIns="0" rtlCol="0" anchor="ctr"/>
          <a:lstStyle/>
          <a:p>
            <a:pPr indent="0" marL="0">
              <a:buNone/>
            </a:pPr>
            <a:r>
              <a:rPr lang="en-US" sz="1250" b="1" dirty="0">
                <a:solidFill>
                  <a:srgbClr val="00827C"/>
                </a:solidFill>
              </a:rPr>
              <a:t>“I tried to fail safely before calling the model.”</a:t>
            </a:r>
            <a:endParaRPr lang="en-US" sz="1250" dirty="0"/>
          </a:p>
        </p:txBody>
      </p:sp>
      <p:sp>
        <p:nvSpPr>
          <p:cNvPr id="36" name="Text 33"/>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09</a:t>
            </a:r>
            <a:endParaRPr lang="en-US" sz="850" dirty="0"/>
          </a:p>
        </p:txBody>
      </p:sp>
      <p:sp>
        <p:nvSpPr>
          <p:cNvPr id="37" name="Text 34"/>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Chat history design: follow-up aware, but controlled</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444752"/>
            <a:ext cx="3246120" cy="4434840"/>
          </a:xfrm>
          <a:prstGeom prst="roundRect">
            <a:avLst>
              <a:gd name="adj" fmla="val 2254"/>
            </a:avLst>
          </a:prstGeom>
          <a:solidFill>
            <a:srgbClr val="FFFFFF"/>
          </a:solidFill>
          <a:ln w="12700">
            <a:solidFill>
              <a:srgbClr val="D6E4F2"/>
            </a:solidFill>
            <a:prstDash val="solid"/>
          </a:ln>
        </p:spPr>
      </p:sp>
      <p:sp>
        <p:nvSpPr>
          <p:cNvPr id="7" name="Text 5"/>
          <p:cNvSpPr/>
          <p:nvPr/>
        </p:nvSpPr>
        <p:spPr>
          <a:xfrm>
            <a:off x="1060704" y="1755648"/>
            <a:ext cx="914400" cy="228600"/>
          </a:xfrm>
          <a:prstGeom prst="rect">
            <a:avLst/>
          </a:prstGeom>
          <a:noFill/>
          <a:ln/>
        </p:spPr>
        <p:txBody>
          <a:bodyPr wrap="square" lIns="0" tIns="0" rIns="0" bIns="0" rtlCol="0" anchor="ctr"/>
          <a:lstStyle/>
          <a:p>
            <a:pPr indent="0" marL="0">
              <a:buNone/>
            </a:pPr>
            <a:r>
              <a:rPr lang="en-US" sz="1800" b="1" dirty="0">
                <a:solidFill>
                  <a:srgbClr val="175DAD"/>
                </a:solidFill>
              </a:rPr>
              <a:t>Need</a:t>
            </a:r>
            <a:endParaRPr lang="en-US" sz="1800" dirty="0"/>
          </a:p>
        </p:txBody>
      </p:sp>
      <p:sp>
        <p:nvSpPr>
          <p:cNvPr id="8" name="Shape 6"/>
          <p:cNvSpPr/>
          <p:nvPr/>
        </p:nvSpPr>
        <p:spPr>
          <a:xfrm>
            <a:off x="1060704" y="2295144"/>
            <a:ext cx="77724" cy="77724"/>
          </a:xfrm>
          <a:prstGeom prst="ellipse">
            <a:avLst/>
          </a:prstGeom>
          <a:solidFill>
            <a:srgbClr val="175DAD"/>
          </a:solidFill>
          <a:ln w="12700">
            <a:solidFill>
              <a:srgbClr val="175DAD"/>
            </a:solidFill>
            <a:prstDash val="solid"/>
          </a:ln>
        </p:spPr>
      </p:sp>
      <p:sp>
        <p:nvSpPr>
          <p:cNvPr id="9" name="Text 7"/>
          <p:cNvSpPr/>
          <p:nvPr/>
        </p:nvSpPr>
        <p:spPr>
          <a:xfrm>
            <a:off x="1234440" y="2212848"/>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Support short follow-ups like “what about examples?”</a:t>
            </a:r>
            <a:endParaRPr lang="en-US" sz="1350" dirty="0"/>
          </a:p>
        </p:txBody>
      </p:sp>
      <p:sp>
        <p:nvSpPr>
          <p:cNvPr id="10" name="Shape 8"/>
          <p:cNvSpPr/>
          <p:nvPr/>
        </p:nvSpPr>
        <p:spPr>
          <a:xfrm>
            <a:off x="1060704" y="2770632"/>
            <a:ext cx="77724" cy="77724"/>
          </a:xfrm>
          <a:prstGeom prst="ellipse">
            <a:avLst/>
          </a:prstGeom>
          <a:solidFill>
            <a:srgbClr val="175DAD"/>
          </a:solidFill>
          <a:ln w="12700">
            <a:solidFill>
              <a:srgbClr val="175DAD"/>
            </a:solidFill>
            <a:prstDash val="solid"/>
          </a:ln>
        </p:spPr>
      </p:sp>
      <p:sp>
        <p:nvSpPr>
          <p:cNvPr id="11" name="Text 9"/>
          <p:cNvSpPr/>
          <p:nvPr/>
        </p:nvSpPr>
        <p:spPr>
          <a:xfrm>
            <a:off x="1234440" y="2688336"/>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Avoid losing context after one answer</a:t>
            </a:r>
            <a:endParaRPr lang="en-US" sz="1350" dirty="0"/>
          </a:p>
        </p:txBody>
      </p:sp>
      <p:sp>
        <p:nvSpPr>
          <p:cNvPr id="12" name="Shape 10"/>
          <p:cNvSpPr/>
          <p:nvPr/>
        </p:nvSpPr>
        <p:spPr>
          <a:xfrm>
            <a:off x="1060704" y="3246120"/>
            <a:ext cx="77724" cy="77724"/>
          </a:xfrm>
          <a:prstGeom prst="ellipse">
            <a:avLst/>
          </a:prstGeom>
          <a:solidFill>
            <a:srgbClr val="175DAD"/>
          </a:solidFill>
          <a:ln w="12700">
            <a:solidFill>
              <a:srgbClr val="175DAD"/>
            </a:solidFill>
            <a:prstDash val="solid"/>
          </a:ln>
        </p:spPr>
      </p:sp>
      <p:sp>
        <p:nvSpPr>
          <p:cNvPr id="13" name="Text 11"/>
          <p:cNvSpPr/>
          <p:nvPr/>
        </p:nvSpPr>
        <p:spPr>
          <a:xfrm>
            <a:off x="1234440" y="3163824"/>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Keep a natural Q&amp;A experience</a:t>
            </a:r>
            <a:endParaRPr lang="en-US" sz="1350" dirty="0"/>
          </a:p>
        </p:txBody>
      </p:sp>
      <p:sp>
        <p:nvSpPr>
          <p:cNvPr id="14" name="Shape 12"/>
          <p:cNvSpPr/>
          <p:nvPr/>
        </p:nvSpPr>
        <p:spPr>
          <a:xfrm>
            <a:off x="4462272" y="1444752"/>
            <a:ext cx="3246120" cy="4434840"/>
          </a:xfrm>
          <a:prstGeom prst="roundRect">
            <a:avLst>
              <a:gd name="adj" fmla="val 2254"/>
            </a:avLst>
          </a:prstGeom>
          <a:solidFill>
            <a:srgbClr val="E7F8F6"/>
          </a:solidFill>
          <a:ln w="12700">
            <a:solidFill>
              <a:srgbClr val="A7F3D0"/>
            </a:solidFill>
            <a:prstDash val="solid"/>
          </a:ln>
        </p:spPr>
      </p:sp>
      <p:sp>
        <p:nvSpPr>
          <p:cNvPr id="15" name="Text 13"/>
          <p:cNvSpPr/>
          <p:nvPr/>
        </p:nvSpPr>
        <p:spPr>
          <a:xfrm>
            <a:off x="4745736" y="1755648"/>
            <a:ext cx="1645920" cy="228600"/>
          </a:xfrm>
          <a:prstGeom prst="rect">
            <a:avLst/>
          </a:prstGeom>
          <a:noFill/>
          <a:ln/>
        </p:spPr>
        <p:txBody>
          <a:bodyPr wrap="square" lIns="0" tIns="0" rIns="0" bIns="0" rtlCol="0" anchor="ctr"/>
          <a:lstStyle/>
          <a:p>
            <a:pPr indent="0" marL="0">
              <a:buNone/>
            </a:pPr>
            <a:r>
              <a:rPr lang="en-US" sz="1800" b="1" dirty="0">
                <a:solidFill>
                  <a:srgbClr val="00827C"/>
                </a:solidFill>
              </a:rPr>
              <a:t>Design choice</a:t>
            </a:r>
            <a:endParaRPr lang="en-US" sz="1800" dirty="0"/>
          </a:p>
        </p:txBody>
      </p:sp>
      <p:sp>
        <p:nvSpPr>
          <p:cNvPr id="16" name="Shape 14"/>
          <p:cNvSpPr/>
          <p:nvPr/>
        </p:nvSpPr>
        <p:spPr>
          <a:xfrm>
            <a:off x="4745736" y="2295144"/>
            <a:ext cx="77724" cy="77724"/>
          </a:xfrm>
          <a:prstGeom prst="ellipse">
            <a:avLst/>
          </a:prstGeom>
          <a:solidFill>
            <a:srgbClr val="00827C"/>
          </a:solidFill>
          <a:ln w="12700">
            <a:solidFill>
              <a:srgbClr val="00827C"/>
            </a:solidFill>
            <a:prstDash val="solid"/>
          </a:ln>
        </p:spPr>
      </p:sp>
      <p:sp>
        <p:nvSpPr>
          <p:cNvPr id="17" name="Text 15"/>
          <p:cNvSpPr/>
          <p:nvPr/>
        </p:nvSpPr>
        <p:spPr>
          <a:xfrm>
            <a:off x="4919472" y="2212848"/>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Use recent chat context to rewrite short follow-ups</a:t>
            </a:r>
            <a:endParaRPr lang="en-US" sz="1350" dirty="0"/>
          </a:p>
        </p:txBody>
      </p:sp>
      <p:sp>
        <p:nvSpPr>
          <p:cNvPr id="18" name="Shape 16"/>
          <p:cNvSpPr/>
          <p:nvPr/>
        </p:nvSpPr>
        <p:spPr>
          <a:xfrm>
            <a:off x="4745736" y="2770632"/>
            <a:ext cx="77724" cy="77724"/>
          </a:xfrm>
          <a:prstGeom prst="ellipse">
            <a:avLst/>
          </a:prstGeom>
          <a:solidFill>
            <a:srgbClr val="00827C"/>
          </a:solidFill>
          <a:ln w="12700">
            <a:solidFill>
              <a:srgbClr val="00827C"/>
            </a:solidFill>
            <a:prstDash val="solid"/>
          </a:ln>
        </p:spPr>
      </p:sp>
      <p:sp>
        <p:nvSpPr>
          <p:cNvPr id="19" name="Text 17"/>
          <p:cNvSpPr/>
          <p:nvPr/>
        </p:nvSpPr>
        <p:spPr>
          <a:xfrm>
            <a:off x="4919472" y="2688336"/>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Still retrieve fresh chunks for the current question</a:t>
            </a:r>
            <a:endParaRPr lang="en-US" sz="1350" dirty="0"/>
          </a:p>
        </p:txBody>
      </p:sp>
      <p:sp>
        <p:nvSpPr>
          <p:cNvPr id="20" name="Shape 18"/>
          <p:cNvSpPr/>
          <p:nvPr/>
        </p:nvSpPr>
        <p:spPr>
          <a:xfrm>
            <a:off x="4745736" y="3246120"/>
            <a:ext cx="77724" cy="77724"/>
          </a:xfrm>
          <a:prstGeom prst="ellipse">
            <a:avLst/>
          </a:prstGeom>
          <a:solidFill>
            <a:srgbClr val="00827C"/>
          </a:solidFill>
          <a:ln w="12700">
            <a:solidFill>
              <a:srgbClr val="00827C"/>
            </a:solidFill>
            <a:prstDash val="solid"/>
          </a:ln>
        </p:spPr>
      </p:sp>
      <p:sp>
        <p:nvSpPr>
          <p:cNvPr id="21" name="Text 19"/>
          <p:cNvSpPr/>
          <p:nvPr/>
        </p:nvSpPr>
        <p:spPr>
          <a:xfrm>
            <a:off x="4919472" y="3163824"/>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Store session state in Streamlit</a:t>
            </a:r>
            <a:endParaRPr lang="en-US" sz="1350" dirty="0"/>
          </a:p>
        </p:txBody>
      </p:sp>
      <p:sp>
        <p:nvSpPr>
          <p:cNvPr id="22" name="Shape 20"/>
          <p:cNvSpPr/>
          <p:nvPr/>
        </p:nvSpPr>
        <p:spPr>
          <a:xfrm>
            <a:off x="8138160" y="1444752"/>
            <a:ext cx="3246120" cy="4434840"/>
          </a:xfrm>
          <a:prstGeom prst="roundRect">
            <a:avLst>
              <a:gd name="adj" fmla="val 2254"/>
            </a:avLst>
          </a:prstGeom>
          <a:solidFill>
            <a:srgbClr val="FFFFFF"/>
          </a:solidFill>
          <a:ln w="12700">
            <a:solidFill>
              <a:srgbClr val="D6E4F2"/>
            </a:solidFill>
            <a:prstDash val="solid"/>
          </a:ln>
        </p:spPr>
      </p:sp>
      <p:sp>
        <p:nvSpPr>
          <p:cNvPr id="23" name="Text 21"/>
          <p:cNvSpPr/>
          <p:nvPr/>
        </p:nvSpPr>
        <p:spPr>
          <a:xfrm>
            <a:off x="8421624" y="1755648"/>
            <a:ext cx="1188720" cy="228600"/>
          </a:xfrm>
          <a:prstGeom prst="rect">
            <a:avLst/>
          </a:prstGeom>
          <a:noFill/>
          <a:ln/>
        </p:spPr>
        <p:txBody>
          <a:bodyPr wrap="square" lIns="0" tIns="0" rIns="0" bIns="0" rtlCol="0" anchor="ctr"/>
          <a:lstStyle/>
          <a:p>
            <a:pPr indent="0" marL="0">
              <a:buNone/>
            </a:pPr>
            <a:r>
              <a:rPr lang="en-US" sz="1800" b="1" dirty="0">
                <a:solidFill>
                  <a:srgbClr val="E68A00"/>
                </a:solidFill>
              </a:rPr>
              <a:t>Tradeoff</a:t>
            </a:r>
            <a:endParaRPr lang="en-US" sz="1800" dirty="0"/>
          </a:p>
        </p:txBody>
      </p:sp>
      <p:sp>
        <p:nvSpPr>
          <p:cNvPr id="24" name="Shape 22"/>
          <p:cNvSpPr/>
          <p:nvPr/>
        </p:nvSpPr>
        <p:spPr>
          <a:xfrm>
            <a:off x="8421624" y="2295144"/>
            <a:ext cx="77724" cy="77724"/>
          </a:xfrm>
          <a:prstGeom prst="ellipse">
            <a:avLst/>
          </a:prstGeom>
          <a:solidFill>
            <a:srgbClr val="E68A00"/>
          </a:solidFill>
          <a:ln w="12700">
            <a:solidFill>
              <a:srgbClr val="E68A00"/>
            </a:solidFill>
            <a:prstDash val="solid"/>
          </a:ln>
        </p:spPr>
      </p:sp>
      <p:sp>
        <p:nvSpPr>
          <p:cNvPr id="25" name="Text 23"/>
          <p:cNvSpPr/>
          <p:nvPr/>
        </p:nvSpPr>
        <p:spPr>
          <a:xfrm>
            <a:off x="8595360" y="2212848"/>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Too much history can dilute retrieval intent</a:t>
            </a:r>
            <a:endParaRPr lang="en-US" sz="1350" dirty="0"/>
          </a:p>
        </p:txBody>
      </p:sp>
      <p:sp>
        <p:nvSpPr>
          <p:cNvPr id="26" name="Shape 24"/>
          <p:cNvSpPr/>
          <p:nvPr/>
        </p:nvSpPr>
        <p:spPr>
          <a:xfrm>
            <a:off x="8421624" y="2770632"/>
            <a:ext cx="77724" cy="77724"/>
          </a:xfrm>
          <a:prstGeom prst="ellipse">
            <a:avLst/>
          </a:prstGeom>
          <a:solidFill>
            <a:srgbClr val="E68A00"/>
          </a:solidFill>
          <a:ln w="12700">
            <a:solidFill>
              <a:srgbClr val="E68A00"/>
            </a:solidFill>
            <a:prstDash val="solid"/>
          </a:ln>
        </p:spPr>
      </p:sp>
      <p:sp>
        <p:nvSpPr>
          <p:cNvPr id="27" name="Text 25"/>
          <p:cNvSpPr/>
          <p:nvPr/>
        </p:nvSpPr>
        <p:spPr>
          <a:xfrm>
            <a:off x="8595360" y="2688336"/>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Too little history makes follow-ups weak</a:t>
            </a:r>
            <a:endParaRPr lang="en-US" sz="1350" dirty="0"/>
          </a:p>
        </p:txBody>
      </p:sp>
      <p:sp>
        <p:nvSpPr>
          <p:cNvPr id="28" name="Shape 26"/>
          <p:cNvSpPr/>
          <p:nvPr/>
        </p:nvSpPr>
        <p:spPr>
          <a:xfrm>
            <a:off x="8421624" y="3246120"/>
            <a:ext cx="77724" cy="77724"/>
          </a:xfrm>
          <a:prstGeom prst="ellipse">
            <a:avLst/>
          </a:prstGeom>
          <a:solidFill>
            <a:srgbClr val="E68A00"/>
          </a:solidFill>
          <a:ln w="12700">
            <a:solidFill>
              <a:srgbClr val="E68A00"/>
            </a:solidFill>
            <a:prstDash val="solid"/>
          </a:ln>
        </p:spPr>
      </p:sp>
      <p:sp>
        <p:nvSpPr>
          <p:cNvPr id="29" name="Text 27"/>
          <p:cNvSpPr/>
          <p:nvPr/>
        </p:nvSpPr>
        <p:spPr>
          <a:xfrm>
            <a:off x="8595360" y="3163824"/>
            <a:ext cx="247802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I kept history lightweight and query-focused</a:t>
            </a:r>
            <a:endParaRPr lang="en-US" sz="1350" dirty="0"/>
          </a:p>
        </p:txBody>
      </p:sp>
      <p:sp>
        <p:nvSpPr>
          <p:cNvPr id="30" name="Shape 28"/>
          <p:cNvSpPr/>
          <p:nvPr/>
        </p:nvSpPr>
        <p:spPr>
          <a:xfrm>
            <a:off x="1874520" y="6053328"/>
            <a:ext cx="8412480" cy="320040"/>
          </a:xfrm>
          <a:prstGeom prst="roundRect">
            <a:avLst>
              <a:gd name="adj" fmla="val 22857"/>
            </a:avLst>
          </a:prstGeom>
          <a:solidFill>
            <a:srgbClr val="FFFFFF"/>
          </a:solidFill>
          <a:ln w="12700">
            <a:solidFill>
              <a:srgbClr val="CFE1F0"/>
            </a:solidFill>
            <a:prstDash val="solid"/>
          </a:ln>
        </p:spPr>
      </p:sp>
      <p:sp>
        <p:nvSpPr>
          <p:cNvPr id="31" name="Text 29"/>
          <p:cNvSpPr/>
          <p:nvPr/>
        </p:nvSpPr>
        <p:spPr>
          <a:xfrm>
            <a:off x="2103120" y="6153912"/>
            <a:ext cx="7955280" cy="91440"/>
          </a:xfrm>
          <a:prstGeom prst="rect">
            <a:avLst/>
          </a:prstGeom>
          <a:noFill/>
          <a:ln/>
        </p:spPr>
        <p:txBody>
          <a:bodyPr wrap="square" lIns="0" tIns="0" rIns="0" bIns="0" rtlCol="0" anchor="ctr">
            <a:normAutofit/>
          </a:bodyPr>
          <a:lstStyle/>
          <a:p>
            <a:pPr algn="ctr" indent="0" marL="0">
              <a:buNone/>
            </a:pPr>
            <a:r>
              <a:rPr lang="en-US" sz="1170" b="1" dirty="0">
                <a:solidFill>
                  <a:srgbClr val="00827C"/>
                </a:solidFill>
              </a:rPr>
              <a:t>Principle: use history to clarify the query, not to replace retrieval.</a:t>
            </a:r>
            <a:endParaRPr lang="en-US" sz="1170" dirty="0"/>
          </a:p>
        </p:txBody>
      </p:sp>
      <p:sp>
        <p:nvSpPr>
          <p:cNvPr id="33" name="Text 30"/>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10</a:t>
            </a:r>
            <a:endParaRPr lang="en-US" sz="850" dirty="0"/>
          </a:p>
        </p:txBody>
      </p:sp>
      <p:sp>
        <p:nvSpPr>
          <p:cNvPr id="34" name="Text 31"/>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Evaluation methodology: Recall@k and answer similarity</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822960" y="1463040"/>
            <a:ext cx="4800600" cy="4526280"/>
          </a:xfrm>
          <a:prstGeom prst="roundRect">
            <a:avLst>
              <a:gd name="adj" fmla="val 1616"/>
            </a:avLst>
          </a:prstGeom>
          <a:solidFill>
            <a:srgbClr val="FFFFFF"/>
          </a:solidFill>
          <a:ln w="12700">
            <a:solidFill>
              <a:srgbClr val="D6E4F2"/>
            </a:solidFill>
            <a:prstDash val="solid"/>
          </a:ln>
        </p:spPr>
      </p:sp>
      <p:sp>
        <p:nvSpPr>
          <p:cNvPr id="7" name="Text 5"/>
          <p:cNvSpPr/>
          <p:nvPr/>
        </p:nvSpPr>
        <p:spPr>
          <a:xfrm>
            <a:off x="1097280" y="1783080"/>
            <a:ext cx="1645920" cy="475488"/>
          </a:xfrm>
          <a:prstGeom prst="rect">
            <a:avLst/>
          </a:prstGeom>
          <a:noFill/>
          <a:ln/>
        </p:spPr>
        <p:txBody>
          <a:bodyPr wrap="square" lIns="0" tIns="0" rIns="0" bIns="0" rtlCol="0" anchor="ctr">
            <a:normAutofit/>
          </a:bodyPr>
          <a:lstStyle/>
          <a:p>
            <a:pPr algn="ctr" indent="0" marL="0">
              <a:buNone/>
            </a:pPr>
            <a:r>
              <a:rPr lang="en-US" sz="3000" b="1" dirty="0">
                <a:solidFill>
                  <a:srgbClr val="00827C"/>
                </a:solidFill>
              </a:rPr>
              <a:t>15</a:t>
            </a:r>
            <a:endParaRPr lang="en-US" sz="3000" dirty="0"/>
          </a:p>
        </p:txBody>
      </p:sp>
      <p:sp>
        <p:nvSpPr>
          <p:cNvPr id="8" name="Text 6"/>
          <p:cNvSpPr/>
          <p:nvPr/>
        </p:nvSpPr>
        <p:spPr>
          <a:xfrm>
            <a:off x="1097280" y="2295144"/>
            <a:ext cx="1645920" cy="320040"/>
          </a:xfrm>
          <a:prstGeom prst="rect">
            <a:avLst/>
          </a:prstGeom>
          <a:noFill/>
          <a:ln/>
        </p:spPr>
        <p:txBody>
          <a:bodyPr wrap="square" lIns="0" tIns="0" rIns="0" bIns="0" rtlCol="0" anchor="ctr">
            <a:normAutofit/>
          </a:bodyPr>
          <a:lstStyle/>
          <a:p>
            <a:pPr algn="ctr" indent="0" marL="0">
              <a:buNone/>
            </a:pPr>
            <a:r>
              <a:rPr lang="en-US" sz="1150" b="1" dirty="0">
                <a:solidFill>
                  <a:srgbClr val="4B5563"/>
                </a:solidFill>
              </a:rPr>
              <a:t>Curated QA questions</a:t>
            </a:r>
            <a:endParaRPr lang="en-US" sz="1150" dirty="0"/>
          </a:p>
        </p:txBody>
      </p:sp>
      <p:sp>
        <p:nvSpPr>
          <p:cNvPr id="9" name="Text 7"/>
          <p:cNvSpPr/>
          <p:nvPr/>
        </p:nvSpPr>
        <p:spPr>
          <a:xfrm>
            <a:off x="1097280" y="2926080"/>
            <a:ext cx="4023360" cy="640080"/>
          </a:xfrm>
          <a:prstGeom prst="rect">
            <a:avLst/>
          </a:prstGeom>
          <a:noFill/>
          <a:ln/>
        </p:spPr>
        <p:txBody>
          <a:bodyPr wrap="square" lIns="0" tIns="0" rIns="0" bIns="0" rtlCol="0" anchor="ctr">
            <a:normAutofit/>
          </a:bodyPr>
          <a:lstStyle/>
          <a:p>
            <a:pPr indent="0" marL="0">
              <a:buNone/>
            </a:pPr>
            <a:r>
              <a:rPr lang="en-US" sz="1520" dirty="0">
                <a:solidFill>
                  <a:srgbClr val="111827"/>
                </a:solidFill>
              </a:rPr>
              <a:t>I created a small QA dataset with expected relevant PostgreSQL source IDs so retrieval quality could be measured instead of guessed.</a:t>
            </a:r>
            <a:endParaRPr lang="en-US" sz="1520" dirty="0"/>
          </a:p>
        </p:txBody>
      </p:sp>
      <p:sp>
        <p:nvSpPr>
          <p:cNvPr id="10" name="Shape 8"/>
          <p:cNvSpPr/>
          <p:nvPr/>
        </p:nvSpPr>
        <p:spPr>
          <a:xfrm>
            <a:off x="1097280" y="4059936"/>
            <a:ext cx="77724" cy="77724"/>
          </a:xfrm>
          <a:prstGeom prst="ellipse">
            <a:avLst/>
          </a:prstGeom>
          <a:solidFill>
            <a:srgbClr val="00827C"/>
          </a:solidFill>
          <a:ln w="12700">
            <a:solidFill>
              <a:srgbClr val="00827C"/>
            </a:solidFill>
            <a:prstDash val="solid"/>
          </a:ln>
        </p:spPr>
      </p:sp>
      <p:sp>
        <p:nvSpPr>
          <p:cNvPr id="11" name="Text 9"/>
          <p:cNvSpPr/>
          <p:nvPr/>
        </p:nvSpPr>
        <p:spPr>
          <a:xfrm>
            <a:off x="1271016" y="3977640"/>
            <a:ext cx="3849624" cy="265176"/>
          </a:xfrm>
          <a:prstGeom prst="rect">
            <a:avLst/>
          </a:prstGeom>
          <a:noFill/>
          <a:ln/>
        </p:spPr>
        <p:txBody>
          <a:bodyPr wrap="square" lIns="0" tIns="0" rIns="0" bIns="0" rtlCol="0" anchor="ctr">
            <a:normAutofit/>
          </a:bodyPr>
          <a:lstStyle/>
          <a:p>
            <a:pPr indent="0" marL="0">
              <a:buNone/>
            </a:pPr>
            <a:r>
              <a:rPr lang="en-US" sz="1330" dirty="0">
                <a:solidFill>
                  <a:srgbClr val="111827"/>
                </a:solidFill>
              </a:rPr>
              <a:t>Recall@5 / Recall@10: did the retriever find the expected sources?</a:t>
            </a:r>
            <a:endParaRPr lang="en-US" sz="1330" dirty="0"/>
          </a:p>
        </p:txBody>
      </p:sp>
      <p:sp>
        <p:nvSpPr>
          <p:cNvPr id="12" name="Shape 10"/>
          <p:cNvSpPr/>
          <p:nvPr/>
        </p:nvSpPr>
        <p:spPr>
          <a:xfrm>
            <a:off x="1097280" y="4471416"/>
            <a:ext cx="77724" cy="77724"/>
          </a:xfrm>
          <a:prstGeom prst="ellipse">
            <a:avLst/>
          </a:prstGeom>
          <a:solidFill>
            <a:srgbClr val="00827C"/>
          </a:solidFill>
          <a:ln w="12700">
            <a:solidFill>
              <a:srgbClr val="00827C"/>
            </a:solidFill>
            <a:prstDash val="solid"/>
          </a:ln>
        </p:spPr>
      </p:sp>
      <p:sp>
        <p:nvSpPr>
          <p:cNvPr id="13" name="Text 11"/>
          <p:cNvSpPr/>
          <p:nvPr/>
        </p:nvSpPr>
        <p:spPr>
          <a:xfrm>
            <a:off x="1271016" y="4389120"/>
            <a:ext cx="3849624" cy="265176"/>
          </a:xfrm>
          <a:prstGeom prst="rect">
            <a:avLst/>
          </a:prstGeom>
          <a:noFill/>
          <a:ln/>
        </p:spPr>
        <p:txBody>
          <a:bodyPr wrap="square" lIns="0" tIns="0" rIns="0" bIns="0" rtlCol="0" anchor="ctr">
            <a:normAutofit/>
          </a:bodyPr>
          <a:lstStyle/>
          <a:p>
            <a:pPr indent="0" marL="0">
              <a:buNone/>
            </a:pPr>
            <a:r>
              <a:rPr lang="en-US" sz="1330" dirty="0">
                <a:solidFill>
                  <a:srgbClr val="111827"/>
                </a:solidFill>
              </a:rPr>
              <a:t>Answer similarity: is the generated answer close to reference wording?</a:t>
            </a:r>
            <a:endParaRPr lang="en-US" sz="1330" dirty="0"/>
          </a:p>
        </p:txBody>
      </p:sp>
      <p:sp>
        <p:nvSpPr>
          <p:cNvPr id="14" name="Shape 12"/>
          <p:cNvSpPr/>
          <p:nvPr/>
        </p:nvSpPr>
        <p:spPr>
          <a:xfrm>
            <a:off x="1097280" y="4882896"/>
            <a:ext cx="77724" cy="77724"/>
          </a:xfrm>
          <a:prstGeom prst="ellipse">
            <a:avLst/>
          </a:prstGeom>
          <a:solidFill>
            <a:srgbClr val="00827C"/>
          </a:solidFill>
          <a:ln w="12700">
            <a:solidFill>
              <a:srgbClr val="00827C"/>
            </a:solidFill>
            <a:prstDash val="solid"/>
          </a:ln>
        </p:spPr>
      </p:sp>
      <p:sp>
        <p:nvSpPr>
          <p:cNvPr id="15" name="Text 13"/>
          <p:cNvSpPr/>
          <p:nvPr/>
        </p:nvSpPr>
        <p:spPr>
          <a:xfrm>
            <a:off x="1271016" y="4800600"/>
            <a:ext cx="3849624" cy="265176"/>
          </a:xfrm>
          <a:prstGeom prst="rect">
            <a:avLst/>
          </a:prstGeom>
          <a:noFill/>
          <a:ln/>
        </p:spPr>
        <p:txBody>
          <a:bodyPr wrap="square" lIns="0" tIns="0" rIns="0" bIns="0" rtlCol="0" anchor="ctr">
            <a:normAutofit/>
          </a:bodyPr>
          <a:lstStyle/>
          <a:p>
            <a:pPr indent="0" marL="0">
              <a:buNone/>
            </a:pPr>
            <a:r>
              <a:rPr lang="en-US" sz="1330" dirty="0">
                <a:solidFill>
                  <a:srgbClr val="111827"/>
                </a:solidFill>
              </a:rPr>
              <a:t>CSV outputs: easy to compare across changes</a:t>
            </a:r>
            <a:endParaRPr lang="en-US" sz="1330" dirty="0"/>
          </a:p>
        </p:txBody>
      </p:sp>
      <p:sp>
        <p:nvSpPr>
          <p:cNvPr id="16" name="Shape 14"/>
          <p:cNvSpPr/>
          <p:nvPr/>
        </p:nvSpPr>
        <p:spPr>
          <a:xfrm>
            <a:off x="6172200" y="1463040"/>
            <a:ext cx="4892040" cy="4526280"/>
          </a:xfrm>
          <a:prstGeom prst="roundRect">
            <a:avLst>
              <a:gd name="adj" fmla="val 1616"/>
            </a:avLst>
          </a:prstGeom>
          <a:solidFill>
            <a:srgbClr val="E7F8F6"/>
          </a:solidFill>
          <a:ln w="12700">
            <a:solidFill>
              <a:srgbClr val="A7F3D0"/>
            </a:solidFill>
            <a:prstDash val="solid"/>
          </a:ln>
        </p:spPr>
      </p:sp>
      <p:sp>
        <p:nvSpPr>
          <p:cNvPr id="17" name="Text 15"/>
          <p:cNvSpPr/>
          <p:nvPr/>
        </p:nvSpPr>
        <p:spPr>
          <a:xfrm>
            <a:off x="6473952" y="1783080"/>
            <a:ext cx="2377440" cy="237744"/>
          </a:xfrm>
          <a:prstGeom prst="rect">
            <a:avLst/>
          </a:prstGeom>
          <a:noFill/>
          <a:ln/>
        </p:spPr>
        <p:txBody>
          <a:bodyPr wrap="square" lIns="0" tIns="0" rIns="0" bIns="0" rtlCol="0" anchor="ctr"/>
          <a:lstStyle/>
          <a:p>
            <a:pPr indent="0" marL="0">
              <a:buNone/>
            </a:pPr>
            <a:r>
              <a:rPr lang="en-US" sz="1800" b="1" dirty="0">
                <a:solidFill>
                  <a:srgbClr val="07163F"/>
                </a:solidFill>
              </a:rPr>
              <a:t>Why these metrics?</a:t>
            </a:r>
            <a:endParaRPr lang="en-US" sz="1800" dirty="0"/>
          </a:p>
        </p:txBody>
      </p:sp>
      <p:sp>
        <p:nvSpPr>
          <p:cNvPr id="18" name="Text 16"/>
          <p:cNvSpPr/>
          <p:nvPr/>
        </p:nvSpPr>
        <p:spPr>
          <a:xfrm>
            <a:off x="6473952" y="2176272"/>
            <a:ext cx="3474720" cy="201168"/>
          </a:xfrm>
          <a:prstGeom prst="rect">
            <a:avLst/>
          </a:prstGeom>
          <a:noFill/>
          <a:ln/>
        </p:spPr>
        <p:txBody>
          <a:bodyPr wrap="square" lIns="0" tIns="0" rIns="0" bIns="0" rtlCol="0" anchor="ctr"/>
          <a:lstStyle/>
          <a:p>
            <a:pPr indent="0" marL="0">
              <a:buNone/>
            </a:pPr>
            <a:r>
              <a:rPr lang="en-US" sz="1450" dirty="0">
                <a:solidFill>
                  <a:srgbClr val="4B5563"/>
                </a:solidFill>
              </a:rPr>
              <a:t>They measure the two biggest RAG risks:</a:t>
            </a:r>
            <a:endParaRPr lang="en-US" sz="1450" dirty="0"/>
          </a:p>
        </p:txBody>
      </p:sp>
      <p:sp>
        <p:nvSpPr>
          <p:cNvPr id="19" name="Shape 17"/>
          <p:cNvSpPr/>
          <p:nvPr/>
        </p:nvSpPr>
        <p:spPr>
          <a:xfrm>
            <a:off x="6492240" y="2697480"/>
            <a:ext cx="3977640" cy="749808"/>
          </a:xfrm>
          <a:prstGeom prst="roundRect">
            <a:avLst>
              <a:gd name="adj" fmla="val 9756"/>
            </a:avLst>
          </a:prstGeom>
          <a:solidFill>
            <a:srgbClr val="FFFFFF"/>
          </a:solidFill>
          <a:ln w="12700">
            <a:solidFill>
              <a:srgbClr val="CFE1F0"/>
            </a:solidFill>
            <a:prstDash val="solid"/>
          </a:ln>
        </p:spPr>
      </p:sp>
      <p:sp>
        <p:nvSpPr>
          <p:cNvPr id="20" name="Text 18"/>
          <p:cNvSpPr/>
          <p:nvPr/>
        </p:nvSpPr>
        <p:spPr>
          <a:xfrm>
            <a:off x="6748272" y="2926080"/>
            <a:ext cx="3474720" cy="146304"/>
          </a:xfrm>
          <a:prstGeom prst="rect">
            <a:avLst/>
          </a:prstGeom>
          <a:noFill/>
          <a:ln/>
        </p:spPr>
        <p:txBody>
          <a:bodyPr wrap="square" lIns="0" tIns="0" rIns="0" bIns="0" rtlCol="0" anchor="ctr"/>
          <a:lstStyle/>
          <a:p>
            <a:pPr indent="0" marL="0">
              <a:buNone/>
            </a:pPr>
            <a:r>
              <a:rPr lang="en-US" sz="1420" b="1" dirty="0">
                <a:solidFill>
                  <a:srgbClr val="07163F"/>
                </a:solidFill>
              </a:rPr>
              <a:t>1. Missing the right context</a:t>
            </a:r>
            <a:endParaRPr lang="en-US" sz="1420" dirty="0"/>
          </a:p>
        </p:txBody>
      </p:sp>
      <p:sp>
        <p:nvSpPr>
          <p:cNvPr id="21" name="Shape 19"/>
          <p:cNvSpPr/>
          <p:nvPr/>
        </p:nvSpPr>
        <p:spPr>
          <a:xfrm>
            <a:off x="6492240" y="3703320"/>
            <a:ext cx="3977640" cy="749808"/>
          </a:xfrm>
          <a:prstGeom prst="roundRect">
            <a:avLst>
              <a:gd name="adj" fmla="val 9756"/>
            </a:avLst>
          </a:prstGeom>
          <a:solidFill>
            <a:srgbClr val="FFFFFF"/>
          </a:solidFill>
          <a:ln w="12700">
            <a:solidFill>
              <a:srgbClr val="CFE1F0"/>
            </a:solidFill>
            <a:prstDash val="solid"/>
          </a:ln>
        </p:spPr>
      </p:sp>
      <p:sp>
        <p:nvSpPr>
          <p:cNvPr id="22" name="Text 20"/>
          <p:cNvSpPr/>
          <p:nvPr/>
        </p:nvSpPr>
        <p:spPr>
          <a:xfrm>
            <a:off x="6748272" y="3931920"/>
            <a:ext cx="3474720" cy="146304"/>
          </a:xfrm>
          <a:prstGeom prst="rect">
            <a:avLst/>
          </a:prstGeom>
          <a:noFill/>
          <a:ln/>
        </p:spPr>
        <p:txBody>
          <a:bodyPr wrap="square" lIns="0" tIns="0" rIns="0" bIns="0" rtlCol="0" anchor="ctr"/>
          <a:lstStyle/>
          <a:p>
            <a:pPr indent="0" marL="0">
              <a:buNone/>
            </a:pPr>
            <a:r>
              <a:rPr lang="en-US" sz="1420" b="1" dirty="0">
                <a:solidFill>
                  <a:srgbClr val="07163F"/>
                </a:solidFill>
              </a:rPr>
              <a:t>2. Producing a weak answer</a:t>
            </a:r>
            <a:endParaRPr lang="en-US" sz="1420" dirty="0"/>
          </a:p>
        </p:txBody>
      </p:sp>
      <p:sp>
        <p:nvSpPr>
          <p:cNvPr id="23" name="Text 21"/>
          <p:cNvSpPr/>
          <p:nvPr/>
        </p:nvSpPr>
        <p:spPr>
          <a:xfrm>
            <a:off x="6473952" y="5074920"/>
            <a:ext cx="3749040" cy="256032"/>
          </a:xfrm>
          <a:prstGeom prst="rect">
            <a:avLst/>
          </a:prstGeom>
          <a:noFill/>
          <a:ln/>
        </p:spPr>
        <p:txBody>
          <a:bodyPr wrap="square" lIns="0" tIns="0" rIns="0" bIns="0" rtlCol="0" anchor="ctr"/>
          <a:lstStyle/>
          <a:p>
            <a:pPr indent="0" marL="0">
              <a:buNone/>
            </a:pPr>
            <a:r>
              <a:rPr lang="en-US" sz="1650" b="1" dirty="0">
                <a:solidFill>
                  <a:srgbClr val="00827C"/>
                </a:solidFill>
              </a:rPr>
              <a:t>This made optimization evidence-based.</a:t>
            </a:r>
            <a:endParaRPr lang="en-US" sz="1650" dirty="0"/>
          </a:p>
        </p:txBody>
      </p:sp>
      <p:sp>
        <p:nvSpPr>
          <p:cNvPr id="25" name="Text 22"/>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11</a:t>
            </a:r>
            <a:endParaRPr lang="en-US" sz="850" dirty="0"/>
          </a:p>
        </p:txBody>
      </p:sp>
      <p:sp>
        <p:nvSpPr>
          <p:cNvPr id="26" name="Text 23"/>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Chunk size ablation: why 400 words won</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49808" y="1481328"/>
            <a:ext cx="1234440" cy="502920"/>
          </a:xfrm>
          <a:prstGeom prst="rect">
            <a:avLst/>
          </a:prstGeom>
          <a:solidFill>
            <a:srgbClr val="07163F"/>
          </a:solidFill>
          <a:ln w="6350">
            <a:solidFill>
              <a:srgbClr val="CBD5E1"/>
            </a:solidFill>
            <a:prstDash val="solid"/>
          </a:ln>
        </p:spPr>
      </p:sp>
      <p:sp>
        <p:nvSpPr>
          <p:cNvPr id="7" name="Text 5"/>
          <p:cNvSpPr/>
          <p:nvPr/>
        </p:nvSpPr>
        <p:spPr>
          <a:xfrm>
            <a:off x="804672" y="1572768"/>
            <a:ext cx="1124712" cy="3566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Chunk size</a:t>
            </a:r>
            <a:endParaRPr lang="en-US" sz="950" dirty="0"/>
          </a:p>
        </p:txBody>
      </p:sp>
      <p:sp>
        <p:nvSpPr>
          <p:cNvPr id="8" name="Shape 6"/>
          <p:cNvSpPr/>
          <p:nvPr/>
        </p:nvSpPr>
        <p:spPr>
          <a:xfrm>
            <a:off x="1984248" y="1481328"/>
            <a:ext cx="1143000" cy="502920"/>
          </a:xfrm>
          <a:prstGeom prst="rect">
            <a:avLst/>
          </a:prstGeom>
          <a:solidFill>
            <a:srgbClr val="07163F"/>
          </a:solidFill>
          <a:ln w="6350">
            <a:solidFill>
              <a:srgbClr val="CBD5E1"/>
            </a:solidFill>
            <a:prstDash val="solid"/>
          </a:ln>
        </p:spPr>
      </p:sp>
      <p:sp>
        <p:nvSpPr>
          <p:cNvPr id="9" name="Text 7"/>
          <p:cNvSpPr/>
          <p:nvPr/>
        </p:nvSpPr>
        <p:spPr>
          <a:xfrm>
            <a:off x="2039112" y="1572768"/>
            <a:ext cx="1033272" cy="3566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Overlap</a:t>
            </a:r>
            <a:endParaRPr lang="en-US" sz="950" dirty="0"/>
          </a:p>
        </p:txBody>
      </p:sp>
      <p:sp>
        <p:nvSpPr>
          <p:cNvPr id="10" name="Shape 8"/>
          <p:cNvSpPr/>
          <p:nvPr/>
        </p:nvSpPr>
        <p:spPr>
          <a:xfrm>
            <a:off x="3127248" y="1481328"/>
            <a:ext cx="1143000" cy="502920"/>
          </a:xfrm>
          <a:prstGeom prst="rect">
            <a:avLst/>
          </a:prstGeom>
          <a:solidFill>
            <a:srgbClr val="07163F"/>
          </a:solidFill>
          <a:ln w="6350">
            <a:solidFill>
              <a:srgbClr val="CBD5E1"/>
            </a:solidFill>
            <a:prstDash val="solid"/>
          </a:ln>
        </p:spPr>
      </p:sp>
      <p:sp>
        <p:nvSpPr>
          <p:cNvPr id="11" name="Text 9"/>
          <p:cNvSpPr/>
          <p:nvPr/>
        </p:nvSpPr>
        <p:spPr>
          <a:xfrm>
            <a:off x="3182112" y="1572768"/>
            <a:ext cx="1033272" cy="3566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Chunks</a:t>
            </a:r>
            <a:endParaRPr lang="en-US" sz="950" dirty="0"/>
          </a:p>
        </p:txBody>
      </p:sp>
      <p:sp>
        <p:nvSpPr>
          <p:cNvPr id="12" name="Shape 10"/>
          <p:cNvSpPr/>
          <p:nvPr/>
        </p:nvSpPr>
        <p:spPr>
          <a:xfrm>
            <a:off x="4270248" y="1481328"/>
            <a:ext cx="1691640" cy="502920"/>
          </a:xfrm>
          <a:prstGeom prst="rect">
            <a:avLst/>
          </a:prstGeom>
          <a:solidFill>
            <a:srgbClr val="07163F"/>
          </a:solidFill>
          <a:ln w="6350">
            <a:solidFill>
              <a:srgbClr val="CBD5E1"/>
            </a:solidFill>
            <a:prstDash val="solid"/>
          </a:ln>
        </p:spPr>
      </p:sp>
      <p:sp>
        <p:nvSpPr>
          <p:cNvPr id="13" name="Text 11"/>
          <p:cNvSpPr/>
          <p:nvPr/>
        </p:nvSpPr>
        <p:spPr>
          <a:xfrm>
            <a:off x="4325112" y="1572768"/>
            <a:ext cx="1581912" cy="3566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Mean Recall@5</a:t>
            </a:r>
            <a:endParaRPr lang="en-US" sz="950" dirty="0"/>
          </a:p>
        </p:txBody>
      </p:sp>
      <p:sp>
        <p:nvSpPr>
          <p:cNvPr id="14" name="Shape 12"/>
          <p:cNvSpPr/>
          <p:nvPr/>
        </p:nvSpPr>
        <p:spPr>
          <a:xfrm>
            <a:off x="749808" y="1984248"/>
            <a:ext cx="1234440" cy="502920"/>
          </a:xfrm>
          <a:prstGeom prst="rect">
            <a:avLst/>
          </a:prstGeom>
          <a:solidFill>
            <a:srgbClr val="FFFFFF"/>
          </a:solidFill>
          <a:ln w="5080">
            <a:solidFill>
              <a:srgbClr val="CBD5E1"/>
            </a:solidFill>
            <a:prstDash val="solid"/>
          </a:ln>
        </p:spPr>
      </p:sp>
      <p:sp>
        <p:nvSpPr>
          <p:cNvPr id="15" name="Text 13"/>
          <p:cNvSpPr/>
          <p:nvPr/>
        </p:nvSpPr>
        <p:spPr>
          <a:xfrm>
            <a:off x="804672" y="2075688"/>
            <a:ext cx="1124712" cy="356616"/>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200</a:t>
            </a:r>
            <a:endParaRPr lang="en-US" sz="940" dirty="0"/>
          </a:p>
        </p:txBody>
      </p:sp>
      <p:sp>
        <p:nvSpPr>
          <p:cNvPr id="16" name="Shape 14"/>
          <p:cNvSpPr/>
          <p:nvPr/>
        </p:nvSpPr>
        <p:spPr>
          <a:xfrm>
            <a:off x="1984248" y="1984248"/>
            <a:ext cx="1143000" cy="502920"/>
          </a:xfrm>
          <a:prstGeom prst="rect">
            <a:avLst/>
          </a:prstGeom>
          <a:solidFill>
            <a:srgbClr val="FFFFFF"/>
          </a:solidFill>
          <a:ln w="5080">
            <a:solidFill>
              <a:srgbClr val="CBD5E1"/>
            </a:solidFill>
            <a:prstDash val="solid"/>
          </a:ln>
        </p:spPr>
      </p:sp>
      <p:sp>
        <p:nvSpPr>
          <p:cNvPr id="17" name="Text 15"/>
          <p:cNvSpPr/>
          <p:nvPr/>
        </p:nvSpPr>
        <p:spPr>
          <a:xfrm>
            <a:off x="2039112" y="207568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40</a:t>
            </a:r>
            <a:endParaRPr lang="en-US" sz="940" dirty="0"/>
          </a:p>
        </p:txBody>
      </p:sp>
      <p:sp>
        <p:nvSpPr>
          <p:cNvPr id="18" name="Shape 16"/>
          <p:cNvSpPr/>
          <p:nvPr/>
        </p:nvSpPr>
        <p:spPr>
          <a:xfrm>
            <a:off x="3127248" y="1984248"/>
            <a:ext cx="1143000" cy="502920"/>
          </a:xfrm>
          <a:prstGeom prst="rect">
            <a:avLst/>
          </a:prstGeom>
          <a:solidFill>
            <a:srgbClr val="FFFFFF"/>
          </a:solidFill>
          <a:ln w="5080">
            <a:solidFill>
              <a:srgbClr val="CBD5E1"/>
            </a:solidFill>
            <a:prstDash val="solid"/>
          </a:ln>
        </p:spPr>
      </p:sp>
      <p:sp>
        <p:nvSpPr>
          <p:cNvPr id="19" name="Text 17"/>
          <p:cNvSpPr/>
          <p:nvPr/>
        </p:nvSpPr>
        <p:spPr>
          <a:xfrm>
            <a:off x="3182112" y="207568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473</a:t>
            </a:r>
            <a:endParaRPr lang="en-US" sz="940" dirty="0"/>
          </a:p>
        </p:txBody>
      </p:sp>
      <p:sp>
        <p:nvSpPr>
          <p:cNvPr id="20" name="Shape 18"/>
          <p:cNvSpPr/>
          <p:nvPr/>
        </p:nvSpPr>
        <p:spPr>
          <a:xfrm>
            <a:off x="4270248" y="1984248"/>
            <a:ext cx="1691640" cy="502920"/>
          </a:xfrm>
          <a:prstGeom prst="rect">
            <a:avLst/>
          </a:prstGeom>
          <a:solidFill>
            <a:srgbClr val="FFFFFF"/>
          </a:solidFill>
          <a:ln w="5080">
            <a:solidFill>
              <a:srgbClr val="CBD5E1"/>
            </a:solidFill>
            <a:prstDash val="solid"/>
          </a:ln>
        </p:spPr>
      </p:sp>
      <p:sp>
        <p:nvSpPr>
          <p:cNvPr id="21" name="Text 19"/>
          <p:cNvSpPr/>
          <p:nvPr/>
        </p:nvSpPr>
        <p:spPr>
          <a:xfrm>
            <a:off x="4325112" y="2075688"/>
            <a:ext cx="158191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0.911</a:t>
            </a:r>
            <a:endParaRPr lang="en-US" sz="940" dirty="0"/>
          </a:p>
        </p:txBody>
      </p:sp>
      <p:sp>
        <p:nvSpPr>
          <p:cNvPr id="22" name="Shape 20"/>
          <p:cNvSpPr/>
          <p:nvPr/>
        </p:nvSpPr>
        <p:spPr>
          <a:xfrm>
            <a:off x="749808" y="2487168"/>
            <a:ext cx="1234440" cy="502920"/>
          </a:xfrm>
          <a:prstGeom prst="rect">
            <a:avLst/>
          </a:prstGeom>
          <a:solidFill>
            <a:srgbClr val="F1F5F9"/>
          </a:solidFill>
          <a:ln w="5080">
            <a:solidFill>
              <a:srgbClr val="CBD5E1"/>
            </a:solidFill>
            <a:prstDash val="solid"/>
          </a:ln>
        </p:spPr>
      </p:sp>
      <p:sp>
        <p:nvSpPr>
          <p:cNvPr id="23" name="Text 21"/>
          <p:cNvSpPr/>
          <p:nvPr/>
        </p:nvSpPr>
        <p:spPr>
          <a:xfrm>
            <a:off x="804672" y="2578608"/>
            <a:ext cx="1124712" cy="356616"/>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300</a:t>
            </a:r>
            <a:endParaRPr lang="en-US" sz="940" dirty="0"/>
          </a:p>
        </p:txBody>
      </p:sp>
      <p:sp>
        <p:nvSpPr>
          <p:cNvPr id="24" name="Shape 22"/>
          <p:cNvSpPr/>
          <p:nvPr/>
        </p:nvSpPr>
        <p:spPr>
          <a:xfrm>
            <a:off x="1984248" y="2487168"/>
            <a:ext cx="1143000" cy="502920"/>
          </a:xfrm>
          <a:prstGeom prst="rect">
            <a:avLst/>
          </a:prstGeom>
          <a:solidFill>
            <a:srgbClr val="F1F5F9"/>
          </a:solidFill>
          <a:ln w="5080">
            <a:solidFill>
              <a:srgbClr val="CBD5E1"/>
            </a:solidFill>
            <a:prstDash val="solid"/>
          </a:ln>
        </p:spPr>
      </p:sp>
      <p:sp>
        <p:nvSpPr>
          <p:cNvPr id="25" name="Text 23"/>
          <p:cNvSpPr/>
          <p:nvPr/>
        </p:nvSpPr>
        <p:spPr>
          <a:xfrm>
            <a:off x="2039112" y="257860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60</a:t>
            </a:r>
            <a:endParaRPr lang="en-US" sz="940" dirty="0"/>
          </a:p>
        </p:txBody>
      </p:sp>
      <p:sp>
        <p:nvSpPr>
          <p:cNvPr id="26" name="Shape 24"/>
          <p:cNvSpPr/>
          <p:nvPr/>
        </p:nvSpPr>
        <p:spPr>
          <a:xfrm>
            <a:off x="3127248" y="2487168"/>
            <a:ext cx="1143000" cy="502920"/>
          </a:xfrm>
          <a:prstGeom prst="rect">
            <a:avLst/>
          </a:prstGeom>
          <a:solidFill>
            <a:srgbClr val="F1F5F9"/>
          </a:solidFill>
          <a:ln w="5080">
            <a:solidFill>
              <a:srgbClr val="CBD5E1"/>
            </a:solidFill>
            <a:prstDash val="solid"/>
          </a:ln>
        </p:spPr>
      </p:sp>
      <p:sp>
        <p:nvSpPr>
          <p:cNvPr id="27" name="Text 25"/>
          <p:cNvSpPr/>
          <p:nvPr/>
        </p:nvSpPr>
        <p:spPr>
          <a:xfrm>
            <a:off x="3182112" y="257860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323</a:t>
            </a:r>
            <a:endParaRPr lang="en-US" sz="940" dirty="0"/>
          </a:p>
        </p:txBody>
      </p:sp>
      <p:sp>
        <p:nvSpPr>
          <p:cNvPr id="28" name="Shape 26"/>
          <p:cNvSpPr/>
          <p:nvPr/>
        </p:nvSpPr>
        <p:spPr>
          <a:xfrm>
            <a:off x="4270248" y="2487168"/>
            <a:ext cx="1691640" cy="502920"/>
          </a:xfrm>
          <a:prstGeom prst="rect">
            <a:avLst/>
          </a:prstGeom>
          <a:solidFill>
            <a:srgbClr val="F1F5F9"/>
          </a:solidFill>
          <a:ln w="5080">
            <a:solidFill>
              <a:srgbClr val="CBD5E1"/>
            </a:solidFill>
            <a:prstDash val="solid"/>
          </a:ln>
        </p:spPr>
      </p:sp>
      <p:sp>
        <p:nvSpPr>
          <p:cNvPr id="29" name="Text 27"/>
          <p:cNvSpPr/>
          <p:nvPr/>
        </p:nvSpPr>
        <p:spPr>
          <a:xfrm>
            <a:off x="4325112" y="2578608"/>
            <a:ext cx="158191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0.911</a:t>
            </a:r>
            <a:endParaRPr lang="en-US" sz="940" dirty="0"/>
          </a:p>
        </p:txBody>
      </p:sp>
      <p:sp>
        <p:nvSpPr>
          <p:cNvPr id="30" name="Shape 28"/>
          <p:cNvSpPr/>
          <p:nvPr/>
        </p:nvSpPr>
        <p:spPr>
          <a:xfrm>
            <a:off x="749808" y="2990088"/>
            <a:ext cx="1234440" cy="502920"/>
          </a:xfrm>
          <a:prstGeom prst="rect">
            <a:avLst/>
          </a:prstGeom>
          <a:solidFill>
            <a:srgbClr val="E7F8F6"/>
          </a:solidFill>
          <a:ln w="5080">
            <a:solidFill>
              <a:srgbClr val="CBD5E1"/>
            </a:solidFill>
            <a:prstDash val="solid"/>
          </a:ln>
        </p:spPr>
      </p:sp>
      <p:sp>
        <p:nvSpPr>
          <p:cNvPr id="31" name="Text 29"/>
          <p:cNvSpPr/>
          <p:nvPr/>
        </p:nvSpPr>
        <p:spPr>
          <a:xfrm>
            <a:off x="804672" y="3081528"/>
            <a:ext cx="1124712" cy="356616"/>
          </a:xfrm>
          <a:prstGeom prst="rect">
            <a:avLst/>
          </a:prstGeom>
          <a:noFill/>
          <a:ln/>
        </p:spPr>
        <p:txBody>
          <a:bodyPr wrap="square" lIns="0" tIns="0" rIns="0" bIns="0" rtlCol="0" anchor="ctr">
            <a:normAutofit/>
          </a:bodyPr>
          <a:lstStyle/>
          <a:p>
            <a:pPr algn="l" indent="0" marL="0">
              <a:buNone/>
            </a:pPr>
            <a:r>
              <a:rPr lang="en-US" sz="940" b="1" dirty="0">
                <a:solidFill>
                  <a:srgbClr val="111827"/>
                </a:solidFill>
              </a:rPr>
              <a:t>400</a:t>
            </a:r>
            <a:endParaRPr lang="en-US" sz="940" dirty="0"/>
          </a:p>
        </p:txBody>
      </p:sp>
      <p:sp>
        <p:nvSpPr>
          <p:cNvPr id="32" name="Shape 30"/>
          <p:cNvSpPr/>
          <p:nvPr/>
        </p:nvSpPr>
        <p:spPr>
          <a:xfrm>
            <a:off x="1984248" y="2990088"/>
            <a:ext cx="1143000" cy="502920"/>
          </a:xfrm>
          <a:prstGeom prst="rect">
            <a:avLst/>
          </a:prstGeom>
          <a:solidFill>
            <a:srgbClr val="E7F8F6"/>
          </a:solidFill>
          <a:ln w="5080">
            <a:solidFill>
              <a:srgbClr val="CBD5E1"/>
            </a:solidFill>
            <a:prstDash val="solid"/>
          </a:ln>
        </p:spPr>
      </p:sp>
      <p:sp>
        <p:nvSpPr>
          <p:cNvPr id="33" name="Text 31"/>
          <p:cNvSpPr/>
          <p:nvPr/>
        </p:nvSpPr>
        <p:spPr>
          <a:xfrm>
            <a:off x="2039112" y="3081528"/>
            <a:ext cx="1033272" cy="356616"/>
          </a:xfrm>
          <a:prstGeom prst="rect">
            <a:avLst/>
          </a:prstGeom>
          <a:noFill/>
          <a:ln/>
        </p:spPr>
        <p:txBody>
          <a:bodyPr wrap="square" lIns="0" tIns="0" rIns="0" bIns="0" rtlCol="0" anchor="ctr">
            <a:normAutofit/>
          </a:bodyPr>
          <a:lstStyle/>
          <a:p>
            <a:pPr algn="ctr" indent="0" marL="0">
              <a:buNone/>
            </a:pPr>
            <a:r>
              <a:rPr lang="en-US" sz="940" b="1" dirty="0">
                <a:solidFill>
                  <a:srgbClr val="111827"/>
                </a:solidFill>
              </a:rPr>
              <a:t>80</a:t>
            </a:r>
            <a:endParaRPr lang="en-US" sz="940" dirty="0"/>
          </a:p>
        </p:txBody>
      </p:sp>
      <p:sp>
        <p:nvSpPr>
          <p:cNvPr id="34" name="Shape 32"/>
          <p:cNvSpPr/>
          <p:nvPr/>
        </p:nvSpPr>
        <p:spPr>
          <a:xfrm>
            <a:off x="3127248" y="2990088"/>
            <a:ext cx="1143000" cy="502920"/>
          </a:xfrm>
          <a:prstGeom prst="rect">
            <a:avLst/>
          </a:prstGeom>
          <a:solidFill>
            <a:srgbClr val="E7F8F6"/>
          </a:solidFill>
          <a:ln w="5080">
            <a:solidFill>
              <a:srgbClr val="CBD5E1"/>
            </a:solidFill>
            <a:prstDash val="solid"/>
          </a:ln>
        </p:spPr>
      </p:sp>
      <p:sp>
        <p:nvSpPr>
          <p:cNvPr id="35" name="Text 33"/>
          <p:cNvSpPr/>
          <p:nvPr/>
        </p:nvSpPr>
        <p:spPr>
          <a:xfrm>
            <a:off x="3182112" y="3081528"/>
            <a:ext cx="1033272" cy="356616"/>
          </a:xfrm>
          <a:prstGeom prst="rect">
            <a:avLst/>
          </a:prstGeom>
          <a:noFill/>
          <a:ln/>
        </p:spPr>
        <p:txBody>
          <a:bodyPr wrap="square" lIns="0" tIns="0" rIns="0" bIns="0" rtlCol="0" anchor="ctr">
            <a:normAutofit/>
          </a:bodyPr>
          <a:lstStyle/>
          <a:p>
            <a:pPr algn="ctr" indent="0" marL="0">
              <a:buNone/>
            </a:pPr>
            <a:r>
              <a:rPr lang="en-US" sz="940" b="1" dirty="0">
                <a:solidFill>
                  <a:srgbClr val="111827"/>
                </a:solidFill>
              </a:rPr>
              <a:t>246</a:t>
            </a:r>
            <a:endParaRPr lang="en-US" sz="940" dirty="0"/>
          </a:p>
        </p:txBody>
      </p:sp>
      <p:sp>
        <p:nvSpPr>
          <p:cNvPr id="36" name="Shape 34"/>
          <p:cNvSpPr/>
          <p:nvPr/>
        </p:nvSpPr>
        <p:spPr>
          <a:xfrm>
            <a:off x="4270248" y="2990088"/>
            <a:ext cx="1691640" cy="502920"/>
          </a:xfrm>
          <a:prstGeom prst="rect">
            <a:avLst/>
          </a:prstGeom>
          <a:solidFill>
            <a:srgbClr val="E7F8F6"/>
          </a:solidFill>
          <a:ln w="5080">
            <a:solidFill>
              <a:srgbClr val="CBD5E1"/>
            </a:solidFill>
            <a:prstDash val="solid"/>
          </a:ln>
        </p:spPr>
      </p:sp>
      <p:sp>
        <p:nvSpPr>
          <p:cNvPr id="37" name="Text 35"/>
          <p:cNvSpPr/>
          <p:nvPr/>
        </p:nvSpPr>
        <p:spPr>
          <a:xfrm>
            <a:off x="4325112" y="3081528"/>
            <a:ext cx="1581912" cy="356616"/>
          </a:xfrm>
          <a:prstGeom prst="rect">
            <a:avLst/>
          </a:prstGeom>
          <a:noFill/>
          <a:ln/>
        </p:spPr>
        <p:txBody>
          <a:bodyPr wrap="square" lIns="0" tIns="0" rIns="0" bIns="0" rtlCol="0" anchor="ctr">
            <a:normAutofit/>
          </a:bodyPr>
          <a:lstStyle/>
          <a:p>
            <a:pPr algn="ctr" indent="0" marL="0">
              <a:buNone/>
            </a:pPr>
            <a:r>
              <a:rPr lang="en-US" sz="940" b="1" dirty="0">
                <a:solidFill>
                  <a:srgbClr val="111827"/>
                </a:solidFill>
              </a:rPr>
              <a:t>0.944</a:t>
            </a:r>
            <a:endParaRPr lang="en-US" sz="940" dirty="0"/>
          </a:p>
        </p:txBody>
      </p:sp>
      <p:sp>
        <p:nvSpPr>
          <p:cNvPr id="38" name="Shape 36"/>
          <p:cNvSpPr/>
          <p:nvPr/>
        </p:nvSpPr>
        <p:spPr>
          <a:xfrm>
            <a:off x="749808" y="3493008"/>
            <a:ext cx="1234440" cy="502920"/>
          </a:xfrm>
          <a:prstGeom prst="rect">
            <a:avLst/>
          </a:prstGeom>
          <a:solidFill>
            <a:srgbClr val="F1F5F9"/>
          </a:solidFill>
          <a:ln w="5080">
            <a:solidFill>
              <a:srgbClr val="CBD5E1"/>
            </a:solidFill>
            <a:prstDash val="solid"/>
          </a:ln>
        </p:spPr>
      </p:sp>
      <p:sp>
        <p:nvSpPr>
          <p:cNvPr id="39" name="Text 37"/>
          <p:cNvSpPr/>
          <p:nvPr/>
        </p:nvSpPr>
        <p:spPr>
          <a:xfrm>
            <a:off x="804672" y="3584448"/>
            <a:ext cx="1124712" cy="356616"/>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500</a:t>
            </a:r>
            <a:endParaRPr lang="en-US" sz="940" dirty="0"/>
          </a:p>
        </p:txBody>
      </p:sp>
      <p:sp>
        <p:nvSpPr>
          <p:cNvPr id="40" name="Shape 38"/>
          <p:cNvSpPr/>
          <p:nvPr/>
        </p:nvSpPr>
        <p:spPr>
          <a:xfrm>
            <a:off x="1984248" y="3493008"/>
            <a:ext cx="1143000" cy="502920"/>
          </a:xfrm>
          <a:prstGeom prst="rect">
            <a:avLst/>
          </a:prstGeom>
          <a:solidFill>
            <a:srgbClr val="F1F5F9"/>
          </a:solidFill>
          <a:ln w="5080">
            <a:solidFill>
              <a:srgbClr val="CBD5E1"/>
            </a:solidFill>
            <a:prstDash val="solid"/>
          </a:ln>
        </p:spPr>
      </p:sp>
      <p:sp>
        <p:nvSpPr>
          <p:cNvPr id="41" name="Text 39"/>
          <p:cNvSpPr/>
          <p:nvPr/>
        </p:nvSpPr>
        <p:spPr>
          <a:xfrm>
            <a:off x="2039112" y="358444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100</a:t>
            </a:r>
            <a:endParaRPr lang="en-US" sz="940" dirty="0"/>
          </a:p>
        </p:txBody>
      </p:sp>
      <p:sp>
        <p:nvSpPr>
          <p:cNvPr id="42" name="Shape 40"/>
          <p:cNvSpPr/>
          <p:nvPr/>
        </p:nvSpPr>
        <p:spPr>
          <a:xfrm>
            <a:off x="3127248" y="3493008"/>
            <a:ext cx="1143000" cy="502920"/>
          </a:xfrm>
          <a:prstGeom prst="rect">
            <a:avLst/>
          </a:prstGeom>
          <a:solidFill>
            <a:srgbClr val="F1F5F9"/>
          </a:solidFill>
          <a:ln w="5080">
            <a:solidFill>
              <a:srgbClr val="CBD5E1"/>
            </a:solidFill>
            <a:prstDash val="solid"/>
          </a:ln>
        </p:spPr>
      </p:sp>
      <p:sp>
        <p:nvSpPr>
          <p:cNvPr id="43" name="Text 41"/>
          <p:cNvSpPr/>
          <p:nvPr/>
        </p:nvSpPr>
        <p:spPr>
          <a:xfrm>
            <a:off x="3182112" y="358444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198</a:t>
            </a:r>
            <a:endParaRPr lang="en-US" sz="940" dirty="0"/>
          </a:p>
        </p:txBody>
      </p:sp>
      <p:sp>
        <p:nvSpPr>
          <p:cNvPr id="44" name="Shape 42"/>
          <p:cNvSpPr/>
          <p:nvPr/>
        </p:nvSpPr>
        <p:spPr>
          <a:xfrm>
            <a:off x="4270248" y="3493008"/>
            <a:ext cx="1691640" cy="502920"/>
          </a:xfrm>
          <a:prstGeom prst="rect">
            <a:avLst/>
          </a:prstGeom>
          <a:solidFill>
            <a:srgbClr val="F1F5F9"/>
          </a:solidFill>
          <a:ln w="5080">
            <a:solidFill>
              <a:srgbClr val="CBD5E1"/>
            </a:solidFill>
            <a:prstDash val="solid"/>
          </a:ln>
        </p:spPr>
      </p:sp>
      <p:sp>
        <p:nvSpPr>
          <p:cNvPr id="45" name="Text 43"/>
          <p:cNvSpPr/>
          <p:nvPr/>
        </p:nvSpPr>
        <p:spPr>
          <a:xfrm>
            <a:off x="4325112" y="3584448"/>
            <a:ext cx="158191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0.933</a:t>
            </a:r>
            <a:endParaRPr lang="en-US" sz="940" dirty="0"/>
          </a:p>
        </p:txBody>
      </p:sp>
      <p:sp>
        <p:nvSpPr>
          <p:cNvPr id="46" name="Shape 44"/>
          <p:cNvSpPr/>
          <p:nvPr/>
        </p:nvSpPr>
        <p:spPr>
          <a:xfrm>
            <a:off x="749808" y="3995928"/>
            <a:ext cx="1234440" cy="502920"/>
          </a:xfrm>
          <a:prstGeom prst="rect">
            <a:avLst/>
          </a:prstGeom>
          <a:solidFill>
            <a:srgbClr val="FFFFFF"/>
          </a:solidFill>
          <a:ln w="5080">
            <a:solidFill>
              <a:srgbClr val="CBD5E1"/>
            </a:solidFill>
            <a:prstDash val="solid"/>
          </a:ln>
        </p:spPr>
      </p:sp>
      <p:sp>
        <p:nvSpPr>
          <p:cNvPr id="47" name="Text 45"/>
          <p:cNvSpPr/>
          <p:nvPr/>
        </p:nvSpPr>
        <p:spPr>
          <a:xfrm>
            <a:off x="804672" y="4087368"/>
            <a:ext cx="1124712" cy="356616"/>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600</a:t>
            </a:r>
            <a:endParaRPr lang="en-US" sz="940" dirty="0"/>
          </a:p>
        </p:txBody>
      </p:sp>
      <p:sp>
        <p:nvSpPr>
          <p:cNvPr id="48" name="Shape 46"/>
          <p:cNvSpPr/>
          <p:nvPr/>
        </p:nvSpPr>
        <p:spPr>
          <a:xfrm>
            <a:off x="1984248" y="3995928"/>
            <a:ext cx="1143000" cy="502920"/>
          </a:xfrm>
          <a:prstGeom prst="rect">
            <a:avLst/>
          </a:prstGeom>
          <a:solidFill>
            <a:srgbClr val="FFFFFF"/>
          </a:solidFill>
          <a:ln w="5080">
            <a:solidFill>
              <a:srgbClr val="CBD5E1"/>
            </a:solidFill>
            <a:prstDash val="solid"/>
          </a:ln>
        </p:spPr>
      </p:sp>
      <p:sp>
        <p:nvSpPr>
          <p:cNvPr id="49" name="Text 47"/>
          <p:cNvSpPr/>
          <p:nvPr/>
        </p:nvSpPr>
        <p:spPr>
          <a:xfrm>
            <a:off x="2039112" y="408736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120</a:t>
            </a:r>
            <a:endParaRPr lang="en-US" sz="940" dirty="0"/>
          </a:p>
        </p:txBody>
      </p:sp>
      <p:sp>
        <p:nvSpPr>
          <p:cNvPr id="50" name="Shape 48"/>
          <p:cNvSpPr/>
          <p:nvPr/>
        </p:nvSpPr>
        <p:spPr>
          <a:xfrm>
            <a:off x="3127248" y="3995928"/>
            <a:ext cx="1143000" cy="502920"/>
          </a:xfrm>
          <a:prstGeom prst="rect">
            <a:avLst/>
          </a:prstGeom>
          <a:solidFill>
            <a:srgbClr val="FFFFFF"/>
          </a:solidFill>
          <a:ln w="5080">
            <a:solidFill>
              <a:srgbClr val="CBD5E1"/>
            </a:solidFill>
            <a:prstDash val="solid"/>
          </a:ln>
        </p:spPr>
      </p:sp>
      <p:sp>
        <p:nvSpPr>
          <p:cNvPr id="51" name="Text 49"/>
          <p:cNvSpPr/>
          <p:nvPr/>
        </p:nvSpPr>
        <p:spPr>
          <a:xfrm>
            <a:off x="3182112" y="4087368"/>
            <a:ext cx="103327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171</a:t>
            </a:r>
            <a:endParaRPr lang="en-US" sz="940" dirty="0"/>
          </a:p>
        </p:txBody>
      </p:sp>
      <p:sp>
        <p:nvSpPr>
          <p:cNvPr id="52" name="Shape 50"/>
          <p:cNvSpPr/>
          <p:nvPr/>
        </p:nvSpPr>
        <p:spPr>
          <a:xfrm>
            <a:off x="4270248" y="3995928"/>
            <a:ext cx="1691640" cy="502920"/>
          </a:xfrm>
          <a:prstGeom prst="rect">
            <a:avLst/>
          </a:prstGeom>
          <a:solidFill>
            <a:srgbClr val="FFFFFF"/>
          </a:solidFill>
          <a:ln w="5080">
            <a:solidFill>
              <a:srgbClr val="CBD5E1"/>
            </a:solidFill>
            <a:prstDash val="solid"/>
          </a:ln>
        </p:spPr>
      </p:sp>
      <p:sp>
        <p:nvSpPr>
          <p:cNvPr id="53" name="Text 51"/>
          <p:cNvSpPr/>
          <p:nvPr/>
        </p:nvSpPr>
        <p:spPr>
          <a:xfrm>
            <a:off x="4325112" y="4087368"/>
            <a:ext cx="1581912" cy="356616"/>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0.944</a:t>
            </a:r>
            <a:endParaRPr lang="en-US" sz="940" dirty="0"/>
          </a:p>
        </p:txBody>
      </p:sp>
      <p:sp>
        <p:nvSpPr>
          <p:cNvPr id="54" name="Shape 52"/>
          <p:cNvSpPr/>
          <p:nvPr/>
        </p:nvSpPr>
        <p:spPr>
          <a:xfrm>
            <a:off x="6675120" y="1481328"/>
            <a:ext cx="4434840" cy="3840480"/>
          </a:xfrm>
          <a:prstGeom prst="roundRect">
            <a:avLst>
              <a:gd name="adj" fmla="val 1905"/>
            </a:avLst>
          </a:prstGeom>
          <a:solidFill>
            <a:srgbClr val="FFFFFF"/>
          </a:solidFill>
          <a:ln w="12700">
            <a:solidFill>
              <a:srgbClr val="D6E4F2"/>
            </a:solidFill>
            <a:prstDash val="solid"/>
          </a:ln>
        </p:spPr>
      </p:sp>
      <p:sp>
        <p:nvSpPr>
          <p:cNvPr id="55" name="Text 53"/>
          <p:cNvSpPr/>
          <p:nvPr/>
        </p:nvSpPr>
        <p:spPr>
          <a:xfrm>
            <a:off x="6967728" y="1792224"/>
            <a:ext cx="1828800" cy="237744"/>
          </a:xfrm>
          <a:prstGeom prst="rect">
            <a:avLst/>
          </a:prstGeom>
          <a:noFill/>
          <a:ln/>
        </p:spPr>
        <p:txBody>
          <a:bodyPr wrap="square" lIns="0" tIns="0" rIns="0" bIns="0" rtlCol="0" anchor="ctr"/>
          <a:lstStyle/>
          <a:p>
            <a:pPr indent="0" marL="0">
              <a:buNone/>
            </a:pPr>
            <a:r>
              <a:rPr lang="en-US" sz="1800" b="1" dirty="0">
                <a:solidFill>
                  <a:srgbClr val="07163F"/>
                </a:solidFill>
              </a:rPr>
              <a:t>Interpretation</a:t>
            </a:r>
            <a:endParaRPr lang="en-US" sz="1800" dirty="0"/>
          </a:p>
        </p:txBody>
      </p:sp>
      <p:sp>
        <p:nvSpPr>
          <p:cNvPr id="56" name="Shape 54"/>
          <p:cNvSpPr/>
          <p:nvPr/>
        </p:nvSpPr>
        <p:spPr>
          <a:xfrm>
            <a:off x="6967728" y="2322576"/>
            <a:ext cx="77724" cy="77724"/>
          </a:xfrm>
          <a:prstGeom prst="ellipse">
            <a:avLst/>
          </a:prstGeom>
          <a:solidFill>
            <a:srgbClr val="00827C"/>
          </a:solidFill>
          <a:ln w="12700">
            <a:solidFill>
              <a:srgbClr val="00827C"/>
            </a:solidFill>
            <a:prstDash val="solid"/>
          </a:ln>
        </p:spPr>
      </p:sp>
      <p:sp>
        <p:nvSpPr>
          <p:cNvPr id="57" name="Text 55"/>
          <p:cNvSpPr/>
          <p:nvPr/>
        </p:nvSpPr>
        <p:spPr>
          <a:xfrm>
            <a:off x="7141464" y="2240280"/>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200/300: too many small chunks; context may be fragmented.</a:t>
            </a:r>
            <a:endParaRPr lang="en-US" sz="1350" dirty="0"/>
          </a:p>
        </p:txBody>
      </p:sp>
      <p:sp>
        <p:nvSpPr>
          <p:cNvPr id="58" name="Shape 56"/>
          <p:cNvSpPr/>
          <p:nvPr/>
        </p:nvSpPr>
        <p:spPr>
          <a:xfrm>
            <a:off x="6967728" y="2807208"/>
            <a:ext cx="77724" cy="77724"/>
          </a:xfrm>
          <a:prstGeom prst="ellipse">
            <a:avLst/>
          </a:prstGeom>
          <a:solidFill>
            <a:srgbClr val="00827C"/>
          </a:solidFill>
          <a:ln w="12700">
            <a:solidFill>
              <a:srgbClr val="00827C"/>
            </a:solidFill>
            <a:prstDash val="solid"/>
          </a:ln>
        </p:spPr>
      </p:sp>
      <p:sp>
        <p:nvSpPr>
          <p:cNvPr id="59" name="Text 57"/>
          <p:cNvSpPr/>
          <p:nvPr/>
        </p:nvSpPr>
        <p:spPr>
          <a:xfrm>
            <a:off x="7141464" y="2724912"/>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500/600: strong recall but larger chunks add prompt noise.</a:t>
            </a:r>
            <a:endParaRPr lang="en-US" sz="1350" dirty="0"/>
          </a:p>
        </p:txBody>
      </p:sp>
      <p:sp>
        <p:nvSpPr>
          <p:cNvPr id="60" name="Shape 58"/>
          <p:cNvSpPr/>
          <p:nvPr/>
        </p:nvSpPr>
        <p:spPr>
          <a:xfrm>
            <a:off x="6967728" y="3291840"/>
            <a:ext cx="77724" cy="77724"/>
          </a:xfrm>
          <a:prstGeom prst="ellipse">
            <a:avLst/>
          </a:prstGeom>
          <a:solidFill>
            <a:srgbClr val="00827C"/>
          </a:solidFill>
          <a:ln w="12700">
            <a:solidFill>
              <a:srgbClr val="00827C"/>
            </a:solidFill>
            <a:prstDash val="solid"/>
          </a:ln>
        </p:spPr>
      </p:sp>
      <p:sp>
        <p:nvSpPr>
          <p:cNvPr id="61" name="Text 59"/>
          <p:cNvSpPr/>
          <p:nvPr/>
        </p:nvSpPr>
        <p:spPr>
          <a:xfrm>
            <a:off x="7141464" y="3209544"/>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400: same top recall as 600 with fewer tokens than long chunks.</a:t>
            </a:r>
            <a:endParaRPr lang="en-US" sz="1350" dirty="0"/>
          </a:p>
        </p:txBody>
      </p:sp>
      <p:sp>
        <p:nvSpPr>
          <p:cNvPr id="62" name="Shape 60"/>
          <p:cNvSpPr/>
          <p:nvPr/>
        </p:nvSpPr>
        <p:spPr>
          <a:xfrm>
            <a:off x="6967728" y="3776472"/>
            <a:ext cx="77724" cy="77724"/>
          </a:xfrm>
          <a:prstGeom prst="ellipse">
            <a:avLst/>
          </a:prstGeom>
          <a:solidFill>
            <a:srgbClr val="00827C"/>
          </a:solidFill>
          <a:ln w="12700">
            <a:solidFill>
              <a:srgbClr val="00827C"/>
            </a:solidFill>
            <a:prstDash val="solid"/>
          </a:ln>
        </p:spPr>
      </p:sp>
      <p:sp>
        <p:nvSpPr>
          <p:cNvPr id="63" name="Text 61"/>
          <p:cNvSpPr/>
          <p:nvPr/>
        </p:nvSpPr>
        <p:spPr>
          <a:xfrm>
            <a:off x="7141464" y="3694176"/>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Default: 400 words with 80 overlap.</a:t>
            </a:r>
            <a:endParaRPr lang="en-US" sz="1350" dirty="0"/>
          </a:p>
        </p:txBody>
      </p:sp>
      <p:sp>
        <p:nvSpPr>
          <p:cNvPr id="64" name="Text 62"/>
          <p:cNvSpPr/>
          <p:nvPr/>
        </p:nvSpPr>
        <p:spPr>
          <a:xfrm>
            <a:off x="7406640" y="5248656"/>
            <a:ext cx="1737360" cy="475488"/>
          </a:xfrm>
          <a:prstGeom prst="rect">
            <a:avLst/>
          </a:prstGeom>
          <a:noFill/>
          <a:ln/>
        </p:spPr>
        <p:txBody>
          <a:bodyPr wrap="square" lIns="0" tIns="0" rIns="0" bIns="0" rtlCol="0" anchor="ctr">
            <a:normAutofit/>
          </a:bodyPr>
          <a:lstStyle/>
          <a:p>
            <a:pPr algn="ctr" indent="0" marL="0">
              <a:buNone/>
            </a:pPr>
            <a:r>
              <a:rPr lang="en-US" sz="3000" b="1" dirty="0">
                <a:solidFill>
                  <a:srgbClr val="00827C"/>
                </a:solidFill>
              </a:rPr>
              <a:t>400</a:t>
            </a:r>
            <a:endParaRPr lang="en-US" sz="3000" dirty="0"/>
          </a:p>
        </p:txBody>
      </p:sp>
      <p:sp>
        <p:nvSpPr>
          <p:cNvPr id="65" name="Text 63"/>
          <p:cNvSpPr/>
          <p:nvPr/>
        </p:nvSpPr>
        <p:spPr>
          <a:xfrm>
            <a:off x="7406640" y="5760720"/>
            <a:ext cx="1737360" cy="320040"/>
          </a:xfrm>
          <a:prstGeom prst="rect">
            <a:avLst/>
          </a:prstGeom>
          <a:noFill/>
          <a:ln/>
        </p:spPr>
        <p:txBody>
          <a:bodyPr wrap="square" lIns="0" tIns="0" rIns="0" bIns="0" rtlCol="0" anchor="ctr">
            <a:normAutofit/>
          </a:bodyPr>
          <a:lstStyle/>
          <a:p>
            <a:pPr algn="ctr" indent="0" marL="0">
              <a:buNone/>
            </a:pPr>
            <a:r>
              <a:rPr lang="en-US" sz="1150" b="1" dirty="0">
                <a:solidFill>
                  <a:srgbClr val="4B5563"/>
                </a:solidFill>
              </a:rPr>
              <a:t>word default chunk size</a:t>
            </a:r>
            <a:endParaRPr lang="en-US" sz="1150" dirty="0"/>
          </a:p>
        </p:txBody>
      </p:sp>
      <p:sp>
        <p:nvSpPr>
          <p:cNvPr id="66" name="Text 64"/>
          <p:cNvSpPr/>
          <p:nvPr/>
        </p:nvSpPr>
        <p:spPr>
          <a:xfrm>
            <a:off x="9144000" y="5248656"/>
            <a:ext cx="1828800" cy="475488"/>
          </a:xfrm>
          <a:prstGeom prst="rect">
            <a:avLst/>
          </a:prstGeom>
          <a:noFill/>
          <a:ln/>
        </p:spPr>
        <p:txBody>
          <a:bodyPr wrap="square" lIns="0" tIns="0" rIns="0" bIns="0" rtlCol="0" anchor="ctr">
            <a:normAutofit/>
          </a:bodyPr>
          <a:lstStyle/>
          <a:p>
            <a:pPr algn="ctr" indent="0" marL="0">
              <a:buNone/>
            </a:pPr>
            <a:r>
              <a:rPr lang="en-US" sz="3000" b="1" dirty="0">
                <a:solidFill>
                  <a:srgbClr val="29A36A"/>
                </a:solidFill>
              </a:rPr>
              <a:t>0.944</a:t>
            </a:r>
            <a:endParaRPr lang="en-US" sz="3000" dirty="0"/>
          </a:p>
        </p:txBody>
      </p:sp>
      <p:sp>
        <p:nvSpPr>
          <p:cNvPr id="67" name="Text 65"/>
          <p:cNvSpPr/>
          <p:nvPr/>
        </p:nvSpPr>
        <p:spPr>
          <a:xfrm>
            <a:off x="9144000" y="5760720"/>
            <a:ext cx="1828800" cy="320040"/>
          </a:xfrm>
          <a:prstGeom prst="rect">
            <a:avLst/>
          </a:prstGeom>
          <a:noFill/>
          <a:ln/>
        </p:spPr>
        <p:txBody>
          <a:bodyPr wrap="square" lIns="0" tIns="0" rIns="0" bIns="0" rtlCol="0" anchor="ctr">
            <a:normAutofit/>
          </a:bodyPr>
          <a:lstStyle/>
          <a:p>
            <a:pPr algn="ctr" indent="0" marL="0">
              <a:buNone/>
            </a:pPr>
            <a:r>
              <a:rPr lang="en-US" sz="1150" b="1" dirty="0">
                <a:solidFill>
                  <a:srgbClr val="4B5563"/>
                </a:solidFill>
              </a:rPr>
              <a:t>best Recall@5 in ablation</a:t>
            </a:r>
            <a:endParaRPr lang="en-US" sz="1150" dirty="0"/>
          </a:p>
        </p:txBody>
      </p:sp>
      <p:sp>
        <p:nvSpPr>
          <p:cNvPr id="69" name="Text 66"/>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12</a:t>
            </a:r>
            <a:endParaRPr lang="en-US" sz="850" dirty="0"/>
          </a:p>
        </p:txBody>
      </p:sp>
      <p:sp>
        <p:nvSpPr>
          <p:cNvPr id="70" name="Text 67"/>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Retrieval strategy comparison: why hybrid is deployed</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685800" y="1417320"/>
            <a:ext cx="2514600" cy="521208"/>
          </a:xfrm>
          <a:prstGeom prst="rect">
            <a:avLst/>
          </a:prstGeom>
          <a:solidFill>
            <a:srgbClr val="07163F"/>
          </a:solidFill>
          <a:ln w="6350">
            <a:solidFill>
              <a:srgbClr val="CBD5E1"/>
            </a:solidFill>
            <a:prstDash val="solid"/>
          </a:ln>
        </p:spPr>
      </p:sp>
      <p:sp>
        <p:nvSpPr>
          <p:cNvPr id="7" name="Text 5"/>
          <p:cNvSpPr/>
          <p:nvPr/>
        </p:nvSpPr>
        <p:spPr>
          <a:xfrm>
            <a:off x="740664" y="1508760"/>
            <a:ext cx="2404872" cy="3749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Strategy</a:t>
            </a:r>
            <a:endParaRPr lang="en-US" sz="950" dirty="0"/>
          </a:p>
        </p:txBody>
      </p:sp>
      <p:sp>
        <p:nvSpPr>
          <p:cNvPr id="8" name="Shape 6"/>
          <p:cNvSpPr/>
          <p:nvPr/>
        </p:nvSpPr>
        <p:spPr>
          <a:xfrm>
            <a:off x="3200400" y="1417320"/>
            <a:ext cx="1508760" cy="521208"/>
          </a:xfrm>
          <a:prstGeom prst="rect">
            <a:avLst/>
          </a:prstGeom>
          <a:solidFill>
            <a:srgbClr val="07163F"/>
          </a:solidFill>
          <a:ln w="6350">
            <a:solidFill>
              <a:srgbClr val="CBD5E1"/>
            </a:solidFill>
            <a:prstDash val="solid"/>
          </a:ln>
        </p:spPr>
      </p:sp>
      <p:sp>
        <p:nvSpPr>
          <p:cNvPr id="9" name="Text 7"/>
          <p:cNvSpPr/>
          <p:nvPr/>
        </p:nvSpPr>
        <p:spPr>
          <a:xfrm>
            <a:off x="3255264" y="1508760"/>
            <a:ext cx="1399032" cy="3749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Mean Recall@5</a:t>
            </a:r>
            <a:endParaRPr lang="en-US" sz="950" dirty="0"/>
          </a:p>
        </p:txBody>
      </p:sp>
      <p:sp>
        <p:nvSpPr>
          <p:cNvPr id="10" name="Shape 8"/>
          <p:cNvSpPr/>
          <p:nvPr/>
        </p:nvSpPr>
        <p:spPr>
          <a:xfrm>
            <a:off x="4709160" y="1417320"/>
            <a:ext cx="1691640" cy="521208"/>
          </a:xfrm>
          <a:prstGeom prst="rect">
            <a:avLst/>
          </a:prstGeom>
          <a:solidFill>
            <a:srgbClr val="07163F"/>
          </a:solidFill>
          <a:ln w="6350">
            <a:solidFill>
              <a:srgbClr val="CBD5E1"/>
            </a:solidFill>
            <a:prstDash val="solid"/>
          </a:ln>
        </p:spPr>
      </p:sp>
      <p:sp>
        <p:nvSpPr>
          <p:cNvPr id="11" name="Text 9"/>
          <p:cNvSpPr/>
          <p:nvPr/>
        </p:nvSpPr>
        <p:spPr>
          <a:xfrm>
            <a:off x="4764024" y="1508760"/>
            <a:ext cx="1581912" cy="374904"/>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Avg latency</a:t>
            </a:r>
            <a:endParaRPr lang="en-US" sz="950" dirty="0"/>
          </a:p>
        </p:txBody>
      </p:sp>
      <p:sp>
        <p:nvSpPr>
          <p:cNvPr id="12" name="Shape 10"/>
          <p:cNvSpPr/>
          <p:nvPr/>
        </p:nvSpPr>
        <p:spPr>
          <a:xfrm>
            <a:off x="685800" y="1938528"/>
            <a:ext cx="2514600" cy="521208"/>
          </a:xfrm>
          <a:prstGeom prst="rect">
            <a:avLst/>
          </a:prstGeom>
          <a:solidFill>
            <a:srgbClr val="FFFFFF"/>
          </a:solidFill>
          <a:ln w="5080">
            <a:solidFill>
              <a:srgbClr val="CBD5E1"/>
            </a:solidFill>
            <a:prstDash val="solid"/>
          </a:ln>
        </p:spPr>
      </p:sp>
      <p:sp>
        <p:nvSpPr>
          <p:cNvPr id="13" name="Text 11"/>
          <p:cNvSpPr/>
          <p:nvPr/>
        </p:nvSpPr>
        <p:spPr>
          <a:xfrm>
            <a:off x="740664" y="2029968"/>
            <a:ext cx="2404872" cy="374904"/>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Dense FAISS</a:t>
            </a:r>
            <a:endParaRPr lang="en-US" sz="940" dirty="0"/>
          </a:p>
        </p:txBody>
      </p:sp>
      <p:sp>
        <p:nvSpPr>
          <p:cNvPr id="14" name="Shape 12"/>
          <p:cNvSpPr/>
          <p:nvPr/>
        </p:nvSpPr>
        <p:spPr>
          <a:xfrm>
            <a:off x="3200400" y="1938528"/>
            <a:ext cx="1508760" cy="521208"/>
          </a:xfrm>
          <a:prstGeom prst="rect">
            <a:avLst/>
          </a:prstGeom>
          <a:solidFill>
            <a:srgbClr val="FFFFFF"/>
          </a:solidFill>
          <a:ln w="5080">
            <a:solidFill>
              <a:srgbClr val="CBD5E1"/>
            </a:solidFill>
            <a:prstDash val="solid"/>
          </a:ln>
        </p:spPr>
      </p:sp>
      <p:sp>
        <p:nvSpPr>
          <p:cNvPr id="15" name="Text 13"/>
          <p:cNvSpPr/>
          <p:nvPr/>
        </p:nvSpPr>
        <p:spPr>
          <a:xfrm>
            <a:off x="3255264" y="2029968"/>
            <a:ext cx="139903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0.878</a:t>
            </a:r>
            <a:endParaRPr lang="en-US" sz="940" dirty="0"/>
          </a:p>
        </p:txBody>
      </p:sp>
      <p:sp>
        <p:nvSpPr>
          <p:cNvPr id="16" name="Shape 14"/>
          <p:cNvSpPr/>
          <p:nvPr/>
        </p:nvSpPr>
        <p:spPr>
          <a:xfrm>
            <a:off x="4709160" y="1938528"/>
            <a:ext cx="1691640" cy="521208"/>
          </a:xfrm>
          <a:prstGeom prst="rect">
            <a:avLst/>
          </a:prstGeom>
          <a:solidFill>
            <a:srgbClr val="FFFFFF"/>
          </a:solidFill>
          <a:ln w="5080">
            <a:solidFill>
              <a:srgbClr val="CBD5E1"/>
            </a:solidFill>
            <a:prstDash val="solid"/>
          </a:ln>
        </p:spPr>
      </p:sp>
      <p:sp>
        <p:nvSpPr>
          <p:cNvPr id="17" name="Text 15"/>
          <p:cNvSpPr/>
          <p:nvPr/>
        </p:nvSpPr>
        <p:spPr>
          <a:xfrm>
            <a:off x="4764024" y="2029968"/>
            <a:ext cx="158191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141.5 ms</a:t>
            </a:r>
            <a:endParaRPr lang="en-US" sz="940" dirty="0"/>
          </a:p>
        </p:txBody>
      </p:sp>
      <p:sp>
        <p:nvSpPr>
          <p:cNvPr id="18" name="Shape 16"/>
          <p:cNvSpPr/>
          <p:nvPr/>
        </p:nvSpPr>
        <p:spPr>
          <a:xfrm>
            <a:off x="685800" y="2459736"/>
            <a:ext cx="2514600" cy="521208"/>
          </a:xfrm>
          <a:prstGeom prst="rect">
            <a:avLst/>
          </a:prstGeom>
          <a:solidFill>
            <a:srgbClr val="F1F5F9"/>
          </a:solidFill>
          <a:ln w="5080">
            <a:solidFill>
              <a:srgbClr val="CBD5E1"/>
            </a:solidFill>
            <a:prstDash val="solid"/>
          </a:ln>
        </p:spPr>
      </p:sp>
      <p:sp>
        <p:nvSpPr>
          <p:cNvPr id="19" name="Text 17"/>
          <p:cNvSpPr/>
          <p:nvPr/>
        </p:nvSpPr>
        <p:spPr>
          <a:xfrm>
            <a:off x="740664" y="2551176"/>
            <a:ext cx="2404872" cy="374904"/>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BM25</a:t>
            </a:r>
            <a:endParaRPr lang="en-US" sz="940" dirty="0"/>
          </a:p>
        </p:txBody>
      </p:sp>
      <p:sp>
        <p:nvSpPr>
          <p:cNvPr id="20" name="Shape 18"/>
          <p:cNvSpPr/>
          <p:nvPr/>
        </p:nvSpPr>
        <p:spPr>
          <a:xfrm>
            <a:off x="3200400" y="2459736"/>
            <a:ext cx="1508760" cy="521208"/>
          </a:xfrm>
          <a:prstGeom prst="rect">
            <a:avLst/>
          </a:prstGeom>
          <a:solidFill>
            <a:srgbClr val="F1F5F9"/>
          </a:solidFill>
          <a:ln w="5080">
            <a:solidFill>
              <a:srgbClr val="CBD5E1"/>
            </a:solidFill>
            <a:prstDash val="solid"/>
          </a:ln>
        </p:spPr>
      </p:sp>
      <p:sp>
        <p:nvSpPr>
          <p:cNvPr id="21" name="Text 19"/>
          <p:cNvSpPr/>
          <p:nvPr/>
        </p:nvSpPr>
        <p:spPr>
          <a:xfrm>
            <a:off x="3255264" y="2551176"/>
            <a:ext cx="139903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0.800</a:t>
            </a:r>
            <a:endParaRPr lang="en-US" sz="940" dirty="0"/>
          </a:p>
        </p:txBody>
      </p:sp>
      <p:sp>
        <p:nvSpPr>
          <p:cNvPr id="22" name="Shape 20"/>
          <p:cNvSpPr/>
          <p:nvPr/>
        </p:nvSpPr>
        <p:spPr>
          <a:xfrm>
            <a:off x="4709160" y="2459736"/>
            <a:ext cx="1691640" cy="521208"/>
          </a:xfrm>
          <a:prstGeom prst="rect">
            <a:avLst/>
          </a:prstGeom>
          <a:solidFill>
            <a:srgbClr val="F1F5F9"/>
          </a:solidFill>
          <a:ln w="5080">
            <a:solidFill>
              <a:srgbClr val="CBD5E1"/>
            </a:solidFill>
            <a:prstDash val="solid"/>
          </a:ln>
        </p:spPr>
      </p:sp>
      <p:sp>
        <p:nvSpPr>
          <p:cNvPr id="23" name="Text 21"/>
          <p:cNvSpPr/>
          <p:nvPr/>
        </p:nvSpPr>
        <p:spPr>
          <a:xfrm>
            <a:off x="4764024" y="2551176"/>
            <a:ext cx="158191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2.6 ms</a:t>
            </a:r>
            <a:endParaRPr lang="en-US" sz="940" dirty="0"/>
          </a:p>
        </p:txBody>
      </p:sp>
      <p:sp>
        <p:nvSpPr>
          <p:cNvPr id="24" name="Shape 22"/>
          <p:cNvSpPr/>
          <p:nvPr/>
        </p:nvSpPr>
        <p:spPr>
          <a:xfrm>
            <a:off x="685800" y="2980944"/>
            <a:ext cx="2514600" cy="521208"/>
          </a:xfrm>
          <a:prstGeom prst="rect">
            <a:avLst/>
          </a:prstGeom>
          <a:solidFill>
            <a:srgbClr val="E7F8F6"/>
          </a:solidFill>
          <a:ln w="5080">
            <a:solidFill>
              <a:srgbClr val="CBD5E1"/>
            </a:solidFill>
            <a:prstDash val="solid"/>
          </a:ln>
        </p:spPr>
      </p:sp>
      <p:sp>
        <p:nvSpPr>
          <p:cNvPr id="25" name="Text 23"/>
          <p:cNvSpPr/>
          <p:nvPr/>
        </p:nvSpPr>
        <p:spPr>
          <a:xfrm>
            <a:off x="740664" y="3072384"/>
            <a:ext cx="2404872" cy="374904"/>
          </a:xfrm>
          <a:prstGeom prst="rect">
            <a:avLst/>
          </a:prstGeom>
          <a:noFill/>
          <a:ln/>
        </p:spPr>
        <p:txBody>
          <a:bodyPr wrap="square" lIns="0" tIns="0" rIns="0" bIns="0" rtlCol="0" anchor="ctr">
            <a:normAutofit/>
          </a:bodyPr>
          <a:lstStyle/>
          <a:p>
            <a:pPr algn="l" indent="0" marL="0">
              <a:buNone/>
            </a:pPr>
            <a:r>
              <a:rPr lang="en-US" sz="940" b="1" dirty="0">
                <a:solidFill>
                  <a:srgbClr val="111827"/>
                </a:solidFill>
              </a:rPr>
              <a:t>Hybrid FAISS + BM25</a:t>
            </a:r>
            <a:endParaRPr lang="en-US" sz="940" dirty="0"/>
          </a:p>
        </p:txBody>
      </p:sp>
      <p:sp>
        <p:nvSpPr>
          <p:cNvPr id="26" name="Shape 24"/>
          <p:cNvSpPr/>
          <p:nvPr/>
        </p:nvSpPr>
        <p:spPr>
          <a:xfrm>
            <a:off x="3200400" y="2980944"/>
            <a:ext cx="1508760" cy="521208"/>
          </a:xfrm>
          <a:prstGeom prst="rect">
            <a:avLst/>
          </a:prstGeom>
          <a:solidFill>
            <a:srgbClr val="E7F8F6"/>
          </a:solidFill>
          <a:ln w="5080">
            <a:solidFill>
              <a:srgbClr val="CBD5E1"/>
            </a:solidFill>
            <a:prstDash val="solid"/>
          </a:ln>
        </p:spPr>
      </p:sp>
      <p:sp>
        <p:nvSpPr>
          <p:cNvPr id="27" name="Text 25"/>
          <p:cNvSpPr/>
          <p:nvPr/>
        </p:nvSpPr>
        <p:spPr>
          <a:xfrm>
            <a:off x="3255264" y="3072384"/>
            <a:ext cx="1399032" cy="374904"/>
          </a:xfrm>
          <a:prstGeom prst="rect">
            <a:avLst/>
          </a:prstGeom>
          <a:noFill/>
          <a:ln/>
        </p:spPr>
        <p:txBody>
          <a:bodyPr wrap="square" lIns="0" tIns="0" rIns="0" bIns="0" rtlCol="0" anchor="ctr">
            <a:normAutofit/>
          </a:bodyPr>
          <a:lstStyle/>
          <a:p>
            <a:pPr algn="ctr" indent="0" marL="0">
              <a:buNone/>
            </a:pPr>
            <a:r>
              <a:rPr lang="en-US" sz="940" b="1" dirty="0">
                <a:solidFill>
                  <a:srgbClr val="111827"/>
                </a:solidFill>
              </a:rPr>
              <a:t>0.933</a:t>
            </a:r>
            <a:endParaRPr lang="en-US" sz="940" dirty="0"/>
          </a:p>
        </p:txBody>
      </p:sp>
      <p:sp>
        <p:nvSpPr>
          <p:cNvPr id="28" name="Shape 26"/>
          <p:cNvSpPr/>
          <p:nvPr/>
        </p:nvSpPr>
        <p:spPr>
          <a:xfrm>
            <a:off x="4709160" y="2980944"/>
            <a:ext cx="1691640" cy="521208"/>
          </a:xfrm>
          <a:prstGeom prst="rect">
            <a:avLst/>
          </a:prstGeom>
          <a:solidFill>
            <a:srgbClr val="E7F8F6"/>
          </a:solidFill>
          <a:ln w="5080">
            <a:solidFill>
              <a:srgbClr val="CBD5E1"/>
            </a:solidFill>
            <a:prstDash val="solid"/>
          </a:ln>
        </p:spPr>
      </p:sp>
      <p:sp>
        <p:nvSpPr>
          <p:cNvPr id="29" name="Text 27"/>
          <p:cNvSpPr/>
          <p:nvPr/>
        </p:nvSpPr>
        <p:spPr>
          <a:xfrm>
            <a:off x="4764024" y="3072384"/>
            <a:ext cx="1581912" cy="374904"/>
          </a:xfrm>
          <a:prstGeom prst="rect">
            <a:avLst/>
          </a:prstGeom>
          <a:noFill/>
          <a:ln/>
        </p:spPr>
        <p:txBody>
          <a:bodyPr wrap="square" lIns="0" tIns="0" rIns="0" bIns="0" rtlCol="0" anchor="ctr">
            <a:normAutofit/>
          </a:bodyPr>
          <a:lstStyle/>
          <a:p>
            <a:pPr algn="ctr" indent="0" marL="0">
              <a:buNone/>
            </a:pPr>
            <a:r>
              <a:rPr lang="en-US" sz="940" b="1" dirty="0">
                <a:solidFill>
                  <a:srgbClr val="111827"/>
                </a:solidFill>
              </a:rPr>
              <a:t>11.7 ms</a:t>
            </a:r>
            <a:endParaRPr lang="en-US" sz="940" dirty="0"/>
          </a:p>
        </p:txBody>
      </p:sp>
      <p:sp>
        <p:nvSpPr>
          <p:cNvPr id="30" name="Shape 28"/>
          <p:cNvSpPr/>
          <p:nvPr/>
        </p:nvSpPr>
        <p:spPr>
          <a:xfrm>
            <a:off x="685800" y="3502152"/>
            <a:ext cx="2514600" cy="521208"/>
          </a:xfrm>
          <a:prstGeom prst="rect">
            <a:avLst/>
          </a:prstGeom>
          <a:solidFill>
            <a:srgbClr val="F1F5F9"/>
          </a:solidFill>
          <a:ln w="5080">
            <a:solidFill>
              <a:srgbClr val="CBD5E1"/>
            </a:solidFill>
            <a:prstDash val="solid"/>
          </a:ln>
        </p:spPr>
      </p:sp>
      <p:sp>
        <p:nvSpPr>
          <p:cNvPr id="31" name="Text 29"/>
          <p:cNvSpPr/>
          <p:nvPr/>
        </p:nvSpPr>
        <p:spPr>
          <a:xfrm>
            <a:off x="740664" y="3593592"/>
            <a:ext cx="2404872" cy="374904"/>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Rerank only</a:t>
            </a:r>
            <a:endParaRPr lang="en-US" sz="940" dirty="0"/>
          </a:p>
        </p:txBody>
      </p:sp>
      <p:sp>
        <p:nvSpPr>
          <p:cNvPr id="32" name="Shape 30"/>
          <p:cNvSpPr/>
          <p:nvPr/>
        </p:nvSpPr>
        <p:spPr>
          <a:xfrm>
            <a:off x="3200400" y="3502152"/>
            <a:ext cx="1508760" cy="521208"/>
          </a:xfrm>
          <a:prstGeom prst="rect">
            <a:avLst/>
          </a:prstGeom>
          <a:solidFill>
            <a:srgbClr val="F1F5F9"/>
          </a:solidFill>
          <a:ln w="5080">
            <a:solidFill>
              <a:srgbClr val="CBD5E1"/>
            </a:solidFill>
            <a:prstDash val="solid"/>
          </a:ln>
        </p:spPr>
      </p:sp>
      <p:sp>
        <p:nvSpPr>
          <p:cNvPr id="33" name="Text 31"/>
          <p:cNvSpPr/>
          <p:nvPr/>
        </p:nvSpPr>
        <p:spPr>
          <a:xfrm>
            <a:off x="3255264" y="3593592"/>
            <a:ext cx="139903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0.911</a:t>
            </a:r>
            <a:endParaRPr lang="en-US" sz="940" dirty="0"/>
          </a:p>
        </p:txBody>
      </p:sp>
      <p:sp>
        <p:nvSpPr>
          <p:cNvPr id="34" name="Shape 32"/>
          <p:cNvSpPr/>
          <p:nvPr/>
        </p:nvSpPr>
        <p:spPr>
          <a:xfrm>
            <a:off x="4709160" y="3502152"/>
            <a:ext cx="1691640" cy="521208"/>
          </a:xfrm>
          <a:prstGeom prst="rect">
            <a:avLst/>
          </a:prstGeom>
          <a:solidFill>
            <a:srgbClr val="F1F5F9"/>
          </a:solidFill>
          <a:ln w="5080">
            <a:solidFill>
              <a:srgbClr val="CBD5E1"/>
            </a:solidFill>
            <a:prstDash val="solid"/>
          </a:ln>
        </p:spPr>
      </p:sp>
      <p:sp>
        <p:nvSpPr>
          <p:cNvPr id="35" name="Text 33"/>
          <p:cNvSpPr/>
          <p:nvPr/>
        </p:nvSpPr>
        <p:spPr>
          <a:xfrm>
            <a:off x="4764024" y="3593592"/>
            <a:ext cx="158191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1487.3 ms</a:t>
            </a:r>
            <a:endParaRPr lang="en-US" sz="940" dirty="0"/>
          </a:p>
        </p:txBody>
      </p:sp>
      <p:sp>
        <p:nvSpPr>
          <p:cNvPr id="36" name="Shape 34"/>
          <p:cNvSpPr/>
          <p:nvPr/>
        </p:nvSpPr>
        <p:spPr>
          <a:xfrm>
            <a:off x="685800" y="4023360"/>
            <a:ext cx="2514600" cy="521208"/>
          </a:xfrm>
          <a:prstGeom prst="rect">
            <a:avLst/>
          </a:prstGeom>
          <a:solidFill>
            <a:srgbClr val="FFFFFF"/>
          </a:solidFill>
          <a:ln w="5080">
            <a:solidFill>
              <a:srgbClr val="CBD5E1"/>
            </a:solidFill>
            <a:prstDash val="solid"/>
          </a:ln>
        </p:spPr>
      </p:sp>
      <p:sp>
        <p:nvSpPr>
          <p:cNvPr id="37" name="Text 35"/>
          <p:cNvSpPr/>
          <p:nvPr/>
        </p:nvSpPr>
        <p:spPr>
          <a:xfrm>
            <a:off x="740664" y="4114800"/>
            <a:ext cx="2404872" cy="374904"/>
          </a:xfrm>
          <a:prstGeom prst="rect">
            <a:avLst/>
          </a:prstGeom>
          <a:noFill/>
          <a:ln/>
        </p:spPr>
        <p:txBody>
          <a:bodyPr wrap="square" lIns="0" tIns="0" rIns="0" bIns="0" rtlCol="0" anchor="ctr">
            <a:normAutofit/>
          </a:bodyPr>
          <a:lstStyle/>
          <a:p>
            <a:pPr algn="l" indent="0" marL="0">
              <a:buNone/>
            </a:pPr>
            <a:r>
              <a:rPr lang="en-US" sz="940" dirty="0">
                <a:solidFill>
                  <a:srgbClr val="111827"/>
                </a:solidFill>
              </a:rPr>
              <a:t>Hybrid + rerank</a:t>
            </a:r>
            <a:endParaRPr lang="en-US" sz="940" dirty="0"/>
          </a:p>
        </p:txBody>
      </p:sp>
      <p:sp>
        <p:nvSpPr>
          <p:cNvPr id="38" name="Shape 36"/>
          <p:cNvSpPr/>
          <p:nvPr/>
        </p:nvSpPr>
        <p:spPr>
          <a:xfrm>
            <a:off x="3200400" y="4023360"/>
            <a:ext cx="1508760" cy="521208"/>
          </a:xfrm>
          <a:prstGeom prst="rect">
            <a:avLst/>
          </a:prstGeom>
          <a:solidFill>
            <a:srgbClr val="FFFFFF"/>
          </a:solidFill>
          <a:ln w="5080">
            <a:solidFill>
              <a:srgbClr val="CBD5E1"/>
            </a:solidFill>
            <a:prstDash val="solid"/>
          </a:ln>
        </p:spPr>
      </p:sp>
      <p:sp>
        <p:nvSpPr>
          <p:cNvPr id="39" name="Text 37"/>
          <p:cNvSpPr/>
          <p:nvPr/>
        </p:nvSpPr>
        <p:spPr>
          <a:xfrm>
            <a:off x="3255264" y="4114800"/>
            <a:ext cx="139903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0.944</a:t>
            </a:r>
            <a:endParaRPr lang="en-US" sz="940" dirty="0"/>
          </a:p>
        </p:txBody>
      </p:sp>
      <p:sp>
        <p:nvSpPr>
          <p:cNvPr id="40" name="Shape 38"/>
          <p:cNvSpPr/>
          <p:nvPr/>
        </p:nvSpPr>
        <p:spPr>
          <a:xfrm>
            <a:off x="4709160" y="4023360"/>
            <a:ext cx="1691640" cy="521208"/>
          </a:xfrm>
          <a:prstGeom prst="rect">
            <a:avLst/>
          </a:prstGeom>
          <a:solidFill>
            <a:srgbClr val="FFFFFF"/>
          </a:solidFill>
          <a:ln w="5080">
            <a:solidFill>
              <a:srgbClr val="CBD5E1"/>
            </a:solidFill>
            <a:prstDash val="solid"/>
          </a:ln>
        </p:spPr>
      </p:sp>
      <p:sp>
        <p:nvSpPr>
          <p:cNvPr id="41" name="Text 39"/>
          <p:cNvSpPr/>
          <p:nvPr/>
        </p:nvSpPr>
        <p:spPr>
          <a:xfrm>
            <a:off x="4764024" y="4114800"/>
            <a:ext cx="1581912" cy="374904"/>
          </a:xfrm>
          <a:prstGeom prst="rect">
            <a:avLst/>
          </a:prstGeom>
          <a:noFill/>
          <a:ln/>
        </p:spPr>
        <p:txBody>
          <a:bodyPr wrap="square" lIns="0" tIns="0" rIns="0" bIns="0" rtlCol="0" anchor="ctr">
            <a:normAutofit/>
          </a:bodyPr>
          <a:lstStyle/>
          <a:p>
            <a:pPr algn="ctr" indent="0" marL="0">
              <a:buNone/>
            </a:pPr>
            <a:r>
              <a:rPr lang="en-US" sz="940" dirty="0">
                <a:solidFill>
                  <a:srgbClr val="111827"/>
                </a:solidFill>
              </a:rPr>
              <a:t>1328.5 ms</a:t>
            </a:r>
            <a:endParaRPr lang="en-US" sz="940" dirty="0"/>
          </a:p>
        </p:txBody>
      </p:sp>
      <p:sp>
        <p:nvSpPr>
          <p:cNvPr id="42" name="Shape 40"/>
          <p:cNvSpPr/>
          <p:nvPr/>
        </p:nvSpPr>
        <p:spPr>
          <a:xfrm>
            <a:off x="6812280" y="1417320"/>
            <a:ext cx="4434840" cy="4343400"/>
          </a:xfrm>
          <a:prstGeom prst="roundRect">
            <a:avLst>
              <a:gd name="adj" fmla="val 1684"/>
            </a:avLst>
          </a:prstGeom>
          <a:solidFill>
            <a:srgbClr val="E7F8F6"/>
          </a:solidFill>
          <a:ln w="12700">
            <a:solidFill>
              <a:srgbClr val="A7F3D0"/>
            </a:solidFill>
            <a:prstDash val="solid"/>
          </a:ln>
        </p:spPr>
      </p:sp>
      <p:sp>
        <p:nvSpPr>
          <p:cNvPr id="43" name="Text 41"/>
          <p:cNvSpPr/>
          <p:nvPr/>
        </p:nvSpPr>
        <p:spPr>
          <a:xfrm>
            <a:off x="7114032" y="1737360"/>
            <a:ext cx="1371600" cy="228600"/>
          </a:xfrm>
          <a:prstGeom prst="rect">
            <a:avLst/>
          </a:prstGeom>
          <a:noFill/>
          <a:ln/>
        </p:spPr>
        <p:txBody>
          <a:bodyPr wrap="square" lIns="0" tIns="0" rIns="0" bIns="0" rtlCol="0" anchor="ctr"/>
          <a:lstStyle/>
          <a:p>
            <a:pPr indent="0" marL="0">
              <a:buNone/>
            </a:pPr>
            <a:r>
              <a:rPr lang="en-US" sz="1800" b="1" dirty="0">
                <a:solidFill>
                  <a:srgbClr val="07163F"/>
                </a:solidFill>
              </a:rPr>
              <a:t>Decision</a:t>
            </a:r>
            <a:endParaRPr lang="en-US" sz="1800" dirty="0"/>
          </a:p>
        </p:txBody>
      </p:sp>
      <p:sp>
        <p:nvSpPr>
          <p:cNvPr id="44" name="Text 42"/>
          <p:cNvSpPr/>
          <p:nvPr/>
        </p:nvSpPr>
        <p:spPr>
          <a:xfrm>
            <a:off x="7114032" y="2139696"/>
            <a:ext cx="3520440" cy="274320"/>
          </a:xfrm>
          <a:prstGeom prst="rect">
            <a:avLst/>
          </a:prstGeom>
          <a:noFill/>
          <a:ln/>
        </p:spPr>
        <p:txBody>
          <a:bodyPr wrap="square" lIns="0" tIns="0" rIns="0" bIns="0" rtlCol="0" anchor="ctr">
            <a:normAutofit/>
          </a:bodyPr>
          <a:lstStyle/>
          <a:p>
            <a:pPr indent="0" marL="0">
              <a:buNone/>
            </a:pPr>
            <a:r>
              <a:rPr lang="en-US" sz="1800" b="1" dirty="0">
                <a:solidFill>
                  <a:srgbClr val="00827C"/>
                </a:solidFill>
              </a:rPr>
              <a:t>Hybrid was the best production default.</a:t>
            </a:r>
            <a:endParaRPr lang="en-US" sz="1800" dirty="0"/>
          </a:p>
        </p:txBody>
      </p:sp>
      <p:sp>
        <p:nvSpPr>
          <p:cNvPr id="45" name="Shape 43"/>
          <p:cNvSpPr/>
          <p:nvPr/>
        </p:nvSpPr>
        <p:spPr>
          <a:xfrm>
            <a:off x="7114032" y="2770632"/>
            <a:ext cx="77724" cy="77724"/>
          </a:xfrm>
          <a:prstGeom prst="ellipse">
            <a:avLst/>
          </a:prstGeom>
          <a:solidFill>
            <a:srgbClr val="00827C"/>
          </a:solidFill>
          <a:ln w="12700">
            <a:solidFill>
              <a:srgbClr val="00827C"/>
            </a:solidFill>
            <a:prstDash val="solid"/>
          </a:ln>
        </p:spPr>
      </p:sp>
      <p:sp>
        <p:nvSpPr>
          <p:cNvPr id="46" name="Text 44"/>
          <p:cNvSpPr/>
          <p:nvPr/>
        </p:nvSpPr>
        <p:spPr>
          <a:xfrm>
            <a:off x="7287768" y="2688336"/>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Dense was semantically strong but missed exact terms.</a:t>
            </a:r>
            <a:endParaRPr lang="en-US" sz="1350" dirty="0"/>
          </a:p>
        </p:txBody>
      </p:sp>
      <p:sp>
        <p:nvSpPr>
          <p:cNvPr id="47" name="Shape 45"/>
          <p:cNvSpPr/>
          <p:nvPr/>
        </p:nvSpPr>
        <p:spPr>
          <a:xfrm>
            <a:off x="7114032" y="3209544"/>
            <a:ext cx="77724" cy="77724"/>
          </a:xfrm>
          <a:prstGeom prst="ellipse">
            <a:avLst/>
          </a:prstGeom>
          <a:solidFill>
            <a:srgbClr val="00827C"/>
          </a:solidFill>
          <a:ln w="12700">
            <a:solidFill>
              <a:srgbClr val="00827C"/>
            </a:solidFill>
            <a:prstDash val="solid"/>
          </a:ln>
        </p:spPr>
      </p:sp>
      <p:sp>
        <p:nvSpPr>
          <p:cNvPr id="48" name="Text 46"/>
          <p:cNvSpPr/>
          <p:nvPr/>
        </p:nvSpPr>
        <p:spPr>
          <a:xfrm>
            <a:off x="7287768" y="3127248"/>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BM25 was very fast but lower recall.</a:t>
            </a:r>
            <a:endParaRPr lang="en-US" sz="1350" dirty="0"/>
          </a:p>
        </p:txBody>
      </p:sp>
      <p:sp>
        <p:nvSpPr>
          <p:cNvPr id="49" name="Shape 47"/>
          <p:cNvSpPr/>
          <p:nvPr/>
        </p:nvSpPr>
        <p:spPr>
          <a:xfrm>
            <a:off x="7114032" y="3648456"/>
            <a:ext cx="77724" cy="77724"/>
          </a:xfrm>
          <a:prstGeom prst="ellipse">
            <a:avLst/>
          </a:prstGeom>
          <a:solidFill>
            <a:srgbClr val="00827C"/>
          </a:solidFill>
          <a:ln w="12700">
            <a:solidFill>
              <a:srgbClr val="00827C"/>
            </a:solidFill>
            <a:prstDash val="solid"/>
          </a:ln>
        </p:spPr>
      </p:sp>
      <p:sp>
        <p:nvSpPr>
          <p:cNvPr id="50" name="Text 48"/>
          <p:cNvSpPr/>
          <p:nvPr/>
        </p:nvSpPr>
        <p:spPr>
          <a:xfrm>
            <a:off x="7287768" y="3566160"/>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Hybrid gave strong recall with low latency.</a:t>
            </a:r>
            <a:endParaRPr lang="en-US" sz="1350" dirty="0"/>
          </a:p>
        </p:txBody>
      </p:sp>
      <p:sp>
        <p:nvSpPr>
          <p:cNvPr id="51" name="Shape 49"/>
          <p:cNvSpPr/>
          <p:nvPr/>
        </p:nvSpPr>
        <p:spPr>
          <a:xfrm>
            <a:off x="7114032" y="4087368"/>
            <a:ext cx="77724" cy="77724"/>
          </a:xfrm>
          <a:prstGeom prst="ellipse">
            <a:avLst/>
          </a:prstGeom>
          <a:solidFill>
            <a:srgbClr val="00827C"/>
          </a:solidFill>
          <a:ln w="12700">
            <a:solidFill>
              <a:srgbClr val="00827C"/>
            </a:solidFill>
            <a:prstDash val="solid"/>
          </a:ln>
        </p:spPr>
      </p:sp>
      <p:sp>
        <p:nvSpPr>
          <p:cNvPr id="52" name="Text 50"/>
          <p:cNvSpPr/>
          <p:nvPr/>
        </p:nvSpPr>
        <p:spPr>
          <a:xfrm>
            <a:off x="7287768" y="4005072"/>
            <a:ext cx="3483864" cy="265176"/>
          </a:xfrm>
          <a:prstGeom prst="rect">
            <a:avLst/>
          </a:prstGeom>
          <a:noFill/>
          <a:ln/>
        </p:spPr>
        <p:txBody>
          <a:bodyPr wrap="square" lIns="0" tIns="0" rIns="0" bIns="0" rtlCol="0" anchor="ctr">
            <a:normAutofit/>
          </a:bodyPr>
          <a:lstStyle/>
          <a:p>
            <a:pPr indent="0" marL="0">
              <a:buNone/>
            </a:pPr>
            <a:r>
              <a:rPr lang="en-US" sz="1350" dirty="0">
                <a:solidFill>
                  <a:srgbClr val="111827"/>
                </a:solidFill>
              </a:rPr>
              <a:t>Hybrid + rerank had the highest recall but too much latency for default use.</a:t>
            </a:r>
            <a:endParaRPr lang="en-US" sz="1350" dirty="0"/>
          </a:p>
        </p:txBody>
      </p:sp>
      <p:sp>
        <p:nvSpPr>
          <p:cNvPr id="53" name="Shape 51"/>
          <p:cNvSpPr/>
          <p:nvPr/>
        </p:nvSpPr>
        <p:spPr>
          <a:xfrm>
            <a:off x="7132320" y="5166360"/>
            <a:ext cx="3657600" cy="411480"/>
          </a:xfrm>
          <a:prstGeom prst="roundRect">
            <a:avLst>
              <a:gd name="adj" fmla="val 17778"/>
            </a:avLst>
          </a:prstGeom>
          <a:solidFill>
            <a:srgbClr val="FFFFFF"/>
          </a:solidFill>
          <a:ln w="12700">
            <a:solidFill>
              <a:srgbClr val="CFE1F0"/>
            </a:solidFill>
            <a:prstDash val="solid"/>
          </a:ln>
        </p:spPr>
      </p:sp>
      <p:sp>
        <p:nvSpPr>
          <p:cNvPr id="54" name="Text 52"/>
          <p:cNvSpPr/>
          <p:nvPr/>
        </p:nvSpPr>
        <p:spPr>
          <a:xfrm>
            <a:off x="7342632" y="5303520"/>
            <a:ext cx="3200400" cy="109728"/>
          </a:xfrm>
          <a:prstGeom prst="rect">
            <a:avLst/>
          </a:prstGeom>
          <a:noFill/>
          <a:ln/>
        </p:spPr>
        <p:txBody>
          <a:bodyPr wrap="square" lIns="0" tIns="0" rIns="0" bIns="0" rtlCol="0" anchor="ctr">
            <a:normAutofit/>
          </a:bodyPr>
          <a:lstStyle/>
          <a:p>
            <a:pPr algn="ctr" indent="0" marL="0">
              <a:buNone/>
            </a:pPr>
            <a:r>
              <a:rPr lang="en-US" sz="1150" b="1" dirty="0">
                <a:solidFill>
                  <a:srgbClr val="07163F"/>
                </a:solidFill>
              </a:rPr>
              <a:t>Reranking kept as optional evaluation strategy.</a:t>
            </a:r>
            <a:endParaRPr lang="en-US" sz="1150" dirty="0"/>
          </a:p>
        </p:txBody>
      </p:sp>
      <p:sp>
        <p:nvSpPr>
          <p:cNvPr id="56" name="Text 53"/>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13</a:t>
            </a:r>
            <a:endParaRPr lang="en-US" sz="850" dirty="0"/>
          </a:p>
        </p:txBody>
      </p:sp>
      <p:sp>
        <p:nvSpPr>
          <p:cNvPr id="57" name="Text 54"/>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Live demo: what I will show</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822960" y="1417320"/>
            <a:ext cx="5486400" cy="4434840"/>
          </a:xfrm>
          <a:prstGeom prst="roundRect">
            <a:avLst>
              <a:gd name="adj" fmla="val 1649"/>
            </a:avLst>
          </a:prstGeom>
          <a:solidFill>
            <a:srgbClr val="FFFFFF"/>
          </a:solidFill>
          <a:ln w="12700">
            <a:solidFill>
              <a:srgbClr val="D6E4F2"/>
            </a:solidFill>
            <a:prstDash val="solid"/>
          </a:ln>
        </p:spPr>
      </p:sp>
      <p:sp>
        <p:nvSpPr>
          <p:cNvPr id="7" name="Text 5"/>
          <p:cNvSpPr/>
          <p:nvPr/>
        </p:nvSpPr>
        <p:spPr>
          <a:xfrm>
            <a:off x="1097280" y="1719072"/>
            <a:ext cx="1463040" cy="237744"/>
          </a:xfrm>
          <a:prstGeom prst="rect">
            <a:avLst/>
          </a:prstGeom>
          <a:noFill/>
          <a:ln/>
        </p:spPr>
        <p:txBody>
          <a:bodyPr wrap="square" lIns="0" tIns="0" rIns="0" bIns="0" rtlCol="0" anchor="ctr"/>
          <a:lstStyle/>
          <a:p>
            <a:pPr indent="0" marL="0">
              <a:buNone/>
            </a:pPr>
            <a:r>
              <a:rPr lang="en-US" sz="1800" b="1" dirty="0">
                <a:solidFill>
                  <a:srgbClr val="07163F"/>
                </a:solidFill>
              </a:rPr>
              <a:t>Demo path</a:t>
            </a:r>
            <a:endParaRPr lang="en-US" sz="1800" dirty="0"/>
          </a:p>
        </p:txBody>
      </p:sp>
      <p:sp>
        <p:nvSpPr>
          <p:cNvPr id="8" name="Shape 6"/>
          <p:cNvSpPr/>
          <p:nvPr/>
        </p:nvSpPr>
        <p:spPr>
          <a:xfrm>
            <a:off x="1115568" y="2212848"/>
            <a:ext cx="393192" cy="393192"/>
          </a:xfrm>
          <a:prstGeom prst="ellipse">
            <a:avLst/>
          </a:prstGeom>
          <a:solidFill>
            <a:srgbClr val="00827C"/>
          </a:solidFill>
          <a:ln w="12700">
            <a:solidFill>
              <a:srgbClr val="00827C"/>
            </a:solidFill>
            <a:prstDash val="solid"/>
          </a:ln>
        </p:spPr>
      </p:sp>
      <p:sp>
        <p:nvSpPr>
          <p:cNvPr id="9" name="Text 7"/>
          <p:cNvSpPr/>
          <p:nvPr/>
        </p:nvSpPr>
        <p:spPr>
          <a:xfrm>
            <a:off x="1115568" y="2276856"/>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8"/>
          <p:cNvSpPr/>
          <p:nvPr/>
        </p:nvSpPr>
        <p:spPr>
          <a:xfrm>
            <a:off x="1645920" y="2304288"/>
            <a:ext cx="4023360" cy="164592"/>
          </a:xfrm>
          <a:prstGeom prst="rect">
            <a:avLst/>
          </a:prstGeom>
          <a:noFill/>
          <a:ln/>
        </p:spPr>
        <p:txBody>
          <a:bodyPr wrap="square" lIns="0" tIns="0" rIns="0" bIns="0" rtlCol="0" anchor="ctr">
            <a:normAutofit/>
          </a:bodyPr>
          <a:lstStyle/>
          <a:p>
            <a:pPr indent="0" marL="0">
              <a:buNone/>
            </a:pPr>
            <a:r>
              <a:rPr lang="en-US" sz="1380" dirty="0">
                <a:solidFill>
                  <a:srgbClr val="111827"/>
                </a:solidFill>
              </a:rPr>
              <a:t>Ask a PostgreSQL technical question</a:t>
            </a:r>
            <a:endParaRPr lang="en-US" sz="1380" dirty="0"/>
          </a:p>
        </p:txBody>
      </p:sp>
      <p:sp>
        <p:nvSpPr>
          <p:cNvPr id="11" name="Shape 9"/>
          <p:cNvSpPr/>
          <p:nvPr/>
        </p:nvSpPr>
        <p:spPr>
          <a:xfrm>
            <a:off x="1115568" y="2779776"/>
            <a:ext cx="393192" cy="393192"/>
          </a:xfrm>
          <a:prstGeom prst="ellipse">
            <a:avLst/>
          </a:prstGeom>
          <a:solidFill>
            <a:srgbClr val="00827C"/>
          </a:solidFill>
          <a:ln w="12700">
            <a:solidFill>
              <a:srgbClr val="00827C"/>
            </a:solidFill>
            <a:prstDash val="solid"/>
          </a:ln>
        </p:spPr>
      </p:sp>
      <p:sp>
        <p:nvSpPr>
          <p:cNvPr id="12" name="Text 10"/>
          <p:cNvSpPr/>
          <p:nvPr/>
        </p:nvSpPr>
        <p:spPr>
          <a:xfrm>
            <a:off x="1115568" y="2843784"/>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p:nvPr/>
        </p:nvSpPr>
        <p:spPr>
          <a:xfrm>
            <a:off x="1645920" y="2871216"/>
            <a:ext cx="4023360" cy="164592"/>
          </a:xfrm>
          <a:prstGeom prst="rect">
            <a:avLst/>
          </a:prstGeom>
          <a:noFill/>
          <a:ln/>
        </p:spPr>
        <p:txBody>
          <a:bodyPr wrap="square" lIns="0" tIns="0" rIns="0" bIns="0" rtlCol="0" anchor="ctr">
            <a:normAutofit/>
          </a:bodyPr>
          <a:lstStyle/>
          <a:p>
            <a:pPr indent="0" marL="0">
              <a:buNone/>
            </a:pPr>
            <a:r>
              <a:rPr lang="en-US" sz="1380" dirty="0">
                <a:solidFill>
                  <a:srgbClr val="111827"/>
                </a:solidFill>
              </a:rPr>
              <a:t>Show retrieved sources in the UI</a:t>
            </a:r>
            <a:endParaRPr lang="en-US" sz="1380" dirty="0"/>
          </a:p>
        </p:txBody>
      </p:sp>
      <p:sp>
        <p:nvSpPr>
          <p:cNvPr id="14" name="Shape 12"/>
          <p:cNvSpPr/>
          <p:nvPr/>
        </p:nvSpPr>
        <p:spPr>
          <a:xfrm>
            <a:off x="1115568" y="3346704"/>
            <a:ext cx="393192" cy="393192"/>
          </a:xfrm>
          <a:prstGeom prst="ellipse">
            <a:avLst/>
          </a:prstGeom>
          <a:solidFill>
            <a:srgbClr val="00827C"/>
          </a:solidFill>
          <a:ln w="12700">
            <a:solidFill>
              <a:srgbClr val="00827C"/>
            </a:solidFill>
            <a:prstDash val="solid"/>
          </a:ln>
        </p:spPr>
      </p:sp>
      <p:sp>
        <p:nvSpPr>
          <p:cNvPr id="15" name="Text 13"/>
          <p:cNvSpPr/>
          <p:nvPr/>
        </p:nvSpPr>
        <p:spPr>
          <a:xfrm>
            <a:off x="1115568" y="3410712"/>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p:nvPr/>
        </p:nvSpPr>
        <p:spPr>
          <a:xfrm>
            <a:off x="1645920" y="3438144"/>
            <a:ext cx="4023360" cy="164592"/>
          </a:xfrm>
          <a:prstGeom prst="rect">
            <a:avLst/>
          </a:prstGeom>
          <a:noFill/>
          <a:ln/>
        </p:spPr>
        <p:txBody>
          <a:bodyPr wrap="square" lIns="0" tIns="0" rIns="0" bIns="0" rtlCol="0" anchor="ctr">
            <a:normAutofit/>
          </a:bodyPr>
          <a:lstStyle/>
          <a:p>
            <a:pPr indent="0" marL="0">
              <a:buNone/>
            </a:pPr>
            <a:r>
              <a:rPr lang="en-US" sz="1380" dirty="0">
                <a:solidFill>
                  <a:srgbClr val="111827"/>
                </a:solidFill>
              </a:rPr>
              <a:t>Ask a short follow-up question</a:t>
            </a:r>
            <a:endParaRPr lang="en-US" sz="1380" dirty="0"/>
          </a:p>
        </p:txBody>
      </p:sp>
      <p:sp>
        <p:nvSpPr>
          <p:cNvPr id="17" name="Shape 15"/>
          <p:cNvSpPr/>
          <p:nvPr/>
        </p:nvSpPr>
        <p:spPr>
          <a:xfrm>
            <a:off x="1115568" y="3913632"/>
            <a:ext cx="393192" cy="393192"/>
          </a:xfrm>
          <a:prstGeom prst="ellipse">
            <a:avLst/>
          </a:prstGeom>
          <a:solidFill>
            <a:srgbClr val="E68A00"/>
          </a:solidFill>
          <a:ln w="12700">
            <a:solidFill>
              <a:srgbClr val="E68A00"/>
            </a:solidFill>
            <a:prstDash val="solid"/>
          </a:ln>
        </p:spPr>
      </p:sp>
      <p:sp>
        <p:nvSpPr>
          <p:cNvPr id="18" name="Text 16"/>
          <p:cNvSpPr/>
          <p:nvPr/>
        </p:nvSpPr>
        <p:spPr>
          <a:xfrm>
            <a:off x="1115568" y="3977640"/>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7"/>
          <p:cNvSpPr/>
          <p:nvPr/>
        </p:nvSpPr>
        <p:spPr>
          <a:xfrm>
            <a:off x="1645920" y="4005072"/>
            <a:ext cx="4023360" cy="164592"/>
          </a:xfrm>
          <a:prstGeom prst="rect">
            <a:avLst/>
          </a:prstGeom>
          <a:noFill/>
          <a:ln/>
        </p:spPr>
        <p:txBody>
          <a:bodyPr wrap="square" lIns="0" tIns="0" rIns="0" bIns="0" rtlCol="0" anchor="ctr">
            <a:normAutofit/>
          </a:bodyPr>
          <a:lstStyle/>
          <a:p>
            <a:pPr indent="0" marL="0">
              <a:buNone/>
            </a:pPr>
            <a:r>
              <a:rPr lang="en-US" sz="1380" dirty="0">
                <a:solidFill>
                  <a:srgbClr val="111827"/>
                </a:solidFill>
              </a:rPr>
              <a:t>Ask an off-topic question to show refusal</a:t>
            </a:r>
            <a:endParaRPr lang="en-US" sz="1380" dirty="0"/>
          </a:p>
        </p:txBody>
      </p:sp>
      <p:sp>
        <p:nvSpPr>
          <p:cNvPr id="20" name="Shape 18"/>
          <p:cNvSpPr/>
          <p:nvPr/>
        </p:nvSpPr>
        <p:spPr>
          <a:xfrm>
            <a:off x="1115568" y="4480560"/>
            <a:ext cx="393192" cy="393192"/>
          </a:xfrm>
          <a:prstGeom prst="ellipse">
            <a:avLst/>
          </a:prstGeom>
          <a:solidFill>
            <a:srgbClr val="00827C"/>
          </a:solidFill>
          <a:ln w="12700">
            <a:solidFill>
              <a:srgbClr val="00827C"/>
            </a:solidFill>
            <a:prstDash val="solid"/>
          </a:ln>
        </p:spPr>
      </p:sp>
      <p:sp>
        <p:nvSpPr>
          <p:cNvPr id="21" name="Text 19"/>
          <p:cNvSpPr/>
          <p:nvPr/>
        </p:nvSpPr>
        <p:spPr>
          <a:xfrm>
            <a:off x="1115568" y="4544568"/>
            <a:ext cx="393192" cy="1371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p:nvPr/>
        </p:nvSpPr>
        <p:spPr>
          <a:xfrm>
            <a:off x="1645920" y="4572000"/>
            <a:ext cx="4023360" cy="164592"/>
          </a:xfrm>
          <a:prstGeom prst="rect">
            <a:avLst/>
          </a:prstGeom>
          <a:noFill/>
          <a:ln/>
        </p:spPr>
        <p:txBody>
          <a:bodyPr wrap="square" lIns="0" tIns="0" rIns="0" bIns="0" rtlCol="0" anchor="ctr">
            <a:normAutofit/>
          </a:bodyPr>
          <a:lstStyle/>
          <a:p>
            <a:pPr indent="0" marL="0">
              <a:buNone/>
            </a:pPr>
            <a:r>
              <a:rPr lang="en-US" sz="1380" dirty="0">
                <a:solidFill>
                  <a:srgbClr val="111827"/>
                </a:solidFill>
              </a:rPr>
              <a:t>Explain the citation validation behavior</a:t>
            </a:r>
            <a:endParaRPr lang="en-US" sz="1380" dirty="0"/>
          </a:p>
        </p:txBody>
      </p:sp>
      <p:sp>
        <p:nvSpPr>
          <p:cNvPr id="23" name="Shape 21"/>
          <p:cNvSpPr/>
          <p:nvPr/>
        </p:nvSpPr>
        <p:spPr>
          <a:xfrm>
            <a:off x="6812280" y="1417320"/>
            <a:ext cx="4434840" cy="4434840"/>
          </a:xfrm>
          <a:prstGeom prst="roundRect">
            <a:avLst>
              <a:gd name="adj" fmla="val 1649"/>
            </a:avLst>
          </a:prstGeom>
          <a:solidFill>
            <a:srgbClr val="FFFFFF"/>
          </a:solidFill>
          <a:ln w="12700">
            <a:solidFill>
              <a:srgbClr val="D6E4F2"/>
            </a:solidFill>
            <a:prstDash val="solid"/>
          </a:ln>
        </p:spPr>
      </p:sp>
      <p:sp>
        <p:nvSpPr>
          <p:cNvPr id="24" name="Shape 22"/>
          <p:cNvSpPr/>
          <p:nvPr/>
        </p:nvSpPr>
        <p:spPr>
          <a:xfrm>
            <a:off x="7114032" y="1764792"/>
            <a:ext cx="3840480" cy="3474720"/>
          </a:xfrm>
          <a:prstGeom prst="roundRect">
            <a:avLst>
              <a:gd name="adj" fmla="val 2105"/>
            </a:avLst>
          </a:prstGeom>
          <a:solidFill>
            <a:srgbClr val="F8FAFC"/>
          </a:solidFill>
          <a:ln w="12700">
            <a:solidFill>
              <a:srgbClr val="CBD5E1"/>
            </a:solidFill>
            <a:prstDash val="solid"/>
          </a:ln>
        </p:spPr>
      </p:sp>
      <p:sp>
        <p:nvSpPr>
          <p:cNvPr id="25" name="Text 23"/>
          <p:cNvSpPr/>
          <p:nvPr/>
        </p:nvSpPr>
        <p:spPr>
          <a:xfrm>
            <a:off x="7360920" y="1993392"/>
            <a:ext cx="3291840" cy="164592"/>
          </a:xfrm>
          <a:prstGeom prst="rect">
            <a:avLst/>
          </a:prstGeom>
          <a:noFill/>
          <a:ln/>
        </p:spPr>
        <p:txBody>
          <a:bodyPr wrap="square" lIns="0" tIns="0" rIns="0" bIns="0" rtlCol="0" anchor="ctr">
            <a:normAutofit/>
          </a:bodyPr>
          <a:lstStyle/>
          <a:p>
            <a:pPr indent="0" marL="0">
              <a:buNone/>
            </a:pPr>
            <a:r>
              <a:rPr lang="en-US" sz="1250" b="1" dirty="0">
                <a:solidFill>
                  <a:srgbClr val="07163F"/>
                </a:solidFill>
              </a:rPr>
              <a:t>PostgreSQL 16 RAG Q&amp;A Assistant</a:t>
            </a:r>
            <a:endParaRPr lang="en-US" sz="1250" dirty="0"/>
          </a:p>
        </p:txBody>
      </p:sp>
      <p:sp>
        <p:nvSpPr>
          <p:cNvPr id="26" name="Shape 24"/>
          <p:cNvSpPr/>
          <p:nvPr/>
        </p:nvSpPr>
        <p:spPr>
          <a:xfrm>
            <a:off x="7360920" y="2359152"/>
            <a:ext cx="3291840" cy="411480"/>
          </a:xfrm>
          <a:prstGeom prst="roundRect">
            <a:avLst>
              <a:gd name="adj" fmla="val 17778"/>
            </a:avLst>
          </a:prstGeom>
          <a:solidFill>
            <a:srgbClr val="FFFFFF"/>
          </a:solidFill>
          <a:ln w="12700">
            <a:solidFill>
              <a:srgbClr val="CBD5E1"/>
            </a:solidFill>
            <a:prstDash val="solid"/>
          </a:ln>
        </p:spPr>
      </p:sp>
      <p:sp>
        <p:nvSpPr>
          <p:cNvPr id="27" name="Text 25"/>
          <p:cNvSpPr/>
          <p:nvPr/>
        </p:nvSpPr>
        <p:spPr>
          <a:xfrm>
            <a:off x="7498080" y="2505456"/>
            <a:ext cx="2926080" cy="91440"/>
          </a:xfrm>
          <a:prstGeom prst="rect">
            <a:avLst/>
          </a:prstGeom>
          <a:noFill/>
          <a:ln/>
        </p:spPr>
        <p:txBody>
          <a:bodyPr wrap="square" lIns="0" tIns="0" rIns="0" bIns="0" rtlCol="0" anchor="ctr">
            <a:normAutofit/>
          </a:bodyPr>
          <a:lstStyle/>
          <a:p>
            <a:pPr indent="0" marL="0">
              <a:buNone/>
            </a:pPr>
            <a:r>
              <a:rPr lang="en-US" sz="950" dirty="0">
                <a:solidFill>
                  <a:srgbClr val="4B5563"/>
                </a:solidFill>
              </a:rPr>
              <a:t>What does VACUUM do in PostgreSQL?</a:t>
            </a:r>
            <a:endParaRPr lang="en-US" sz="950" dirty="0"/>
          </a:p>
        </p:txBody>
      </p:sp>
      <p:sp>
        <p:nvSpPr>
          <p:cNvPr id="28" name="Shape 26"/>
          <p:cNvSpPr/>
          <p:nvPr/>
        </p:nvSpPr>
        <p:spPr>
          <a:xfrm>
            <a:off x="7360920" y="2971800"/>
            <a:ext cx="3291840" cy="1051560"/>
          </a:xfrm>
          <a:prstGeom prst="roundRect">
            <a:avLst>
              <a:gd name="adj" fmla="val 6957"/>
            </a:avLst>
          </a:prstGeom>
          <a:solidFill>
            <a:srgbClr val="E7F8F6"/>
          </a:solidFill>
          <a:ln w="12700">
            <a:solidFill>
              <a:srgbClr val="A7F3D0"/>
            </a:solidFill>
            <a:prstDash val="solid"/>
          </a:ln>
        </p:spPr>
      </p:sp>
      <p:sp>
        <p:nvSpPr>
          <p:cNvPr id="29" name="Text 27"/>
          <p:cNvSpPr/>
          <p:nvPr/>
        </p:nvSpPr>
        <p:spPr>
          <a:xfrm>
            <a:off x="7534656" y="3182112"/>
            <a:ext cx="2907792" cy="365760"/>
          </a:xfrm>
          <a:prstGeom prst="rect">
            <a:avLst/>
          </a:prstGeom>
          <a:noFill/>
          <a:ln/>
        </p:spPr>
        <p:txBody>
          <a:bodyPr wrap="square" lIns="0" tIns="0" rIns="0" bIns="0" rtlCol="0" anchor="ctr">
            <a:normAutofit/>
          </a:bodyPr>
          <a:lstStyle/>
          <a:p>
            <a:pPr indent="0" marL="0">
              <a:buNone/>
            </a:pPr>
            <a:r>
              <a:rPr lang="en-US" sz="960" dirty="0">
                <a:solidFill>
                  <a:srgbClr val="111827"/>
                </a:solidFill>
              </a:rPr>
              <a:t>Answer: VACUUM reclaims storage and helps maintain table health...</a:t>
            </a:r>
            <a:endParaRPr lang="en-US" sz="960" dirty="0"/>
          </a:p>
          <a:p>
            <a:pPr indent="0" marL="0">
              <a:buNone/>
            </a:pPr>
            <a:r>
              <a:rPr lang="en-US" sz="960" dirty="0">
                <a:solidFill>
                  <a:srgbClr val="111827"/>
                </a:solidFill>
              </a:rPr>
              <a:t>[Source: sql-vacuum]</a:t>
            </a:r>
            <a:endParaRPr lang="en-US" sz="960" dirty="0"/>
          </a:p>
        </p:txBody>
      </p:sp>
      <p:sp>
        <p:nvSpPr>
          <p:cNvPr id="30" name="Shape 28"/>
          <p:cNvSpPr/>
          <p:nvPr/>
        </p:nvSpPr>
        <p:spPr>
          <a:xfrm>
            <a:off x="7360920" y="4270248"/>
            <a:ext cx="960120" cy="301752"/>
          </a:xfrm>
          <a:prstGeom prst="roundRect">
            <a:avLst>
              <a:gd name="adj" fmla="val 24242"/>
            </a:avLst>
          </a:prstGeom>
          <a:solidFill>
            <a:srgbClr val="EAF4FF"/>
          </a:solidFill>
          <a:ln w="12700">
            <a:solidFill>
              <a:srgbClr val="BFDBFE"/>
            </a:solidFill>
            <a:prstDash val="solid"/>
          </a:ln>
        </p:spPr>
      </p:sp>
      <p:sp>
        <p:nvSpPr>
          <p:cNvPr id="31" name="Text 29"/>
          <p:cNvSpPr/>
          <p:nvPr/>
        </p:nvSpPr>
        <p:spPr>
          <a:xfrm>
            <a:off x="7452360" y="4379976"/>
            <a:ext cx="777240" cy="73152"/>
          </a:xfrm>
          <a:prstGeom prst="rect">
            <a:avLst/>
          </a:prstGeom>
          <a:noFill/>
          <a:ln/>
        </p:spPr>
        <p:txBody>
          <a:bodyPr wrap="square" lIns="0" tIns="0" rIns="0" bIns="0" rtlCol="0" anchor="ctr">
            <a:normAutofit/>
          </a:bodyPr>
          <a:lstStyle/>
          <a:p>
            <a:pPr algn="ctr" indent="0" marL="0">
              <a:buNone/>
            </a:pPr>
            <a:r>
              <a:rPr lang="en-US" sz="820" b="1" dirty="0">
                <a:solidFill>
                  <a:srgbClr val="175DAD"/>
                </a:solidFill>
              </a:rPr>
              <a:t>sql-vacuum</a:t>
            </a:r>
            <a:endParaRPr lang="en-US" sz="820" dirty="0"/>
          </a:p>
        </p:txBody>
      </p:sp>
      <p:sp>
        <p:nvSpPr>
          <p:cNvPr id="32" name="Shape 30"/>
          <p:cNvSpPr/>
          <p:nvPr/>
        </p:nvSpPr>
        <p:spPr>
          <a:xfrm>
            <a:off x="8458200" y="4270248"/>
            <a:ext cx="640080" cy="301752"/>
          </a:xfrm>
          <a:prstGeom prst="roundRect">
            <a:avLst>
              <a:gd name="adj" fmla="val 24242"/>
            </a:avLst>
          </a:prstGeom>
          <a:solidFill>
            <a:srgbClr val="EAF4FF"/>
          </a:solidFill>
          <a:ln w="12700">
            <a:solidFill>
              <a:srgbClr val="BFDBFE"/>
            </a:solidFill>
            <a:prstDash val="solid"/>
          </a:ln>
        </p:spPr>
      </p:sp>
      <p:sp>
        <p:nvSpPr>
          <p:cNvPr id="33" name="Text 31"/>
          <p:cNvSpPr/>
          <p:nvPr/>
        </p:nvSpPr>
        <p:spPr>
          <a:xfrm>
            <a:off x="8549640" y="4379976"/>
            <a:ext cx="457200" cy="73152"/>
          </a:xfrm>
          <a:prstGeom prst="rect">
            <a:avLst/>
          </a:prstGeom>
          <a:noFill/>
          <a:ln/>
        </p:spPr>
        <p:txBody>
          <a:bodyPr wrap="square" lIns="0" tIns="0" rIns="0" bIns="0" rtlCol="0" anchor="ctr">
            <a:normAutofit/>
          </a:bodyPr>
          <a:lstStyle/>
          <a:p>
            <a:pPr algn="ctr" indent="0" marL="0">
              <a:buNone/>
            </a:pPr>
            <a:r>
              <a:rPr lang="en-US" sz="820" b="1" dirty="0">
                <a:solidFill>
                  <a:srgbClr val="175DAD"/>
                </a:solidFill>
              </a:rPr>
              <a:t>mvcc</a:t>
            </a:r>
            <a:endParaRPr lang="en-US" sz="820" dirty="0"/>
          </a:p>
        </p:txBody>
      </p:sp>
      <p:sp>
        <p:nvSpPr>
          <p:cNvPr id="34" name="Text 32"/>
          <p:cNvSpPr/>
          <p:nvPr/>
        </p:nvSpPr>
        <p:spPr>
          <a:xfrm>
            <a:off x="7360920" y="4892040"/>
            <a:ext cx="3291840" cy="118872"/>
          </a:xfrm>
          <a:prstGeom prst="rect">
            <a:avLst/>
          </a:prstGeom>
          <a:noFill/>
          <a:ln/>
        </p:spPr>
        <p:txBody>
          <a:bodyPr wrap="square" lIns="0" tIns="0" rIns="0" bIns="0" rtlCol="0" anchor="ctr"/>
          <a:lstStyle/>
          <a:p>
            <a:pPr algn="ctr" indent="0" marL="0">
              <a:buNone/>
            </a:pPr>
            <a:r>
              <a:rPr lang="en-US" sz="880" dirty="0">
                <a:solidFill>
                  <a:srgbClr val="94A3B8"/>
                </a:solidFill>
              </a:rPr>
              <a:t>Placeholder: replace with real app screenshot if needed</a:t>
            </a:r>
            <a:endParaRPr lang="en-US" sz="880" dirty="0"/>
          </a:p>
        </p:txBody>
      </p:sp>
      <p:sp>
        <p:nvSpPr>
          <p:cNvPr id="36" name="Text 33"/>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14</a:t>
            </a:r>
            <a:endParaRPr lang="en-US" sz="850" dirty="0"/>
          </a:p>
        </p:txBody>
      </p:sp>
      <p:sp>
        <p:nvSpPr>
          <p:cNvPr id="37" name="Text 34"/>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Limitations: honest weak cases and what they teach</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868680" y="1508760"/>
            <a:ext cx="4983480" cy="4343400"/>
          </a:xfrm>
          <a:prstGeom prst="roundRect">
            <a:avLst>
              <a:gd name="adj" fmla="val 1684"/>
            </a:avLst>
          </a:prstGeom>
          <a:solidFill>
            <a:srgbClr val="FFFFFF"/>
          </a:solidFill>
          <a:ln w="12700">
            <a:solidFill>
              <a:srgbClr val="D6E4F2"/>
            </a:solidFill>
            <a:prstDash val="solid"/>
          </a:ln>
        </p:spPr>
      </p:sp>
      <p:sp>
        <p:nvSpPr>
          <p:cNvPr id="7" name="Text 5"/>
          <p:cNvSpPr/>
          <p:nvPr/>
        </p:nvSpPr>
        <p:spPr>
          <a:xfrm>
            <a:off x="1152144" y="1810512"/>
            <a:ext cx="1645920" cy="219456"/>
          </a:xfrm>
          <a:prstGeom prst="rect">
            <a:avLst/>
          </a:prstGeom>
          <a:noFill/>
          <a:ln/>
        </p:spPr>
        <p:txBody>
          <a:bodyPr wrap="square" lIns="0" tIns="0" rIns="0" bIns="0" rtlCol="0" anchor="ctr"/>
          <a:lstStyle/>
          <a:p>
            <a:pPr indent="0" marL="0">
              <a:buNone/>
            </a:pPr>
            <a:r>
              <a:rPr lang="en-US" sz="1700" b="1" dirty="0">
                <a:solidFill>
                  <a:srgbClr val="B42318"/>
                </a:solidFill>
              </a:rPr>
              <a:t>Weak QA case 1</a:t>
            </a:r>
            <a:endParaRPr lang="en-US" sz="1700" dirty="0"/>
          </a:p>
        </p:txBody>
      </p:sp>
      <p:sp>
        <p:nvSpPr>
          <p:cNvPr id="8" name="Text 6"/>
          <p:cNvSpPr/>
          <p:nvPr/>
        </p:nvSpPr>
        <p:spPr>
          <a:xfrm>
            <a:off x="1152144" y="2212848"/>
            <a:ext cx="3931920" cy="182880"/>
          </a:xfrm>
          <a:prstGeom prst="rect">
            <a:avLst/>
          </a:prstGeom>
          <a:noFill/>
          <a:ln/>
        </p:spPr>
        <p:txBody>
          <a:bodyPr wrap="square" lIns="0" tIns="0" rIns="0" bIns="0" rtlCol="0" anchor="ctr">
            <a:normAutofit/>
          </a:bodyPr>
          <a:lstStyle/>
          <a:p>
            <a:pPr indent="0" marL="0">
              <a:buNone/>
            </a:pPr>
            <a:r>
              <a:rPr lang="en-US" sz="1380" b="1" dirty="0">
                <a:solidFill>
                  <a:srgbClr val="07163F"/>
                </a:solidFill>
              </a:rPr>
              <a:t>MVCC model and concurrent reads/writes</a:t>
            </a:r>
            <a:endParaRPr lang="en-US" sz="1380" dirty="0"/>
          </a:p>
        </p:txBody>
      </p:sp>
      <p:sp>
        <p:nvSpPr>
          <p:cNvPr id="9" name="Shape 7"/>
          <p:cNvSpPr/>
          <p:nvPr/>
        </p:nvSpPr>
        <p:spPr>
          <a:xfrm>
            <a:off x="1152144" y="2734056"/>
            <a:ext cx="77724" cy="77724"/>
          </a:xfrm>
          <a:prstGeom prst="ellipse">
            <a:avLst/>
          </a:prstGeom>
          <a:solidFill>
            <a:srgbClr val="B42318"/>
          </a:solidFill>
          <a:ln w="12700">
            <a:solidFill>
              <a:srgbClr val="B42318"/>
            </a:solidFill>
            <a:prstDash val="solid"/>
          </a:ln>
        </p:spPr>
      </p:sp>
      <p:sp>
        <p:nvSpPr>
          <p:cNvPr id="10" name="Text 8"/>
          <p:cNvSpPr/>
          <p:nvPr/>
        </p:nvSpPr>
        <p:spPr>
          <a:xfrm>
            <a:off x="1325880" y="2651760"/>
            <a:ext cx="4032504" cy="265176"/>
          </a:xfrm>
          <a:prstGeom prst="rect">
            <a:avLst/>
          </a:prstGeom>
          <a:noFill/>
          <a:ln/>
        </p:spPr>
        <p:txBody>
          <a:bodyPr wrap="square" lIns="0" tIns="0" rIns="0" bIns="0" rtlCol="0" anchor="ctr">
            <a:normAutofit/>
          </a:bodyPr>
          <a:lstStyle/>
          <a:p>
            <a:pPr indent="0" marL="0">
              <a:buNone/>
            </a:pPr>
            <a:r>
              <a:rPr lang="en-US" sz="1300" dirty="0">
                <a:solidFill>
                  <a:srgbClr val="111827"/>
                </a:solidFill>
              </a:rPr>
              <a:t>Retrieval found the expected source, but answer similarity was lower.</a:t>
            </a:r>
            <a:endParaRPr lang="en-US" sz="1300" dirty="0"/>
          </a:p>
        </p:txBody>
      </p:sp>
      <p:sp>
        <p:nvSpPr>
          <p:cNvPr id="11" name="Shape 9"/>
          <p:cNvSpPr/>
          <p:nvPr/>
        </p:nvSpPr>
        <p:spPr>
          <a:xfrm>
            <a:off x="1152144" y="3154680"/>
            <a:ext cx="77724" cy="77724"/>
          </a:xfrm>
          <a:prstGeom prst="ellipse">
            <a:avLst/>
          </a:prstGeom>
          <a:solidFill>
            <a:srgbClr val="B42318"/>
          </a:solidFill>
          <a:ln w="12700">
            <a:solidFill>
              <a:srgbClr val="B42318"/>
            </a:solidFill>
            <a:prstDash val="solid"/>
          </a:ln>
        </p:spPr>
      </p:sp>
      <p:sp>
        <p:nvSpPr>
          <p:cNvPr id="12" name="Text 10"/>
          <p:cNvSpPr/>
          <p:nvPr/>
        </p:nvSpPr>
        <p:spPr>
          <a:xfrm>
            <a:off x="1325880" y="3072384"/>
            <a:ext cx="4032504" cy="265176"/>
          </a:xfrm>
          <a:prstGeom prst="rect">
            <a:avLst/>
          </a:prstGeom>
          <a:noFill/>
          <a:ln/>
        </p:spPr>
        <p:txBody>
          <a:bodyPr wrap="square" lIns="0" tIns="0" rIns="0" bIns="0" rtlCol="0" anchor="ctr">
            <a:normAutofit/>
          </a:bodyPr>
          <a:lstStyle/>
          <a:p>
            <a:pPr indent="0" marL="0">
              <a:buNone/>
            </a:pPr>
            <a:r>
              <a:rPr lang="en-US" sz="1300" dirty="0">
                <a:solidFill>
                  <a:srgbClr val="111827"/>
                </a:solidFill>
              </a:rPr>
              <a:t>Likely reason: concept needs richer synthesis across MVCC and transaction docs.</a:t>
            </a:r>
            <a:endParaRPr lang="en-US" sz="1300" dirty="0"/>
          </a:p>
        </p:txBody>
      </p:sp>
      <p:sp>
        <p:nvSpPr>
          <p:cNvPr id="13" name="Shape 11"/>
          <p:cNvSpPr/>
          <p:nvPr/>
        </p:nvSpPr>
        <p:spPr>
          <a:xfrm>
            <a:off x="1152144" y="3575304"/>
            <a:ext cx="77724" cy="77724"/>
          </a:xfrm>
          <a:prstGeom prst="ellipse">
            <a:avLst/>
          </a:prstGeom>
          <a:solidFill>
            <a:srgbClr val="B42318"/>
          </a:solidFill>
          <a:ln w="12700">
            <a:solidFill>
              <a:srgbClr val="B42318"/>
            </a:solidFill>
            <a:prstDash val="solid"/>
          </a:ln>
        </p:spPr>
      </p:sp>
      <p:sp>
        <p:nvSpPr>
          <p:cNvPr id="14" name="Text 12"/>
          <p:cNvSpPr/>
          <p:nvPr/>
        </p:nvSpPr>
        <p:spPr>
          <a:xfrm>
            <a:off x="1325880" y="3493008"/>
            <a:ext cx="4032504" cy="265176"/>
          </a:xfrm>
          <a:prstGeom prst="rect">
            <a:avLst/>
          </a:prstGeom>
          <a:noFill/>
          <a:ln/>
        </p:spPr>
        <p:txBody>
          <a:bodyPr wrap="square" lIns="0" tIns="0" rIns="0" bIns="0" rtlCol="0" anchor="ctr">
            <a:normAutofit/>
          </a:bodyPr>
          <a:lstStyle/>
          <a:p>
            <a:pPr indent="0" marL="0">
              <a:buNone/>
            </a:pPr>
            <a:r>
              <a:rPr lang="en-US" sz="1300" dirty="0">
                <a:solidFill>
                  <a:srgbClr val="111827"/>
                </a:solidFill>
              </a:rPr>
              <a:t>Fix: structure-aware chunking and better answer checklist.</a:t>
            </a:r>
            <a:endParaRPr lang="en-US" sz="1300" dirty="0"/>
          </a:p>
        </p:txBody>
      </p:sp>
      <p:sp>
        <p:nvSpPr>
          <p:cNvPr id="15" name="Shape 13"/>
          <p:cNvSpPr/>
          <p:nvPr/>
        </p:nvSpPr>
        <p:spPr>
          <a:xfrm>
            <a:off x="6355080" y="1508760"/>
            <a:ext cx="4983480" cy="4343400"/>
          </a:xfrm>
          <a:prstGeom prst="roundRect">
            <a:avLst>
              <a:gd name="adj" fmla="val 1684"/>
            </a:avLst>
          </a:prstGeom>
          <a:solidFill>
            <a:srgbClr val="FFFFFF"/>
          </a:solidFill>
          <a:ln w="12700">
            <a:solidFill>
              <a:srgbClr val="D6E4F2"/>
            </a:solidFill>
            <a:prstDash val="solid"/>
          </a:ln>
        </p:spPr>
      </p:sp>
      <p:sp>
        <p:nvSpPr>
          <p:cNvPr id="16" name="Text 14"/>
          <p:cNvSpPr/>
          <p:nvPr/>
        </p:nvSpPr>
        <p:spPr>
          <a:xfrm>
            <a:off x="6638544" y="1810512"/>
            <a:ext cx="1645920" cy="219456"/>
          </a:xfrm>
          <a:prstGeom prst="rect">
            <a:avLst/>
          </a:prstGeom>
          <a:noFill/>
          <a:ln/>
        </p:spPr>
        <p:txBody>
          <a:bodyPr wrap="square" lIns="0" tIns="0" rIns="0" bIns="0" rtlCol="0" anchor="ctr"/>
          <a:lstStyle/>
          <a:p>
            <a:pPr indent="0" marL="0">
              <a:buNone/>
            </a:pPr>
            <a:r>
              <a:rPr lang="en-US" sz="1700" b="1" dirty="0">
                <a:solidFill>
                  <a:srgbClr val="E68A00"/>
                </a:solidFill>
              </a:rPr>
              <a:t>Weak QA case 2</a:t>
            </a:r>
            <a:endParaRPr lang="en-US" sz="1700" dirty="0"/>
          </a:p>
        </p:txBody>
      </p:sp>
      <p:sp>
        <p:nvSpPr>
          <p:cNvPr id="17" name="Text 15"/>
          <p:cNvSpPr/>
          <p:nvPr/>
        </p:nvSpPr>
        <p:spPr>
          <a:xfrm>
            <a:off x="6638544" y="2212848"/>
            <a:ext cx="3931920" cy="182880"/>
          </a:xfrm>
          <a:prstGeom prst="rect">
            <a:avLst/>
          </a:prstGeom>
          <a:noFill/>
          <a:ln/>
        </p:spPr>
        <p:txBody>
          <a:bodyPr wrap="square" lIns="0" tIns="0" rIns="0" bIns="0" rtlCol="0" anchor="ctr">
            <a:normAutofit/>
          </a:bodyPr>
          <a:lstStyle/>
          <a:p>
            <a:pPr indent="0" marL="0">
              <a:buNone/>
            </a:pPr>
            <a:r>
              <a:rPr lang="en-US" sz="1380" b="1" dirty="0">
                <a:solidFill>
                  <a:srgbClr val="07163F"/>
                </a:solidFill>
              </a:rPr>
              <a:t>Transaction error after BEGIN before COMMIT</a:t>
            </a:r>
            <a:endParaRPr lang="en-US" sz="1380" dirty="0"/>
          </a:p>
        </p:txBody>
      </p:sp>
      <p:sp>
        <p:nvSpPr>
          <p:cNvPr id="18" name="Shape 16"/>
          <p:cNvSpPr/>
          <p:nvPr/>
        </p:nvSpPr>
        <p:spPr>
          <a:xfrm>
            <a:off x="6638544" y="2734056"/>
            <a:ext cx="77724" cy="77724"/>
          </a:xfrm>
          <a:prstGeom prst="ellipse">
            <a:avLst/>
          </a:prstGeom>
          <a:solidFill>
            <a:srgbClr val="E68A00"/>
          </a:solidFill>
          <a:ln w="12700">
            <a:solidFill>
              <a:srgbClr val="E68A00"/>
            </a:solidFill>
            <a:prstDash val="solid"/>
          </a:ln>
        </p:spPr>
      </p:sp>
      <p:sp>
        <p:nvSpPr>
          <p:cNvPr id="19" name="Text 17"/>
          <p:cNvSpPr/>
          <p:nvPr/>
        </p:nvSpPr>
        <p:spPr>
          <a:xfrm>
            <a:off x="6812280" y="2651760"/>
            <a:ext cx="4032504" cy="265176"/>
          </a:xfrm>
          <a:prstGeom prst="rect">
            <a:avLst/>
          </a:prstGeom>
          <a:noFill/>
          <a:ln/>
        </p:spPr>
        <p:txBody>
          <a:bodyPr wrap="square" lIns="0" tIns="0" rIns="0" bIns="0" rtlCol="0" anchor="ctr">
            <a:normAutofit/>
          </a:bodyPr>
          <a:lstStyle/>
          <a:p>
            <a:pPr indent="0" marL="0">
              <a:buNone/>
            </a:pPr>
            <a:r>
              <a:rPr lang="en-US" sz="1300" dirty="0">
                <a:solidFill>
                  <a:srgbClr val="111827"/>
                </a:solidFill>
              </a:rPr>
              <a:t>Retrieved relevant transaction sources, but final answer needed stronger grounding.</a:t>
            </a:r>
            <a:endParaRPr lang="en-US" sz="1300" dirty="0"/>
          </a:p>
        </p:txBody>
      </p:sp>
      <p:sp>
        <p:nvSpPr>
          <p:cNvPr id="20" name="Shape 18"/>
          <p:cNvSpPr/>
          <p:nvPr/>
        </p:nvSpPr>
        <p:spPr>
          <a:xfrm>
            <a:off x="6638544" y="3154680"/>
            <a:ext cx="77724" cy="77724"/>
          </a:xfrm>
          <a:prstGeom prst="ellipse">
            <a:avLst/>
          </a:prstGeom>
          <a:solidFill>
            <a:srgbClr val="E68A00"/>
          </a:solidFill>
          <a:ln w="12700">
            <a:solidFill>
              <a:srgbClr val="E68A00"/>
            </a:solidFill>
            <a:prstDash val="solid"/>
          </a:ln>
        </p:spPr>
      </p:sp>
      <p:sp>
        <p:nvSpPr>
          <p:cNvPr id="21" name="Text 19"/>
          <p:cNvSpPr/>
          <p:nvPr/>
        </p:nvSpPr>
        <p:spPr>
          <a:xfrm>
            <a:off x="6812280" y="3072384"/>
            <a:ext cx="4032504" cy="265176"/>
          </a:xfrm>
          <a:prstGeom prst="rect">
            <a:avLst/>
          </a:prstGeom>
          <a:noFill/>
          <a:ln/>
        </p:spPr>
        <p:txBody>
          <a:bodyPr wrap="square" lIns="0" tIns="0" rIns="0" bIns="0" rtlCol="0" anchor="ctr">
            <a:normAutofit/>
          </a:bodyPr>
          <a:lstStyle/>
          <a:p>
            <a:pPr indent="0" marL="0">
              <a:buNone/>
            </a:pPr>
            <a:r>
              <a:rPr lang="en-US" sz="1300" dirty="0">
                <a:solidFill>
                  <a:srgbClr val="111827"/>
                </a:solidFill>
              </a:rPr>
              <a:t>Likely reason: answer requires connecting BEGIN, COMMIT, ROLLBACK, SAVEPOINT behavior.</a:t>
            </a:r>
            <a:endParaRPr lang="en-US" sz="1300" dirty="0"/>
          </a:p>
        </p:txBody>
      </p:sp>
      <p:sp>
        <p:nvSpPr>
          <p:cNvPr id="22" name="Shape 20"/>
          <p:cNvSpPr/>
          <p:nvPr/>
        </p:nvSpPr>
        <p:spPr>
          <a:xfrm>
            <a:off x="6638544" y="3575304"/>
            <a:ext cx="77724" cy="77724"/>
          </a:xfrm>
          <a:prstGeom prst="ellipse">
            <a:avLst/>
          </a:prstGeom>
          <a:solidFill>
            <a:srgbClr val="E68A00"/>
          </a:solidFill>
          <a:ln w="12700">
            <a:solidFill>
              <a:srgbClr val="E68A00"/>
            </a:solidFill>
            <a:prstDash val="solid"/>
          </a:ln>
        </p:spPr>
      </p:sp>
      <p:sp>
        <p:nvSpPr>
          <p:cNvPr id="23" name="Text 21"/>
          <p:cNvSpPr/>
          <p:nvPr/>
        </p:nvSpPr>
        <p:spPr>
          <a:xfrm>
            <a:off x="6812280" y="3493008"/>
            <a:ext cx="4032504" cy="265176"/>
          </a:xfrm>
          <a:prstGeom prst="rect">
            <a:avLst/>
          </a:prstGeom>
          <a:noFill/>
          <a:ln/>
        </p:spPr>
        <p:txBody>
          <a:bodyPr wrap="square" lIns="0" tIns="0" rIns="0" bIns="0" rtlCol="0" anchor="ctr">
            <a:normAutofit/>
          </a:bodyPr>
          <a:lstStyle/>
          <a:p>
            <a:pPr indent="0" marL="0">
              <a:buNone/>
            </a:pPr>
            <a:r>
              <a:rPr lang="en-US" sz="1300" dirty="0">
                <a:solidFill>
                  <a:srgbClr val="111827"/>
                </a:solidFill>
              </a:rPr>
              <a:t>Fix: claim-level citation checks and multi-source synthesis rules.</a:t>
            </a:r>
            <a:endParaRPr lang="en-US" sz="1300" dirty="0"/>
          </a:p>
        </p:txBody>
      </p:sp>
      <p:sp>
        <p:nvSpPr>
          <p:cNvPr id="24" name="Shape 22"/>
          <p:cNvSpPr/>
          <p:nvPr/>
        </p:nvSpPr>
        <p:spPr>
          <a:xfrm>
            <a:off x="1828800" y="6080760"/>
            <a:ext cx="8458200" cy="329184"/>
          </a:xfrm>
          <a:prstGeom prst="roundRect">
            <a:avLst>
              <a:gd name="adj" fmla="val 22222"/>
            </a:avLst>
          </a:prstGeom>
          <a:solidFill>
            <a:srgbClr val="E7F8F6"/>
          </a:solidFill>
          <a:ln w="12700">
            <a:solidFill>
              <a:srgbClr val="A7F3D0"/>
            </a:solidFill>
            <a:prstDash val="solid"/>
          </a:ln>
        </p:spPr>
      </p:sp>
      <p:sp>
        <p:nvSpPr>
          <p:cNvPr id="25" name="Text 23"/>
          <p:cNvSpPr/>
          <p:nvPr/>
        </p:nvSpPr>
        <p:spPr>
          <a:xfrm>
            <a:off x="2057400" y="6190488"/>
            <a:ext cx="8046720" cy="91440"/>
          </a:xfrm>
          <a:prstGeom prst="rect">
            <a:avLst/>
          </a:prstGeom>
          <a:noFill/>
          <a:ln/>
        </p:spPr>
        <p:txBody>
          <a:bodyPr wrap="square" lIns="0" tIns="0" rIns="0" bIns="0" rtlCol="0" anchor="ctr">
            <a:normAutofit/>
          </a:bodyPr>
          <a:lstStyle/>
          <a:p>
            <a:pPr algn="ctr" indent="0" marL="0">
              <a:buNone/>
            </a:pPr>
            <a:r>
              <a:rPr lang="en-US" sz="1090" b="1" dirty="0">
                <a:solidFill>
                  <a:srgbClr val="00827C"/>
                </a:solidFill>
              </a:rPr>
              <a:t>Leadership point: I would present limitations clearly, attach metrics, and convert failures into the next improvement backlog.</a:t>
            </a:r>
            <a:endParaRPr lang="en-US" sz="1090" dirty="0"/>
          </a:p>
        </p:txBody>
      </p:sp>
      <p:sp>
        <p:nvSpPr>
          <p:cNvPr id="27" name="Text 24"/>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15</a:t>
            </a:r>
            <a:endParaRPr lang="en-US" sz="850" dirty="0"/>
          </a:p>
        </p:txBody>
      </p:sp>
      <p:sp>
        <p:nvSpPr>
          <p:cNvPr id="28" name="Text 25"/>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8FF"/>
          </a:solidFill>
          <a:ln w="12700">
            <a:solidFill>
              <a:srgbClr val="F4F8FF"/>
            </a:solidFill>
            <a:prstDash val="solid"/>
          </a:ln>
        </p:spPr>
      </p:sp>
      <p:sp>
        <p:nvSpPr>
          <p:cNvPr id="3" name="Text 1"/>
          <p:cNvSpPr/>
          <p:nvPr/>
        </p:nvSpPr>
        <p:spPr>
          <a:xfrm>
            <a:off x="530352" y="256032"/>
            <a:ext cx="6217920" cy="219456"/>
          </a:xfrm>
          <a:prstGeom prst="rect">
            <a:avLst/>
          </a:prstGeom>
          <a:noFill/>
          <a:ln/>
        </p:spPr>
        <p:txBody>
          <a:bodyPr wrap="square" lIns="0" tIns="0" rIns="0" bIns="0" rtlCol="0" anchor="ctr">
            <a:normAutofit/>
          </a:bodyPr>
          <a:lstStyle/>
          <a:p>
            <a:pPr indent="0" marL="0">
              <a:buNone/>
            </a:pPr>
            <a:r>
              <a:rPr lang="en-US" sz="1050" b="1" dirty="0">
                <a:solidFill>
                  <a:srgbClr val="00827C"/>
                </a:solidFill>
                <a:latin typeface="Aptos" pitchFamily="34" charset="0"/>
                <a:ea typeface="Aptos" pitchFamily="34" charset="-122"/>
                <a:cs typeface="Aptos" pitchFamily="34" charset="-120"/>
              </a:rPr>
              <a:t>PostgreSQL 16 RAG Q&amp;A Assistant</a:t>
            </a:r>
            <a:endParaRPr lang="en-US" sz="1050" dirty="0"/>
          </a:p>
        </p:txBody>
      </p:sp>
      <p:sp>
        <p:nvSpPr>
          <p:cNvPr id="4" name="Text 2"/>
          <p:cNvSpPr/>
          <p:nvPr/>
        </p:nvSpPr>
        <p:spPr>
          <a:xfrm>
            <a:off x="530352" y="530352"/>
            <a:ext cx="10972800" cy="530352"/>
          </a:xfrm>
          <a:prstGeom prst="rect">
            <a:avLst/>
          </a:prstGeom>
          <a:noFill/>
          <a:ln/>
        </p:spPr>
        <p:txBody>
          <a:bodyPr wrap="square" lIns="0" tIns="0" rIns="0" bIns="0" rtlCol="0" anchor="ctr">
            <a:normAutofit/>
          </a:bodyPr>
          <a:lstStyle/>
          <a:p>
            <a:pPr indent="0" marL="0">
              <a:buNone/>
            </a:pPr>
            <a:r>
              <a:rPr lang="en-US" sz="2850" b="1" dirty="0">
                <a:solidFill>
                  <a:srgbClr val="07163F"/>
                </a:solidFill>
                <a:latin typeface="Aptos Display" pitchFamily="34" charset="0"/>
                <a:ea typeface="Aptos Display" pitchFamily="34" charset="-122"/>
                <a:cs typeface="Aptos Display" pitchFamily="34" charset="-120"/>
              </a:rPr>
              <a:t>Future improvements + closing</a:t>
            </a:r>
            <a:endParaRPr lang="en-US" sz="2850" dirty="0"/>
          </a:p>
        </p:txBody>
      </p:sp>
      <p:sp>
        <p:nvSpPr>
          <p:cNvPr id="5" name="Shape 3"/>
          <p:cNvSpPr/>
          <p:nvPr/>
        </p:nvSpPr>
        <p:spPr>
          <a:xfrm>
            <a:off x="530352" y="1143000"/>
            <a:ext cx="11109960" cy="0"/>
          </a:xfrm>
          <a:prstGeom prst="line">
            <a:avLst/>
          </a:prstGeom>
          <a:noFill/>
          <a:ln w="12700">
            <a:solidFill>
              <a:srgbClr val="E2E8F0"/>
            </a:solidFill>
            <a:prstDash val="solid"/>
          </a:ln>
        </p:spPr>
      </p:sp>
      <p:sp>
        <p:nvSpPr>
          <p:cNvPr id="6" name="Shape 4"/>
          <p:cNvSpPr/>
          <p:nvPr/>
        </p:nvSpPr>
        <p:spPr>
          <a:xfrm>
            <a:off x="777240" y="1463040"/>
            <a:ext cx="5074920" cy="4160520"/>
          </a:xfrm>
          <a:prstGeom prst="roundRect">
            <a:avLst>
              <a:gd name="adj" fmla="val 1758"/>
            </a:avLst>
          </a:prstGeom>
          <a:solidFill>
            <a:srgbClr val="FFFFFF"/>
          </a:solidFill>
          <a:ln w="12700">
            <a:solidFill>
              <a:srgbClr val="D6E4F2"/>
            </a:solidFill>
            <a:prstDash val="solid"/>
          </a:ln>
        </p:spPr>
      </p:sp>
      <p:sp>
        <p:nvSpPr>
          <p:cNvPr id="7" name="Text 5"/>
          <p:cNvSpPr/>
          <p:nvPr/>
        </p:nvSpPr>
        <p:spPr>
          <a:xfrm>
            <a:off x="1060704" y="1773936"/>
            <a:ext cx="2286000" cy="256032"/>
          </a:xfrm>
          <a:prstGeom prst="rect">
            <a:avLst/>
          </a:prstGeom>
          <a:noFill/>
          <a:ln/>
        </p:spPr>
        <p:txBody>
          <a:bodyPr wrap="square" lIns="0" tIns="0" rIns="0" bIns="0" rtlCol="0" anchor="ctr"/>
          <a:lstStyle/>
          <a:p>
            <a:pPr indent="0" marL="0">
              <a:buNone/>
            </a:pPr>
            <a:r>
              <a:rPr lang="en-US" sz="1900" b="1" dirty="0">
                <a:solidFill>
                  <a:srgbClr val="07163F"/>
                </a:solidFill>
              </a:rPr>
              <a:t>Future improvements</a:t>
            </a:r>
            <a:endParaRPr lang="en-US" sz="1900" dirty="0"/>
          </a:p>
        </p:txBody>
      </p:sp>
      <p:sp>
        <p:nvSpPr>
          <p:cNvPr id="8" name="Shape 6"/>
          <p:cNvSpPr/>
          <p:nvPr/>
        </p:nvSpPr>
        <p:spPr>
          <a:xfrm>
            <a:off x="1060704" y="2322576"/>
            <a:ext cx="77724" cy="77724"/>
          </a:xfrm>
          <a:prstGeom prst="ellipse">
            <a:avLst/>
          </a:prstGeom>
          <a:solidFill>
            <a:srgbClr val="00827C"/>
          </a:solidFill>
          <a:ln w="12700">
            <a:solidFill>
              <a:srgbClr val="00827C"/>
            </a:solidFill>
            <a:prstDash val="solid"/>
          </a:ln>
        </p:spPr>
      </p:sp>
      <p:sp>
        <p:nvSpPr>
          <p:cNvPr id="9" name="Text 7"/>
          <p:cNvSpPr/>
          <p:nvPr/>
        </p:nvSpPr>
        <p:spPr>
          <a:xfrm>
            <a:off x="1234440" y="2240280"/>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Structure-aware chunking for tables, sections, and SQL syntax blocks.</a:t>
            </a:r>
            <a:endParaRPr lang="en-US" sz="1360" dirty="0"/>
          </a:p>
        </p:txBody>
      </p:sp>
      <p:sp>
        <p:nvSpPr>
          <p:cNvPr id="10" name="Shape 8"/>
          <p:cNvSpPr/>
          <p:nvPr/>
        </p:nvSpPr>
        <p:spPr>
          <a:xfrm>
            <a:off x="1060704" y="2761488"/>
            <a:ext cx="77724" cy="77724"/>
          </a:xfrm>
          <a:prstGeom prst="ellipse">
            <a:avLst/>
          </a:prstGeom>
          <a:solidFill>
            <a:srgbClr val="00827C"/>
          </a:solidFill>
          <a:ln w="12700">
            <a:solidFill>
              <a:srgbClr val="00827C"/>
            </a:solidFill>
            <a:prstDash val="solid"/>
          </a:ln>
        </p:spPr>
      </p:sp>
      <p:sp>
        <p:nvSpPr>
          <p:cNvPr id="11" name="Text 9"/>
          <p:cNvSpPr/>
          <p:nvPr/>
        </p:nvSpPr>
        <p:spPr>
          <a:xfrm>
            <a:off x="1234440" y="2679192"/>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Intent classifier to separate SQL, PostgreSQL docs, and off-topic queries.</a:t>
            </a:r>
            <a:endParaRPr lang="en-US" sz="1360" dirty="0"/>
          </a:p>
        </p:txBody>
      </p:sp>
      <p:sp>
        <p:nvSpPr>
          <p:cNvPr id="12" name="Shape 10"/>
          <p:cNvSpPr/>
          <p:nvPr/>
        </p:nvSpPr>
        <p:spPr>
          <a:xfrm>
            <a:off x="1060704" y="3200400"/>
            <a:ext cx="77724" cy="77724"/>
          </a:xfrm>
          <a:prstGeom prst="ellipse">
            <a:avLst/>
          </a:prstGeom>
          <a:solidFill>
            <a:srgbClr val="00827C"/>
          </a:solidFill>
          <a:ln w="12700">
            <a:solidFill>
              <a:srgbClr val="00827C"/>
            </a:solidFill>
            <a:prstDash val="solid"/>
          </a:ln>
        </p:spPr>
      </p:sp>
      <p:sp>
        <p:nvSpPr>
          <p:cNvPr id="13" name="Text 11"/>
          <p:cNvSpPr/>
          <p:nvPr/>
        </p:nvSpPr>
        <p:spPr>
          <a:xfrm>
            <a:off x="1234440" y="3118104"/>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Claim-level citation checks, not only source-ID validation.</a:t>
            </a:r>
            <a:endParaRPr lang="en-US" sz="1360" dirty="0"/>
          </a:p>
        </p:txBody>
      </p:sp>
      <p:sp>
        <p:nvSpPr>
          <p:cNvPr id="14" name="Shape 12"/>
          <p:cNvSpPr/>
          <p:nvPr/>
        </p:nvSpPr>
        <p:spPr>
          <a:xfrm>
            <a:off x="1060704" y="3639312"/>
            <a:ext cx="77724" cy="77724"/>
          </a:xfrm>
          <a:prstGeom prst="ellipse">
            <a:avLst/>
          </a:prstGeom>
          <a:solidFill>
            <a:srgbClr val="00827C"/>
          </a:solidFill>
          <a:ln w="12700">
            <a:solidFill>
              <a:srgbClr val="00827C"/>
            </a:solidFill>
            <a:prstDash val="solid"/>
          </a:ln>
        </p:spPr>
      </p:sp>
      <p:sp>
        <p:nvSpPr>
          <p:cNvPr id="15" name="Text 13"/>
          <p:cNvSpPr/>
          <p:nvPr/>
        </p:nvSpPr>
        <p:spPr>
          <a:xfrm>
            <a:off x="1234440" y="3557016"/>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Production path: FastAPI backend, pgvector/managed vector DB, Docker, CI/CD, logging.</a:t>
            </a:r>
            <a:endParaRPr lang="en-US" sz="1360" dirty="0"/>
          </a:p>
        </p:txBody>
      </p:sp>
      <p:sp>
        <p:nvSpPr>
          <p:cNvPr id="16" name="Shape 14"/>
          <p:cNvSpPr/>
          <p:nvPr/>
        </p:nvSpPr>
        <p:spPr>
          <a:xfrm>
            <a:off x="6309360" y="1463040"/>
            <a:ext cx="5074920" cy="4160520"/>
          </a:xfrm>
          <a:prstGeom prst="roundRect">
            <a:avLst>
              <a:gd name="adj" fmla="val 1758"/>
            </a:avLst>
          </a:prstGeom>
          <a:solidFill>
            <a:srgbClr val="E7F8F6"/>
          </a:solidFill>
          <a:ln w="12700">
            <a:solidFill>
              <a:srgbClr val="A7F3D0"/>
            </a:solidFill>
            <a:prstDash val="solid"/>
          </a:ln>
        </p:spPr>
      </p:sp>
      <p:sp>
        <p:nvSpPr>
          <p:cNvPr id="17" name="Text 15"/>
          <p:cNvSpPr/>
          <p:nvPr/>
        </p:nvSpPr>
        <p:spPr>
          <a:xfrm>
            <a:off x="6592824" y="1773936"/>
            <a:ext cx="1920240" cy="256032"/>
          </a:xfrm>
          <a:prstGeom prst="rect">
            <a:avLst/>
          </a:prstGeom>
          <a:noFill/>
          <a:ln/>
        </p:spPr>
        <p:txBody>
          <a:bodyPr wrap="square" lIns="0" tIns="0" rIns="0" bIns="0" rtlCol="0" anchor="ctr"/>
          <a:lstStyle/>
          <a:p>
            <a:pPr indent="0" marL="0">
              <a:buNone/>
            </a:pPr>
            <a:r>
              <a:rPr lang="en-US" sz="1900" b="1" dirty="0">
                <a:solidFill>
                  <a:srgbClr val="07163F"/>
                </a:solidFill>
              </a:rPr>
              <a:t>Closing message</a:t>
            </a:r>
            <a:endParaRPr lang="en-US" sz="1900" dirty="0"/>
          </a:p>
        </p:txBody>
      </p:sp>
      <p:sp>
        <p:nvSpPr>
          <p:cNvPr id="18" name="Text 16"/>
          <p:cNvSpPr/>
          <p:nvPr/>
        </p:nvSpPr>
        <p:spPr>
          <a:xfrm>
            <a:off x="6592824" y="2231136"/>
            <a:ext cx="4297680" cy="493776"/>
          </a:xfrm>
          <a:prstGeom prst="rect">
            <a:avLst/>
          </a:prstGeom>
          <a:noFill/>
          <a:ln/>
        </p:spPr>
        <p:txBody>
          <a:bodyPr wrap="square" lIns="0" tIns="0" rIns="0" bIns="0" rtlCol="0" anchor="ctr">
            <a:normAutofit/>
          </a:bodyPr>
          <a:lstStyle/>
          <a:p>
            <a:pPr indent="0" marL="0">
              <a:buNone/>
            </a:pPr>
            <a:r>
              <a:rPr lang="en-US" sz="1800" b="1" dirty="0">
                <a:solidFill>
                  <a:srgbClr val="00827C"/>
                </a:solidFill>
              </a:rPr>
              <a:t>The main thing I want to show is that I did not build only a chatbot UI.</a:t>
            </a:r>
            <a:endParaRPr lang="en-US" sz="1800" dirty="0"/>
          </a:p>
        </p:txBody>
      </p:sp>
      <p:sp>
        <p:nvSpPr>
          <p:cNvPr id="19" name="Shape 17"/>
          <p:cNvSpPr/>
          <p:nvPr/>
        </p:nvSpPr>
        <p:spPr>
          <a:xfrm>
            <a:off x="6592824" y="3026664"/>
            <a:ext cx="77724" cy="77724"/>
          </a:xfrm>
          <a:prstGeom prst="ellipse">
            <a:avLst/>
          </a:prstGeom>
          <a:solidFill>
            <a:srgbClr val="00827C"/>
          </a:solidFill>
          <a:ln w="12700">
            <a:solidFill>
              <a:srgbClr val="00827C"/>
            </a:solidFill>
            <a:prstDash val="solid"/>
          </a:ln>
        </p:spPr>
      </p:sp>
      <p:sp>
        <p:nvSpPr>
          <p:cNvPr id="20" name="Text 18"/>
          <p:cNvSpPr/>
          <p:nvPr/>
        </p:nvSpPr>
        <p:spPr>
          <a:xfrm>
            <a:off x="6766560" y="2944368"/>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I built a complete RAG workflow with ingestion, retrieval, generation, citations, guardrails, and evaluation.</a:t>
            </a:r>
            <a:endParaRPr lang="en-US" sz="1360" dirty="0"/>
          </a:p>
        </p:txBody>
      </p:sp>
      <p:sp>
        <p:nvSpPr>
          <p:cNvPr id="21" name="Shape 19"/>
          <p:cNvSpPr/>
          <p:nvPr/>
        </p:nvSpPr>
        <p:spPr>
          <a:xfrm>
            <a:off x="6592824" y="3483864"/>
            <a:ext cx="77724" cy="77724"/>
          </a:xfrm>
          <a:prstGeom prst="ellipse">
            <a:avLst/>
          </a:prstGeom>
          <a:solidFill>
            <a:srgbClr val="00827C"/>
          </a:solidFill>
          <a:ln w="12700">
            <a:solidFill>
              <a:srgbClr val="00827C"/>
            </a:solidFill>
            <a:prstDash val="solid"/>
          </a:ln>
        </p:spPr>
      </p:sp>
      <p:sp>
        <p:nvSpPr>
          <p:cNvPr id="22" name="Text 20"/>
          <p:cNvSpPr/>
          <p:nvPr/>
        </p:nvSpPr>
        <p:spPr>
          <a:xfrm>
            <a:off x="6766560" y="3401568"/>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I solved a real retrieval failure using measured Recall@5 and latency tradeoffs.</a:t>
            </a:r>
            <a:endParaRPr lang="en-US" sz="1360" dirty="0"/>
          </a:p>
        </p:txBody>
      </p:sp>
      <p:sp>
        <p:nvSpPr>
          <p:cNvPr id="23" name="Shape 21"/>
          <p:cNvSpPr/>
          <p:nvPr/>
        </p:nvSpPr>
        <p:spPr>
          <a:xfrm>
            <a:off x="6592824" y="3941064"/>
            <a:ext cx="77724" cy="77724"/>
          </a:xfrm>
          <a:prstGeom prst="ellipse">
            <a:avLst/>
          </a:prstGeom>
          <a:solidFill>
            <a:srgbClr val="00827C"/>
          </a:solidFill>
          <a:ln w="12700">
            <a:solidFill>
              <a:srgbClr val="00827C"/>
            </a:solidFill>
            <a:prstDash val="solid"/>
          </a:ln>
        </p:spPr>
      </p:sp>
      <p:sp>
        <p:nvSpPr>
          <p:cNvPr id="24" name="Text 22"/>
          <p:cNvSpPr/>
          <p:nvPr/>
        </p:nvSpPr>
        <p:spPr>
          <a:xfrm>
            <a:off x="6766560" y="3858768"/>
            <a:ext cx="4169664" cy="265176"/>
          </a:xfrm>
          <a:prstGeom prst="rect">
            <a:avLst/>
          </a:prstGeom>
          <a:noFill/>
          <a:ln/>
        </p:spPr>
        <p:txBody>
          <a:bodyPr wrap="square" lIns="0" tIns="0" rIns="0" bIns="0" rtlCol="0" anchor="ctr">
            <a:normAutofit/>
          </a:bodyPr>
          <a:lstStyle/>
          <a:p>
            <a:pPr indent="0" marL="0">
              <a:buNone/>
            </a:pPr>
            <a:r>
              <a:rPr lang="en-US" sz="1360" dirty="0">
                <a:solidFill>
                  <a:srgbClr val="111827"/>
                </a:solidFill>
              </a:rPr>
              <a:t>I designed it like an engineering project: modular, testable, scalable, and easy for juniors to contribute to.</a:t>
            </a:r>
            <a:endParaRPr lang="en-US" sz="1360" dirty="0"/>
          </a:p>
        </p:txBody>
      </p:sp>
      <p:sp>
        <p:nvSpPr>
          <p:cNvPr id="25" name="Text 23"/>
          <p:cNvSpPr/>
          <p:nvPr/>
        </p:nvSpPr>
        <p:spPr>
          <a:xfrm>
            <a:off x="6583680" y="5102352"/>
            <a:ext cx="3657600" cy="320040"/>
          </a:xfrm>
          <a:prstGeom prst="rect">
            <a:avLst/>
          </a:prstGeom>
          <a:noFill/>
          <a:ln/>
        </p:spPr>
        <p:txBody>
          <a:bodyPr wrap="square" lIns="0" tIns="0" rIns="0" bIns="0" rtlCol="0" anchor="ctr"/>
          <a:lstStyle/>
          <a:p>
            <a:pPr indent="0" marL="0">
              <a:buNone/>
            </a:pPr>
            <a:r>
              <a:rPr lang="en-US" sz="2400" b="1" dirty="0">
                <a:solidFill>
                  <a:srgbClr val="07163F"/>
                </a:solidFill>
              </a:rPr>
              <a:t>Questions?</a:t>
            </a:r>
            <a:endParaRPr lang="en-US" sz="2400" dirty="0"/>
          </a:p>
        </p:txBody>
      </p:sp>
      <p:sp>
        <p:nvSpPr>
          <p:cNvPr id="27" name="Text 24"/>
          <p:cNvSpPr/>
          <p:nvPr/>
        </p:nvSpPr>
        <p:spPr>
          <a:xfrm>
            <a:off x="11201400" y="6419088"/>
            <a:ext cx="457200" cy="146304"/>
          </a:xfrm>
          <a:prstGeom prst="rect">
            <a:avLst/>
          </a:prstGeom>
          <a:noFill/>
          <a:ln/>
        </p:spPr>
        <p:txBody>
          <a:bodyPr wrap="square" lIns="0" tIns="0" rIns="0" bIns="0" rtlCol="0" anchor="ctr"/>
          <a:lstStyle/>
          <a:p>
            <a:pPr algn="r" indent="0" marL="0">
              <a:buNone/>
            </a:pPr>
            <a:r>
              <a:rPr lang="en-US" sz="850" dirty="0">
                <a:solidFill>
                  <a:srgbClr val="94A3B8"/>
                </a:solidFill>
              </a:rPr>
              <a:t>16</a:t>
            </a:r>
            <a:endParaRPr lang="en-US" sz="850" dirty="0"/>
          </a:p>
        </p:txBody>
      </p:sp>
      <p:sp>
        <p:nvSpPr>
          <p:cNvPr id="28" name="Text 25"/>
          <p:cNvSpPr/>
          <p:nvPr/>
        </p:nvSpPr>
        <p:spPr>
          <a:xfrm>
            <a:off x="530352" y="6419088"/>
            <a:ext cx="2194560" cy="146304"/>
          </a:xfrm>
          <a:prstGeom prst="rect">
            <a:avLst/>
          </a:prstGeom>
          <a:noFill/>
          <a:ln/>
        </p:spPr>
        <p:txBody>
          <a:bodyPr wrap="square" lIns="0" tIns="0" rIns="0" bIns="0" rtlCol="0" anchor="ctr"/>
          <a:lstStyle/>
          <a:p>
            <a:pPr indent="0" marL="0">
              <a:buNone/>
            </a:pPr>
            <a:r>
              <a:rPr lang="en-US" sz="850" dirty="0">
                <a:solidFill>
                  <a:srgbClr val="94A3B8"/>
                </a:solidFill>
              </a:rPr>
              <a:t>Infineon Case Study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Shubham Patil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PostgreSQL 16 RAG Q&amp;A Assistant — Infineon Case Study</dc:title>
  <dc:subject>PostgreSQL 16 RAG Q&amp;A Assistant, RAG architecture, retrieval, evaluation, scalability, robustness, leadership</dc:subject>
  <dc:creator>Shubham Patil</dc:creator>
  <cp:lastModifiedBy>Shubham Patil</cp:lastModifiedBy>
  <cp:revision>1</cp:revision>
  <dcterms:created xsi:type="dcterms:W3CDTF">2026-06-18T04:34:18Z</dcterms:created>
  <dcterms:modified xsi:type="dcterms:W3CDTF">2026-06-18T04:34:18Z</dcterms:modified>
</cp:coreProperties>
</file>